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6858000" cy="9144000"/>
  <p:embeddedFontLst>
    <p:embeddedFont>
      <p:font typeface="Helvetica Neue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iFynwBERgH4FXv/jynU7FNWoi8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79C7C0-5481-4DAE-8841-97E6D0AA9554}">
  <a:tblStyle styleId="{B279C7C0-5481-4DAE-8841-97E6D0AA955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4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09f5715a38_0_0:notes"/>
          <p:cNvSpPr txBox="1"/>
          <p:nvPr>
            <p:ph idx="1" type="body"/>
          </p:nvPr>
        </p:nvSpPr>
        <p:spPr>
          <a:xfrm>
            <a:off x="685584" y="4401174"/>
            <a:ext cx="54867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g409f5715a38_0_0:notes"/>
          <p:cNvSpPr/>
          <p:nvPr>
            <p:ph idx="2" type="sldImg"/>
          </p:nvPr>
        </p:nvSpPr>
        <p:spPr>
          <a:xfrm>
            <a:off x="2272685" y="1143960"/>
            <a:ext cx="23127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f1e75b75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f1e75b75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f1e75b75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7f1e75b75e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f1e75b7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7f1e75b75e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f1e75b75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7f1e75b75e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f1e75b75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f1e75b75e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f1e75b75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7f1e75b75e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1e75b75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7f1e75b75e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f1e75b75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7f1e75b75e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f1e75b75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f1e75b75e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f1e75b75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7f1e75b75e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1e75b75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7f1e75b75e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f1e75b75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7f1e75b75e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f1e75b75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7f1e75b75e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f1e75b75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7f1e75b75e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f1e75b75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7f1e75b75e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f1e75b75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7f1e75b75e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f1e75b75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7f1e75b75e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f1e75b75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7f1e75b75e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191875822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819187582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191875822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8191875822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60fd851ca75ef28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60fd851ca75ef28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rgbClr val="888888"/>
              </a:buClr>
              <a:buSzPts val="254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2177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81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rgbClr val="888888"/>
              </a:buClr>
              <a:buSzPts val="16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subTitle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40"/>
              <a:buChar char="•"/>
              <a:defRPr/>
            </a:lvl1pPr>
            <a:lvl2pPr lvl="1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>
  <p:cSld name="Title,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" type="body"/>
          </p:nvPr>
        </p:nvSpPr>
        <p:spPr>
          <a:xfrm>
            <a:off x="195931" y="1415421"/>
            <a:ext cx="4238634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2" type="body"/>
          </p:nvPr>
        </p:nvSpPr>
        <p:spPr>
          <a:xfrm>
            <a:off x="4646823" y="1415421"/>
            <a:ext cx="4238634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/>
          <p:nvPr>
            <p:ph idx="1" type="subTitle"/>
          </p:nvPr>
        </p:nvSpPr>
        <p:spPr>
          <a:xfrm>
            <a:off x="652449" y="273352"/>
            <a:ext cx="8029240" cy="5295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40"/>
              <a:buChar char="•"/>
              <a:defRPr/>
            </a:lvl1pPr>
            <a:lvl2pPr lvl="1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195931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646823" y="1415421"/>
            <a:ext cx="4238634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195931" y="4019614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" type="body"/>
          </p:nvPr>
        </p:nvSpPr>
        <p:spPr>
          <a:xfrm>
            <a:off x="195931" y="1415421"/>
            <a:ext cx="4238634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2" type="body"/>
          </p:nvPr>
        </p:nvSpPr>
        <p:spPr>
          <a:xfrm>
            <a:off x="4646823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3" type="body"/>
          </p:nvPr>
        </p:nvSpPr>
        <p:spPr>
          <a:xfrm>
            <a:off x="4646823" y="4019614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" type="body"/>
          </p:nvPr>
        </p:nvSpPr>
        <p:spPr>
          <a:xfrm>
            <a:off x="195931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2" type="body"/>
          </p:nvPr>
        </p:nvSpPr>
        <p:spPr>
          <a:xfrm>
            <a:off x="4646823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2"/>
          <p:cNvSpPr txBox="1"/>
          <p:nvPr>
            <p:ph idx="3" type="body"/>
          </p:nvPr>
        </p:nvSpPr>
        <p:spPr>
          <a:xfrm>
            <a:off x="195931" y="4019614"/>
            <a:ext cx="868626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3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" type="body"/>
          </p:nvPr>
        </p:nvSpPr>
        <p:spPr>
          <a:xfrm>
            <a:off x="195931" y="1415421"/>
            <a:ext cx="868626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3"/>
          <p:cNvSpPr txBox="1"/>
          <p:nvPr>
            <p:ph idx="2" type="body"/>
          </p:nvPr>
        </p:nvSpPr>
        <p:spPr>
          <a:xfrm>
            <a:off x="195931" y="4019614"/>
            <a:ext cx="868626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" type="body"/>
          </p:nvPr>
        </p:nvSpPr>
        <p:spPr>
          <a:xfrm>
            <a:off x="195931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2" type="body"/>
          </p:nvPr>
        </p:nvSpPr>
        <p:spPr>
          <a:xfrm>
            <a:off x="4646823" y="1415421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3" type="body"/>
          </p:nvPr>
        </p:nvSpPr>
        <p:spPr>
          <a:xfrm>
            <a:off x="195931" y="4019614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4" type="body"/>
          </p:nvPr>
        </p:nvSpPr>
        <p:spPr>
          <a:xfrm>
            <a:off x="4646823" y="4019614"/>
            <a:ext cx="4238634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" type="body"/>
          </p:nvPr>
        </p:nvSpPr>
        <p:spPr>
          <a:xfrm>
            <a:off x="195931" y="1415421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2" type="body"/>
          </p:nvPr>
        </p:nvSpPr>
        <p:spPr>
          <a:xfrm>
            <a:off x="3132932" y="1415421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3" type="body"/>
          </p:nvPr>
        </p:nvSpPr>
        <p:spPr>
          <a:xfrm>
            <a:off x="6070260" y="1415421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4" type="body"/>
          </p:nvPr>
        </p:nvSpPr>
        <p:spPr>
          <a:xfrm>
            <a:off x="195931" y="4019614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5" type="body"/>
          </p:nvPr>
        </p:nvSpPr>
        <p:spPr>
          <a:xfrm>
            <a:off x="3132932" y="4019614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6" type="body"/>
          </p:nvPr>
        </p:nvSpPr>
        <p:spPr>
          <a:xfrm>
            <a:off x="6070260" y="4019614"/>
            <a:ext cx="2796911" cy="237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67396" y="1612679"/>
            <a:ext cx="4267697" cy="348205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1"/>
          <p:cNvSpPr/>
          <p:nvPr/>
        </p:nvSpPr>
        <p:spPr>
          <a:xfrm>
            <a:off x="0" y="260615"/>
            <a:ext cx="454886" cy="977797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1"/>
          <p:cNvSpPr/>
          <p:nvPr/>
        </p:nvSpPr>
        <p:spPr>
          <a:xfrm>
            <a:off x="-17616" y="-11424"/>
            <a:ext cx="3721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None/>
            </a:pPr>
            <a:r>
              <a:rPr b="0" i="0" lang="en-IN" sz="12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FCAIT – MSc (IT) Programme</a:t>
            </a:r>
            <a:endParaRPr b="0" i="0" sz="12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21"/>
          <p:cNvSpPr/>
          <p:nvPr/>
        </p:nvSpPr>
        <p:spPr>
          <a:xfrm>
            <a:off x="5406887" y="6547059"/>
            <a:ext cx="3484275" cy="201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None/>
            </a:pPr>
            <a:r>
              <a:rPr b="0" i="0" lang="en-IN" sz="12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 : Object Oriented Analysis and Design</a:t>
            </a:r>
            <a:endParaRPr b="0" i="0" sz="12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1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991"/>
              <a:buFont typeface="Arial"/>
              <a:buNone/>
              <a:defRPr b="0" i="0" sz="3991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9890" lvl="0" marL="457200" marR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40"/>
              <a:buFont typeface="Arial"/>
              <a:buChar char="•"/>
              <a:defRPr b="0" i="0" sz="25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6840" lvl="1" marL="9144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2177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3789" lvl="2" marL="13716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814"/>
              <a:buFont typeface="Arial"/>
              <a:buChar char="•"/>
              <a:defRPr b="0" i="0" sz="18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2296" lvl="3" marL="18288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2295" lvl="4" marL="22860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2295" lvl="5" marL="27432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2295" lvl="6" marL="32004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2296" lvl="7" marL="36576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2296" lvl="8" marL="4114800" marR="0" rtl="0" algn="l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>
                <a:schemeClr val="dk1"/>
              </a:buClr>
              <a:buSzPts val="1633"/>
              <a:buFont typeface="Arial"/>
              <a:buChar char="•"/>
              <a:defRPr b="0" i="0" sz="16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73825" y="0"/>
            <a:ext cx="2370173" cy="77922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09f5715a38_0_0"/>
          <p:cNvSpPr/>
          <p:nvPr/>
        </p:nvSpPr>
        <p:spPr>
          <a:xfrm>
            <a:off x="-322" y="260503"/>
            <a:ext cx="454095" cy="977341"/>
          </a:xfrm>
          <a:custGeom>
            <a:rect b="b" l="l" r="r" t="t"/>
            <a:pathLst>
              <a:path extrusionOk="0" h="1076960" w="500380">
                <a:moveTo>
                  <a:pt x="500037" y="0"/>
                </a:moveTo>
                <a:lnTo>
                  <a:pt x="0" y="0"/>
                </a:lnTo>
                <a:lnTo>
                  <a:pt x="0" y="1076401"/>
                </a:lnTo>
                <a:lnTo>
                  <a:pt x="250190" y="1076401"/>
                </a:lnTo>
                <a:lnTo>
                  <a:pt x="500037" y="1076401"/>
                </a:lnTo>
                <a:lnTo>
                  <a:pt x="500037" y="0"/>
                </a:lnTo>
                <a:close/>
              </a:path>
            </a:pathLst>
          </a:custGeom>
          <a:solidFill>
            <a:srgbClr val="EE282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409f5715a38_0_0"/>
          <p:cNvSpPr txBox="1"/>
          <p:nvPr/>
        </p:nvSpPr>
        <p:spPr>
          <a:xfrm>
            <a:off x="663257" y="5587412"/>
            <a:ext cx="81111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IN" sz="2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study material for the students of GLS University</a:t>
            </a:r>
            <a:endParaRPr b="0" i="0" sz="2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g409f5715a38_0_0"/>
          <p:cNvSpPr/>
          <p:nvPr/>
        </p:nvSpPr>
        <p:spPr>
          <a:xfrm>
            <a:off x="349953" y="273564"/>
            <a:ext cx="8330700" cy="53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OBJECT ORIENTED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ANALYSIS AND DESIGN</a:t>
            </a:r>
            <a:endParaRPr b="0" i="0" sz="4400" u="none" cap="none" strike="noStrike">
              <a:solidFill>
                <a:srgbClr val="D253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N" sz="4400">
                <a:solidFill>
                  <a:srgbClr val="D2533C"/>
                </a:solidFill>
              </a:rPr>
              <a:t>Ch - 10</a:t>
            </a:r>
            <a:endParaRPr sz="4400">
              <a:solidFill>
                <a:srgbClr val="D2533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N" sz="4400">
                <a:solidFill>
                  <a:srgbClr val="D2533C"/>
                </a:solidFill>
              </a:rPr>
              <a:t>Inheritance and Polymorphism</a:t>
            </a:r>
            <a:endParaRPr sz="4400">
              <a:solidFill>
                <a:srgbClr val="D2533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>
            <p:ph type="title"/>
          </p:nvPr>
        </p:nvSpPr>
        <p:spPr>
          <a:xfrm>
            <a:off x="652449" y="273352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/>
              <a:t>Generalization</a:t>
            </a:r>
            <a:endParaRPr b="1"/>
          </a:p>
        </p:txBody>
      </p:sp>
      <p:sp>
        <p:nvSpPr>
          <p:cNvPr id="85" name="Google Shape;85;p2"/>
          <p:cNvSpPr txBox="1"/>
          <p:nvPr>
            <p:ph idx="1" type="body"/>
          </p:nvPr>
        </p:nvSpPr>
        <p:spPr>
          <a:xfrm>
            <a:off x="195931" y="1415421"/>
            <a:ext cx="8686261" cy="4985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91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Generalization is the process of extracting common characteristics from two or more classes and combining them into a general (parent) class.</a:t>
            </a:r>
            <a:endParaRPr/>
          </a:p>
          <a:p>
            <a:pPr indent="0" lvl="0" marL="457200" rtl="0" algn="l">
              <a:spcBef>
                <a:spcPts val="1291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91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The specific class (child) has all features of the general class but adds some more details.</a:t>
            </a:r>
            <a:endParaRPr/>
          </a:p>
          <a:p>
            <a:pPr indent="0" lvl="0" marL="457200" rtl="0" algn="l">
              <a:spcBef>
                <a:spcPts val="1291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91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It shows a “is-a” relationship.</a:t>
            </a:r>
            <a:endParaRPr/>
          </a:p>
          <a:p>
            <a:pPr indent="0" lvl="0" marL="0" rtl="0" algn="l"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/>
              <a:t>Example: Tree (general) → Oak Tree (specific)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f1e75b75e_0_1"/>
          <p:cNvSpPr txBox="1"/>
          <p:nvPr>
            <p:ph type="title"/>
          </p:nvPr>
        </p:nvSpPr>
        <p:spPr>
          <a:xfrm>
            <a:off x="696474" y="8620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Class generalization</a:t>
            </a:r>
            <a:endParaRPr b="1"/>
          </a:p>
        </p:txBody>
      </p:sp>
      <p:sp>
        <p:nvSpPr>
          <p:cNvPr id="91" name="Google Shape;91;g37f1e75b75e_0_1"/>
          <p:cNvSpPr txBox="1"/>
          <p:nvPr>
            <p:ph idx="1" type="body"/>
          </p:nvPr>
        </p:nvSpPr>
        <p:spPr>
          <a:xfrm>
            <a:off x="367975" y="4141300"/>
            <a:ext cx="86862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000"/>
              <a:t>Specialization (Top-Down):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800"/>
              <a:t>Start with a broad/general concept (e.g., Shape).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800"/>
              <a:t>Add details step by step (Circle, Square, Triangle).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br>
              <a:rPr lang="en-IN" sz="1800"/>
            </a:br>
            <a:r>
              <a:rPr b="1" lang="en-IN" sz="2000"/>
              <a:t>Generalization (Bottom-Up):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800"/>
              <a:t>Start with many specific classes (e.g., Car, Bus, Truck).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800"/>
              <a:t>Notice common features (all are Vehicles) and create a general superclass.</a:t>
            </a:r>
            <a:endParaRPr sz="1800"/>
          </a:p>
          <a:p>
            <a:pPr indent="0" lvl="0" marL="0" rtl="0" algn="l">
              <a:lnSpc>
                <a:spcPct val="784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br>
              <a:rPr lang="en-IN" sz="1200"/>
            </a:br>
            <a:br>
              <a:rPr lang="en-IN" sz="1200"/>
            </a:b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/>
          </a:p>
        </p:txBody>
      </p:sp>
      <p:pic>
        <p:nvPicPr>
          <p:cNvPr id="92" name="Google Shape;92;g37f1e75b75e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375" y="929425"/>
            <a:ext cx="6193124" cy="299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f1e75b75e_0_6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Class Inheritance</a:t>
            </a:r>
            <a:endParaRPr b="1"/>
          </a:p>
        </p:txBody>
      </p:sp>
      <p:sp>
        <p:nvSpPr>
          <p:cNvPr id="98" name="Google Shape;98;g37f1e75b75e_0_6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340"/>
              <a:t>When you model generalization in UML, you are also modeling inheritance in programming.</a:t>
            </a:r>
            <a:endParaRPr sz="234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34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-IN" sz="2340"/>
              <a:t>What gets inherited?</a:t>
            </a:r>
            <a:endParaRPr b="1" sz="2340"/>
          </a:p>
          <a:p>
            <a:pPr indent="-3771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•"/>
            </a:pPr>
            <a:r>
              <a:rPr lang="en-IN" sz="2340"/>
              <a:t>Attributes (variables/data members)</a:t>
            </a:r>
            <a:endParaRPr sz="2340"/>
          </a:p>
          <a:p>
            <a:pPr indent="-3771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•"/>
            </a:pPr>
            <a:r>
              <a:rPr lang="en-IN" sz="2340"/>
              <a:t>Operations (methods)</a:t>
            </a:r>
            <a:endParaRPr sz="2340"/>
          </a:p>
          <a:p>
            <a:pPr indent="-3771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•"/>
            </a:pPr>
            <a:r>
              <a:rPr lang="en-IN" sz="2340"/>
              <a:t>Associations (relationships with other classes)</a:t>
            </a:r>
            <a:endParaRPr sz="2340"/>
          </a:p>
          <a:p>
            <a:pPr indent="-3771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•"/>
            </a:pPr>
            <a:r>
              <a:rPr lang="en-IN" sz="2340"/>
              <a:t>Constraints (rules)</a:t>
            </a:r>
            <a:endParaRPr sz="234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34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-IN" sz="2340"/>
              <a:t>What subclasses can do?</a:t>
            </a:r>
            <a:endParaRPr b="1" sz="2340"/>
          </a:p>
          <a:p>
            <a:pPr indent="-3771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•"/>
            </a:pPr>
            <a:r>
              <a:rPr lang="en-IN" sz="2340"/>
              <a:t>Reuse all features from the superclass.</a:t>
            </a:r>
            <a:endParaRPr sz="2340"/>
          </a:p>
          <a:p>
            <a:pPr indent="-3771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•"/>
            </a:pPr>
            <a:r>
              <a:rPr lang="en-IN" sz="2340"/>
              <a:t>Add new attributes/methods of their own.</a:t>
            </a:r>
            <a:endParaRPr sz="2340"/>
          </a:p>
          <a:p>
            <a:pPr indent="-3771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•"/>
            </a:pPr>
            <a:r>
              <a:rPr lang="en-IN" sz="2340"/>
              <a:t>Override superclass methods to provide their own implementation.</a:t>
            </a:r>
            <a:endParaRPr sz="234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f1e75b75e_0_11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Overriding</a:t>
            </a:r>
            <a:endParaRPr b="1"/>
          </a:p>
        </p:txBody>
      </p:sp>
      <p:sp>
        <p:nvSpPr>
          <p:cNvPr id="104" name="Google Shape;104;g37f1e75b75e_0_11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40"/>
              <a:t>Subclasses override inherited operations by providing a new operation with the same signature.</a:t>
            </a:r>
            <a:endParaRPr sz="2440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40"/>
              <a:t>To override a superclass operation, a subclass must provide an operation with exactly the same signature as the superclass operation it wishes to override.</a:t>
            </a:r>
            <a:endParaRPr sz="2440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440"/>
          </a:p>
        </p:txBody>
      </p:sp>
      <p:pic>
        <p:nvPicPr>
          <p:cNvPr id="105" name="Google Shape;105;g37f1e75b75e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575" y="3367300"/>
            <a:ext cx="7859300" cy="30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f1e75b75e_0_16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Abstract Classes and </a:t>
            </a:r>
            <a:endParaRPr b="1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Abstract Operations</a:t>
            </a:r>
            <a:endParaRPr b="1"/>
          </a:p>
        </p:txBody>
      </p:sp>
      <p:sp>
        <p:nvSpPr>
          <p:cNvPr id="111" name="Google Shape;111;g37f1e75b75e_0_16"/>
          <p:cNvSpPr txBox="1"/>
          <p:nvPr>
            <p:ph idx="1" type="body"/>
          </p:nvPr>
        </p:nvSpPr>
        <p:spPr>
          <a:xfrm>
            <a:off x="195925" y="1521400"/>
            <a:ext cx="8686200" cy="48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IN" sz="2440"/>
              <a:t>No implementation</a:t>
            </a:r>
            <a:endParaRPr sz="244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4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IN" sz="2440"/>
              <a:t>Abstract classes have one or more abstract operations, and they can’t be instantiated</a:t>
            </a:r>
            <a:endParaRPr sz="244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4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IN" sz="2440"/>
              <a:t>In UML, writing the operation name in italics</a:t>
            </a:r>
            <a:endParaRPr sz="244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4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IN" sz="2440"/>
              <a:t>Incomplete as operations don’t have an implementation</a:t>
            </a:r>
            <a:endParaRPr sz="244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4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IN" sz="2440"/>
              <a:t>can’t instantiate classes and they are therefore known as abstract classes</a:t>
            </a:r>
            <a:endParaRPr sz="244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4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IN" sz="2440"/>
              <a:t>You write the class name in italics to show that it is abstract</a:t>
            </a:r>
            <a:endParaRPr sz="244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f1e75b75e_0_21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Example</a:t>
            </a:r>
            <a:endParaRPr/>
          </a:p>
        </p:txBody>
      </p:sp>
      <p:pic>
        <p:nvPicPr>
          <p:cNvPr id="117" name="Google Shape;117;g37f1e75b75e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725" y="1635900"/>
            <a:ext cx="7749000" cy="41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f1e75b75e_0_26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Advantages of using abstract classes and operations</a:t>
            </a:r>
            <a:endParaRPr b="1"/>
          </a:p>
        </p:txBody>
      </p:sp>
      <p:sp>
        <p:nvSpPr>
          <p:cNvPr id="123" name="Google Shape;123;g37f1e75b75e_0_26"/>
          <p:cNvSpPr txBox="1"/>
          <p:nvPr>
            <p:ph idx="1" type="body"/>
          </p:nvPr>
        </p:nvSpPr>
        <p:spPr>
          <a:xfrm>
            <a:off x="195925" y="1840625"/>
            <a:ext cx="8686200" cy="45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You can define a set of abstract operations in the abstract superclass that must be implemented by all subclasses. You can think of this as defining a “contract” that </a:t>
            </a:r>
            <a:r>
              <a:rPr b="1" lang="en-IN"/>
              <a:t>all concrete subclasses must implement.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You can write code to manipulate Shapes and then substitute Circle, Square and other Shape subclasses as appropriate. According to the substitutability principle, code written to manipulate </a:t>
            </a:r>
            <a:r>
              <a:rPr b="1" lang="en-IN"/>
              <a:t>Shapes should also work for all Shape subclasses.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f1e75b75e_0_31"/>
          <p:cNvSpPr txBox="1"/>
          <p:nvPr>
            <p:ph type="title"/>
          </p:nvPr>
        </p:nvSpPr>
        <p:spPr>
          <a:xfrm>
            <a:off x="557399" y="9720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Level of Abstraction</a:t>
            </a:r>
            <a:endParaRPr b="1"/>
          </a:p>
        </p:txBody>
      </p:sp>
      <p:sp>
        <p:nvSpPr>
          <p:cNvPr id="129" name="Google Shape;129;g37f1e75b75e_0_31"/>
          <p:cNvSpPr txBox="1"/>
          <p:nvPr>
            <p:ph idx="1" type="body"/>
          </p:nvPr>
        </p:nvSpPr>
        <p:spPr>
          <a:xfrm>
            <a:off x="228906" y="1239296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220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4"/>
              <a:buChar char="•"/>
            </a:pPr>
            <a:r>
              <a:rPr lang="en-IN" sz="2104"/>
              <a:t>At same level in a generalization hierarchy - should be at the same level of abstraction</a:t>
            </a:r>
            <a:endParaRPr sz="2104"/>
          </a:p>
          <a:p>
            <a:pPr indent="-36220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4"/>
              <a:buChar char="•"/>
            </a:pPr>
            <a:r>
              <a:rPr lang="en-IN" sz="2104"/>
              <a:t>Levels of abstraction from the most general at the top to the most specific at the bottom</a:t>
            </a:r>
            <a:endParaRPr sz="2104"/>
          </a:p>
          <a:p>
            <a:pPr indent="-36220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4"/>
              <a:buChar char="•"/>
            </a:pPr>
            <a:r>
              <a:rPr lang="en-IN" sz="2104"/>
              <a:t>Maintain a uniform level of abstraction at each level of the generalization hierarchy</a:t>
            </a:r>
            <a:endParaRPr sz="2104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4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sz="2104"/>
              <a:t>Example:</a:t>
            </a:r>
            <a:endParaRPr sz="2104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t/>
            </a:r>
            <a:endParaRPr sz="2104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t/>
            </a:r>
            <a:endParaRPr sz="2104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t/>
            </a:r>
            <a:endParaRPr sz="2104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t/>
            </a:r>
            <a:endParaRPr sz="2104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t/>
            </a:r>
            <a:endParaRPr sz="2104"/>
          </a:p>
          <a:p>
            <a:pPr indent="-36220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4"/>
              <a:buChar char="•"/>
            </a:pPr>
            <a:r>
              <a:rPr lang="en-IN" sz="2104"/>
              <a:t>Clearly this is a lower level of abstraction than Truck. You can fix the model quite easily by introducing a Car superclass between JaguarXJS and Vehicle</a:t>
            </a:r>
            <a:endParaRPr sz="2104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"/>
              <a:buNone/>
            </a:pPr>
            <a:r>
              <a:t/>
            </a:r>
            <a:endParaRPr sz="2104"/>
          </a:p>
        </p:txBody>
      </p:sp>
      <p:pic>
        <p:nvPicPr>
          <p:cNvPr id="130" name="Google Shape;130;g37f1e75b75e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875" y="3338500"/>
            <a:ext cx="3517500" cy="17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f1e75b75e_0_36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Multiple Inheritance</a:t>
            </a:r>
            <a:endParaRPr b="1"/>
          </a:p>
        </p:txBody>
      </p:sp>
      <p:sp>
        <p:nvSpPr>
          <p:cNvPr id="136" name="Google Shape;136;g37f1e75b75e_0_36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Multiple Inheritance - A class can have more than one direct superclass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UML allows a class to have more than one direct class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The subclass inherits from all of its direct superclasses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f1e75b75e_0_41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Polymorphism</a:t>
            </a:r>
            <a:endParaRPr b="1"/>
          </a:p>
        </p:txBody>
      </p:sp>
      <p:sp>
        <p:nvSpPr>
          <p:cNvPr id="142" name="Google Shape;142;g37f1e75b75e_0_41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50" lvl="0" marL="45720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ct val="69750"/>
              <a:buChar char="•"/>
            </a:pPr>
            <a:r>
              <a:rPr lang="en-IN"/>
              <a:t>Polymorphism means “many forms”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ct val="76612"/>
              <a:buNone/>
            </a:pPr>
            <a:r>
              <a:t/>
            </a:r>
            <a:endParaRPr/>
          </a:p>
          <a:p>
            <a:pPr indent="-334350" lvl="0" marL="45720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ct val="69750"/>
              <a:buChar char="•"/>
            </a:pPr>
            <a:r>
              <a:rPr lang="en-IN"/>
              <a:t>A polymorphic operation is one that has many implementations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ct val="76612"/>
              <a:buNone/>
            </a:pPr>
            <a:r>
              <a:t/>
            </a:r>
            <a:endParaRPr/>
          </a:p>
          <a:p>
            <a:pPr indent="-334350" lvl="0" marL="45720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ct val="69750"/>
              <a:buChar char="•"/>
            </a:pPr>
            <a:r>
              <a:rPr lang="en-IN"/>
              <a:t>You have already seen two polymorphic operations in the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ct val="76612"/>
              <a:buNone/>
            </a:pPr>
            <a:r>
              <a:rPr lang="en-IN"/>
              <a:t>Shape example.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ct val="76612"/>
              <a:buNone/>
            </a:pPr>
            <a:r>
              <a:t/>
            </a:r>
            <a:endParaRPr/>
          </a:p>
          <a:p>
            <a:pPr indent="-334350" lvl="0" marL="45720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ct val="69750"/>
              <a:buChar char="•"/>
            </a:pPr>
            <a:r>
              <a:rPr lang="en-IN"/>
              <a:t>The abstract operations draw( ) and getArea( ) in the Shape class have two different implementations – an implementation in the Square class and a different implementation in the Circle class. The operations have “many forms” and are therefore polymorphic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f1e75b75e_0_46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lang="en-IN"/>
              <a:t>Example</a:t>
            </a:r>
            <a:endParaRPr/>
          </a:p>
        </p:txBody>
      </p:sp>
      <p:pic>
        <p:nvPicPr>
          <p:cNvPr id="148" name="Google Shape;148;g37f1e75b75e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650" y="1497125"/>
            <a:ext cx="7628549" cy="43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f1e75b75e_0_51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Polymorphism – objects of different classes have operations with the same signature but different implementations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If you send objects of the Square class the message draw( ) they will draw a square, and if you send objects of the Circle class the same message they will draw a circle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f1e75b75e_0_56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Polymorphism Example</a:t>
            </a:r>
            <a:endParaRPr b="1"/>
          </a:p>
        </p:txBody>
      </p:sp>
      <p:pic>
        <p:nvPicPr>
          <p:cNvPr id="159" name="Google Shape;159;g37f1e75b75e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58962"/>
            <a:ext cx="9144001" cy="334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f1e75b75e_0_61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Advanced Generalization</a:t>
            </a:r>
            <a:endParaRPr b="1"/>
          </a:p>
        </p:txBody>
      </p:sp>
      <p:sp>
        <p:nvSpPr>
          <p:cNvPr id="165" name="Google Shape;165;g37f1e75b75e_0_61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Two advanced aspect of generalization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Generalization sets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Powertypes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/>
              <a:t>Generalization Sets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A generalization set is a collection of related generalizations that apply to the same parent class.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37f1e75b75e_0_66"/>
          <p:cNvPicPr preferRelativeResize="0"/>
          <p:nvPr/>
        </p:nvPicPr>
        <p:blipFill rotWithShape="1">
          <a:blip r:embed="rId3">
            <a:alphaModFix/>
          </a:blip>
          <a:srcRect b="0" l="0" r="0" t="-22144"/>
          <a:stretch/>
        </p:blipFill>
        <p:spPr>
          <a:xfrm>
            <a:off x="182525" y="1710225"/>
            <a:ext cx="8214675" cy="478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7f1e75b75e_0_66"/>
          <p:cNvSpPr txBox="1"/>
          <p:nvPr/>
        </p:nvSpPr>
        <p:spPr>
          <a:xfrm>
            <a:off x="513050" y="581475"/>
            <a:ext cx="7593300" cy="1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rgbClr val="000000"/>
              </a:buClr>
              <a:buSzPts val="2540"/>
              <a:buFont typeface="Arial"/>
              <a:buNone/>
            </a:pPr>
            <a:r>
              <a:rPr b="0" i="0" lang="en-IN" sz="25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illustrates that the superclass Shape has many subclasses. On examination of these subclasses you can see that there are two distinctly different groups of Shapes : two-dimensional shapes and three-dimensional shapes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f1e75b75e_0_71"/>
          <p:cNvSpPr txBox="1"/>
          <p:nvPr>
            <p:ph idx="1" type="body"/>
          </p:nvPr>
        </p:nvSpPr>
        <p:spPr>
          <a:xfrm>
            <a:off x="545675" y="706800"/>
            <a:ext cx="8272800" cy="48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340"/>
              <a:t>You can indicate this partitioning of subclasses on a class diagram by associating each group of shapes with a different generalization set types</a:t>
            </a:r>
            <a:endParaRPr sz="2340"/>
          </a:p>
        </p:txBody>
      </p:sp>
      <p:pic>
        <p:nvPicPr>
          <p:cNvPr id="177" name="Google Shape;177;g37f1e75b75e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225" y="1695750"/>
            <a:ext cx="83915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f1e75b75e_0_76"/>
          <p:cNvSpPr txBox="1"/>
          <p:nvPr>
            <p:ph idx="1" type="body"/>
          </p:nvPr>
        </p:nvSpPr>
        <p:spPr>
          <a:xfrm>
            <a:off x="534675" y="407975"/>
            <a:ext cx="8314500" cy="4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1539"/>
              <a:buNone/>
            </a:pPr>
            <a:r>
              <a:rPr lang="en-IN" sz="2648"/>
              <a:t>Generalization sets can have constraints applied to them </a:t>
            </a:r>
            <a:endParaRPr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1539"/>
              <a:buFont typeface="Arial"/>
              <a:buNone/>
            </a:pPr>
            <a:r>
              <a:rPr b="1" lang="en-IN" sz="2648"/>
              <a:t>Constraints</a:t>
            </a:r>
            <a:r>
              <a:rPr lang="en-IN" sz="2648"/>
              <a:t>:</a:t>
            </a:r>
            <a:endParaRPr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73487"/>
              <a:buNone/>
            </a:pPr>
            <a:r>
              <a:rPr b="1" lang="en-IN" sz="2648"/>
              <a:t>1. {complete}</a:t>
            </a:r>
            <a:endParaRPr b="1"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1539"/>
              <a:buFont typeface="Arial"/>
              <a:buNone/>
            </a:pPr>
            <a:r>
              <a:rPr lang="en-IN" sz="2648"/>
              <a:t>The parent class is fully divided into its subclasses.</a:t>
            </a:r>
            <a:endParaRPr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1539"/>
              <a:buFont typeface="Arial"/>
              <a:buNone/>
            </a:pPr>
            <a:r>
              <a:rPr lang="en-IN" sz="2648"/>
              <a:t>Example:</a:t>
            </a:r>
            <a:endParaRPr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1539"/>
              <a:buFont typeface="Arial"/>
              <a:buNone/>
            </a:pPr>
            <a:r>
              <a:rPr lang="en-IN" sz="2648"/>
              <a:t>TrafficLight can only be Red, Yellow, or Green.</a:t>
            </a:r>
            <a:endParaRPr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1539"/>
              <a:buFont typeface="Arial"/>
              <a:buNone/>
            </a:pPr>
            <a:r>
              <a:rPr lang="en-IN" sz="2648"/>
              <a:t>No object exists directly as TrafficLight, only as one of the subclasses.</a:t>
            </a:r>
            <a:endParaRPr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1539"/>
              <a:buFont typeface="Arial"/>
              <a:buNone/>
            </a:pPr>
            <a:r>
              <a:t/>
            </a:r>
            <a:endParaRPr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73487"/>
              <a:buNone/>
            </a:pPr>
            <a:r>
              <a:rPr b="1" lang="en-IN" sz="2648"/>
              <a:t>2. {incomplete}</a:t>
            </a:r>
            <a:endParaRPr b="1"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1539"/>
              <a:buFont typeface="Arial"/>
              <a:buNone/>
            </a:pPr>
            <a:r>
              <a:rPr lang="en-IN" sz="2648"/>
              <a:t>The parent class can exist on its own OR may have other unspecified subclasses in the future.</a:t>
            </a:r>
            <a:endParaRPr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1539"/>
              <a:buFont typeface="Arial"/>
              <a:buNone/>
            </a:pPr>
            <a:r>
              <a:rPr lang="en-IN" sz="2648"/>
              <a:t>Example:</a:t>
            </a:r>
            <a:endParaRPr sz="2648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41539"/>
              <a:buFont typeface="Arial"/>
              <a:buNone/>
            </a:pPr>
            <a:r>
              <a:rPr lang="en-IN" sz="2648"/>
              <a:t>Vehicle may have subclasses Car, Bike, but there could still be Vehicle objects without being classified into any subclass.</a:t>
            </a:r>
            <a:endParaRPr sz="2648"/>
          </a:p>
        </p:txBody>
      </p:sp>
      <p:graphicFrame>
        <p:nvGraphicFramePr>
          <p:cNvPr id="183" name="Google Shape;183;g37f1e75b75e_0_76"/>
          <p:cNvGraphicFramePr/>
          <p:nvPr/>
        </p:nvGraphicFramePr>
        <p:xfrm>
          <a:off x="236550" y="466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{B279C7C0-5481-4DAE-8841-97E6D0AA9554}</a:tableStyleId>
              </a:tblPr>
              <a:tblGrid>
                <a:gridCol w="4682525"/>
                <a:gridCol w="38219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/>
                        <a:t>Complete</a:t>
                      </a:r>
                      <a:endParaRPr b="1"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/>
                        <a:t>Incomplete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Every superclass instance belongs to at least one subclass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Some superclass instances may belong to none</a:t>
                      </a:r>
                      <a:endParaRPr sz="1500"/>
                    </a:p>
                  </a:txBody>
                  <a:tcPr marT="91425" marB="91425" marR="91425" marL="91425" anchor="ctr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All possibilities covered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Not all possibilities covered</a:t>
                      </a:r>
                      <a:endParaRPr sz="1500"/>
                    </a:p>
                  </a:txBody>
                  <a:tcPr marT="91425" marB="91425" marR="91425" marL="91425" anchor="ctr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Closed classification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/>
                        <a:t>Open classification</a:t>
                      </a:r>
                      <a:endParaRPr sz="15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f1e75b75e_0_81"/>
          <p:cNvSpPr txBox="1"/>
          <p:nvPr>
            <p:ph idx="1" type="body"/>
          </p:nvPr>
        </p:nvSpPr>
        <p:spPr>
          <a:xfrm>
            <a:off x="590850" y="393350"/>
            <a:ext cx="79623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43307"/>
              <a:buNone/>
            </a:pPr>
            <a:r>
              <a:rPr b="1" lang="en-IN"/>
              <a:t>3. {disjoint}: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43307"/>
              <a:buFont typeface="Arial"/>
              <a:buNone/>
            </a:pPr>
            <a:r>
              <a:rPr lang="en-IN"/>
              <a:t>An object can belong to only one subclass at a time.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43307"/>
              <a:buFont typeface="Arial"/>
              <a:buNone/>
            </a:pPr>
            <a:r>
              <a:rPr lang="en-IN"/>
              <a:t>Example: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43307"/>
              <a:buFont typeface="Arial"/>
              <a:buNone/>
            </a:pPr>
            <a:r>
              <a:rPr lang="en-IN"/>
              <a:t>1. Employee can be either FullTimeEmployee OR PartTimeEmployee, not both.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43307"/>
              <a:buFont typeface="Arial"/>
              <a:buNone/>
            </a:pPr>
            <a:r>
              <a:rPr lang="en-IN"/>
              <a:t>2.  2D shapes not belong to 3D shapes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4330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43307"/>
              <a:buFont typeface="Arial"/>
              <a:buNone/>
            </a:pPr>
            <a:r>
              <a:rPr b="1" lang="en-IN"/>
              <a:t>4. {overlapping}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43307"/>
              <a:buFont typeface="Arial"/>
              <a:buNone/>
            </a:pPr>
            <a:r>
              <a:rPr lang="en-IN"/>
              <a:t>An object can belong to multiple subclasses at the same time.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43307"/>
              <a:buFont typeface="Arial"/>
              <a:buNone/>
            </a:pPr>
            <a:r>
              <a:rPr lang="en-IN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43307"/>
              <a:buFont typeface="Arial"/>
              <a:buNone/>
            </a:pPr>
            <a:r>
              <a:rPr lang="en-IN"/>
              <a:t>Person can be a Student AND an Employee at the same time.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ct val="98425"/>
              <a:buNone/>
            </a:pPr>
            <a:r>
              <a:t/>
            </a:r>
            <a:endParaRPr/>
          </a:p>
        </p:txBody>
      </p:sp>
      <p:graphicFrame>
        <p:nvGraphicFramePr>
          <p:cNvPr id="189" name="Google Shape;189;g37f1e75b75e_0_81"/>
          <p:cNvGraphicFramePr/>
          <p:nvPr/>
        </p:nvGraphicFramePr>
        <p:xfrm>
          <a:off x="348750" y="444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{B279C7C0-5481-4DAE-8841-97E6D0AA9554}</a:tableStyleId>
              </a:tblPr>
              <a:tblGrid>
                <a:gridCol w="4017850"/>
                <a:gridCol w="4186550"/>
              </a:tblGrid>
              <a:tr h="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solidFill>
                            <a:schemeClr val="dk1"/>
                          </a:solidFill>
                        </a:rPr>
                        <a:t>Disjoint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solidFill>
                            <a:schemeClr val="dk1"/>
                          </a:solidFill>
                        </a:rPr>
                        <a:t>Overlapping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>
                          <a:solidFill>
                            <a:schemeClr val="dk1"/>
                          </a:solidFill>
                        </a:rPr>
                        <a:t>Instance can belong to only one subclass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>
                          <a:solidFill>
                            <a:schemeClr val="dk1"/>
                          </a:solidFill>
                        </a:rPr>
                        <a:t>Instance can belong to multiple subclasses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>
                          <a:solidFill>
                            <a:schemeClr val="dk1"/>
                          </a:solidFill>
                        </a:rPr>
                        <a:t>Exclusive classification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>
                          <a:solidFill>
                            <a:schemeClr val="dk1"/>
                          </a:solidFill>
                        </a:rPr>
                        <a:t>Multiple classification allowed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>
                          <a:solidFill>
                            <a:schemeClr val="dk1"/>
                          </a:solidFill>
                        </a:rPr>
                        <a:t>Example: Vehicle → Car/Bus/Truck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>
                          <a:solidFill>
                            <a:schemeClr val="dk1"/>
                          </a:solidFill>
                        </a:rPr>
                        <a:t>Example: Person → Student/Employee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f1e75b75e_0_86"/>
          <p:cNvSpPr txBox="1"/>
          <p:nvPr>
            <p:ph type="title"/>
          </p:nvPr>
        </p:nvSpPr>
        <p:spPr>
          <a:xfrm>
            <a:off x="557399" y="1002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Powertypes</a:t>
            </a:r>
            <a:endParaRPr b="1"/>
          </a:p>
        </p:txBody>
      </p:sp>
      <p:sp>
        <p:nvSpPr>
          <p:cNvPr id="195" name="Google Shape;195;g37f1e75b75e_0_86"/>
          <p:cNvSpPr txBox="1"/>
          <p:nvPr>
            <p:ph idx="1" type="body"/>
          </p:nvPr>
        </p:nvSpPr>
        <p:spPr>
          <a:xfrm>
            <a:off x="228900" y="1242350"/>
            <a:ext cx="86862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640"/>
              <a:t>A powertype is a classifier (class) whose instances are the subclasses of another classifier.</a:t>
            </a:r>
            <a:endParaRPr sz="2640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640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640"/>
              <a:t>In other words:</a:t>
            </a:r>
            <a:endParaRPr sz="2640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640"/>
              <a:t>We have a generalization set (a set of subclasses).</a:t>
            </a:r>
            <a:endParaRPr sz="2640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640"/>
              <a:t>The powertype is a class that represents the types in that generalization set.</a:t>
            </a:r>
            <a:endParaRPr sz="2640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640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640"/>
              <a:t>Normal class → has objects as instances.</a:t>
            </a:r>
            <a:endParaRPr sz="2640"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640"/>
              <a:t>Powertype → has subclasses as instances.</a:t>
            </a:r>
            <a:endParaRPr sz="26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191875822_1_1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lang="en-IN"/>
              <a:t>Powertypes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1" name="Google Shape;201;g38191875822_1_1"/>
          <p:cNvSpPr txBox="1"/>
          <p:nvPr>
            <p:ph idx="1" type="body"/>
          </p:nvPr>
        </p:nvSpPr>
        <p:spPr>
          <a:xfrm>
            <a:off x="195931" y="1415421"/>
            <a:ext cx="8686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ts val="1800"/>
              <a:buNone/>
            </a:pPr>
            <a:r>
              <a:rPr lang="en-IN"/>
              <a:t>A generalization set is connected to its powertype using a dashed line.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ts val="1800"/>
              <a:buNone/>
            </a:pPr>
            <a:r>
              <a:rPr lang="en-IN"/>
              <a:t>Written as &lt;&lt;powertype&gt;&gt;.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91"/>
              </a:spcBef>
              <a:spcAft>
                <a:spcPts val="0"/>
              </a:spcAft>
              <a:buSzPts val="1800"/>
              <a:buNone/>
            </a:pPr>
            <a:r>
              <a:rPr lang="en-IN"/>
              <a:t>The powertype class sits beside or above the generalization set.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8191875822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00" y="1022675"/>
            <a:ext cx="8081200" cy="4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60fd851ca75ef280_0_4"/>
          <p:cNvSpPr txBox="1"/>
          <p:nvPr>
            <p:ph type="title"/>
          </p:nvPr>
        </p:nvSpPr>
        <p:spPr>
          <a:xfrm>
            <a:off x="652449" y="273352"/>
            <a:ext cx="8029200" cy="11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Generalization Set vs Powertype</a:t>
            </a:r>
            <a:endParaRPr/>
          </a:p>
        </p:txBody>
      </p:sp>
      <p:graphicFrame>
        <p:nvGraphicFramePr>
          <p:cNvPr id="212" name="Google Shape;212;h60fd851ca75ef280_0_4"/>
          <p:cNvGraphicFramePr/>
          <p:nvPr/>
        </p:nvGraphicFramePr>
        <p:xfrm>
          <a:off x="222525" y="179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{B279C7C0-5481-4DAE-8841-97E6D0AA9554}</a:tableStyleId>
              </a:tblPr>
              <a:tblGrid>
                <a:gridCol w="1058100"/>
                <a:gridCol w="3794950"/>
                <a:gridCol w="3499900"/>
              </a:tblGrid>
              <a:tr h="445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Feature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Generalization Set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Powertype</a:t>
                      </a:r>
                      <a:endParaRPr b="1" sz="1600"/>
                    </a:p>
                  </a:txBody>
                  <a:tcPr marT="91425" marB="91425" marR="91425" marL="91425" anchor="ctr"/>
                </a:tc>
              </a:tr>
              <a:tr h="71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Main purpose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Group generalization relationships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Represent subclasses/types as instances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46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Focus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Classification rules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Types of types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71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Specifies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Disjoint/overlapping and complete/incomplete constraints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 classifier whose instances correspond to subclasses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46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Example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Vehicle → Car, Bus, Truck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VehicleType → Car, Bus, Truck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71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Concerned with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How subclasses relate to superclass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Representing the subclasses themselves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type="title"/>
          </p:nvPr>
        </p:nvSpPr>
        <p:spPr>
          <a:xfrm>
            <a:off x="557380" y="2973223"/>
            <a:ext cx="8029240" cy="114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b="1" lang="en-IN" sz="7200"/>
              <a:t>THANK YOU</a:t>
            </a:r>
            <a:br>
              <a:rPr lang="en-IN" sz="7200"/>
            </a:b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