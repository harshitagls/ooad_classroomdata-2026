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7559675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guC82Tfbj1xwAoGtLvW+eEBCuh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17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14d8d6791_0_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714d8d6791_0_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14fd61ac1_0_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714fd61ac1_0_0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14fd61ac1_0_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714fd61ac1_0_5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14fd61ac1_0_1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714fd61ac1_0_10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14fd61ac1_0_1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714fd61ac1_0_15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75616b03d_0_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75616b03d_0_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75616b03d_0_6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75616b03d_0_2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75616b03d_0_2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75616b03d_0_25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75616b03d_0_1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75616b03d_0_1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f75616b03d_0_13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75616b03d_0_3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75616b03d_0_3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f75616b03d_0_3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75616b03d_0_4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75616b03d_0_4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f75616b03d_0_43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aba1c9a2d_0_2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faba1c9a2d_0_2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faba1c9a2d_0_2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aba1c9a2d_0_2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aba1c9a2d_0_2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faba1c9a2d_0_21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75616b03d_0_3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75616b03d_0_3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f75616b03d_0_31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75616b03d_0_1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75616b03d_0_1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f75616b03d_0_19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75616b03d_0_6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75616b03d_0_6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f75616b03d_0_61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75616b03d_0_6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f75616b03d_0_6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f75616b03d_0_6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5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55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7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7"/>
          <p:cNvSpPr txBox="1"/>
          <p:nvPr>
            <p:ph idx="1" type="subTitle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2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2"/>
          <p:cNvSpPr txBox="1"/>
          <p:nvPr>
            <p:ph idx="1" type="body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3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3"/>
          <p:cNvSpPr txBox="1"/>
          <p:nvPr>
            <p:ph idx="1" type="body"/>
          </p:nvPr>
        </p:nvSpPr>
        <p:spPr>
          <a:xfrm>
            <a:off x="2160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63"/>
          <p:cNvSpPr txBox="1"/>
          <p:nvPr>
            <p:ph idx="2" type="body"/>
          </p:nvPr>
        </p:nvSpPr>
        <p:spPr>
          <a:xfrm>
            <a:off x="51228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4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5"/>
          <p:cNvSpPr txBox="1"/>
          <p:nvPr>
            <p:ph idx="1" type="subTitle"/>
          </p:nvPr>
        </p:nvSpPr>
        <p:spPr>
          <a:xfrm>
            <a:off x="719280" y="301320"/>
            <a:ext cx="8851680" cy="583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6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6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2" type="body"/>
          </p:nvPr>
        </p:nvSpPr>
        <p:spPr>
          <a:xfrm>
            <a:off x="51228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6"/>
          <p:cNvSpPr txBox="1"/>
          <p:nvPr>
            <p:ph idx="3" type="body"/>
          </p:nvPr>
        </p:nvSpPr>
        <p:spPr>
          <a:xfrm>
            <a:off x="2160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7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7"/>
          <p:cNvSpPr txBox="1"/>
          <p:nvPr>
            <p:ph idx="1" type="body"/>
          </p:nvPr>
        </p:nvSpPr>
        <p:spPr>
          <a:xfrm>
            <a:off x="2160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7"/>
          <p:cNvSpPr txBox="1"/>
          <p:nvPr>
            <p:ph idx="3" type="body"/>
          </p:nvPr>
        </p:nvSpPr>
        <p:spPr>
          <a:xfrm>
            <a:off x="51228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8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8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8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8"/>
          <p:cNvSpPr txBox="1"/>
          <p:nvPr>
            <p:ph idx="3" type="body"/>
          </p:nvPr>
        </p:nvSpPr>
        <p:spPr>
          <a:xfrm>
            <a:off x="216000" y="443088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9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9"/>
          <p:cNvSpPr txBox="1"/>
          <p:nvPr>
            <p:ph idx="1" type="body"/>
          </p:nvPr>
        </p:nvSpPr>
        <p:spPr>
          <a:xfrm>
            <a:off x="216000" y="156024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9"/>
          <p:cNvSpPr txBox="1"/>
          <p:nvPr>
            <p:ph idx="2" type="body"/>
          </p:nvPr>
        </p:nvSpPr>
        <p:spPr>
          <a:xfrm>
            <a:off x="216000" y="443088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0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0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0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0"/>
          <p:cNvSpPr txBox="1"/>
          <p:nvPr>
            <p:ph idx="3" type="body"/>
          </p:nvPr>
        </p:nvSpPr>
        <p:spPr>
          <a:xfrm>
            <a:off x="2160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70"/>
          <p:cNvSpPr txBox="1"/>
          <p:nvPr>
            <p:ph idx="4" type="body"/>
          </p:nvPr>
        </p:nvSpPr>
        <p:spPr>
          <a:xfrm>
            <a:off x="51228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1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1"/>
          <p:cNvSpPr txBox="1"/>
          <p:nvPr>
            <p:ph idx="1" type="body"/>
          </p:nvPr>
        </p:nvSpPr>
        <p:spPr>
          <a:xfrm>
            <a:off x="21600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71"/>
          <p:cNvSpPr txBox="1"/>
          <p:nvPr>
            <p:ph idx="2" type="body"/>
          </p:nvPr>
        </p:nvSpPr>
        <p:spPr>
          <a:xfrm>
            <a:off x="345384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71"/>
          <p:cNvSpPr txBox="1"/>
          <p:nvPr>
            <p:ph idx="3" type="body"/>
          </p:nvPr>
        </p:nvSpPr>
        <p:spPr>
          <a:xfrm>
            <a:off x="669204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71"/>
          <p:cNvSpPr txBox="1"/>
          <p:nvPr>
            <p:ph idx="4" type="body"/>
          </p:nvPr>
        </p:nvSpPr>
        <p:spPr>
          <a:xfrm>
            <a:off x="21600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71"/>
          <p:cNvSpPr txBox="1"/>
          <p:nvPr>
            <p:ph idx="5" type="body"/>
          </p:nvPr>
        </p:nvSpPr>
        <p:spPr>
          <a:xfrm>
            <a:off x="345384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71"/>
          <p:cNvSpPr txBox="1"/>
          <p:nvPr>
            <p:ph idx="6" type="body"/>
          </p:nvPr>
        </p:nvSpPr>
        <p:spPr>
          <a:xfrm>
            <a:off x="669204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9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9"/>
          <p:cNvSpPr txBox="1"/>
          <p:nvPr>
            <p:ph idx="1" type="body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2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2"/>
          <p:cNvSpPr txBox="1"/>
          <p:nvPr>
            <p:ph idx="1" type="subTitle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3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3"/>
          <p:cNvSpPr txBox="1"/>
          <p:nvPr>
            <p:ph idx="1" type="body"/>
          </p:nvPr>
        </p:nvSpPr>
        <p:spPr>
          <a:xfrm>
            <a:off x="2160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73"/>
          <p:cNvSpPr txBox="1"/>
          <p:nvPr>
            <p:ph idx="2" type="body"/>
          </p:nvPr>
        </p:nvSpPr>
        <p:spPr>
          <a:xfrm>
            <a:off x="51228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4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5"/>
          <p:cNvSpPr txBox="1"/>
          <p:nvPr>
            <p:ph idx="1" type="subTitle"/>
          </p:nvPr>
        </p:nvSpPr>
        <p:spPr>
          <a:xfrm>
            <a:off x="719280" y="301320"/>
            <a:ext cx="8851680" cy="583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6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6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76"/>
          <p:cNvSpPr txBox="1"/>
          <p:nvPr>
            <p:ph idx="2" type="body"/>
          </p:nvPr>
        </p:nvSpPr>
        <p:spPr>
          <a:xfrm>
            <a:off x="51228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76"/>
          <p:cNvSpPr txBox="1"/>
          <p:nvPr>
            <p:ph idx="3" type="body"/>
          </p:nvPr>
        </p:nvSpPr>
        <p:spPr>
          <a:xfrm>
            <a:off x="2160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7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7"/>
          <p:cNvSpPr txBox="1"/>
          <p:nvPr>
            <p:ph idx="1" type="body"/>
          </p:nvPr>
        </p:nvSpPr>
        <p:spPr>
          <a:xfrm>
            <a:off x="2160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77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77"/>
          <p:cNvSpPr txBox="1"/>
          <p:nvPr>
            <p:ph idx="3" type="body"/>
          </p:nvPr>
        </p:nvSpPr>
        <p:spPr>
          <a:xfrm>
            <a:off x="51228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8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8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78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78"/>
          <p:cNvSpPr txBox="1"/>
          <p:nvPr>
            <p:ph idx="3" type="body"/>
          </p:nvPr>
        </p:nvSpPr>
        <p:spPr>
          <a:xfrm>
            <a:off x="216000" y="443088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9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79"/>
          <p:cNvSpPr txBox="1"/>
          <p:nvPr>
            <p:ph idx="1" type="body"/>
          </p:nvPr>
        </p:nvSpPr>
        <p:spPr>
          <a:xfrm>
            <a:off x="216000" y="156024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79"/>
          <p:cNvSpPr txBox="1"/>
          <p:nvPr>
            <p:ph idx="2" type="body"/>
          </p:nvPr>
        </p:nvSpPr>
        <p:spPr>
          <a:xfrm>
            <a:off x="216000" y="443088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0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80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80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80"/>
          <p:cNvSpPr txBox="1"/>
          <p:nvPr>
            <p:ph idx="3" type="body"/>
          </p:nvPr>
        </p:nvSpPr>
        <p:spPr>
          <a:xfrm>
            <a:off x="2160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80"/>
          <p:cNvSpPr txBox="1"/>
          <p:nvPr>
            <p:ph idx="4" type="body"/>
          </p:nvPr>
        </p:nvSpPr>
        <p:spPr>
          <a:xfrm>
            <a:off x="51228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1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81"/>
          <p:cNvSpPr txBox="1"/>
          <p:nvPr>
            <p:ph idx="1" type="body"/>
          </p:nvPr>
        </p:nvSpPr>
        <p:spPr>
          <a:xfrm>
            <a:off x="21600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81"/>
          <p:cNvSpPr txBox="1"/>
          <p:nvPr>
            <p:ph idx="2" type="body"/>
          </p:nvPr>
        </p:nvSpPr>
        <p:spPr>
          <a:xfrm>
            <a:off x="345384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81"/>
          <p:cNvSpPr txBox="1"/>
          <p:nvPr>
            <p:ph idx="3" type="body"/>
          </p:nvPr>
        </p:nvSpPr>
        <p:spPr>
          <a:xfrm>
            <a:off x="669204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81"/>
          <p:cNvSpPr txBox="1"/>
          <p:nvPr>
            <p:ph idx="4" type="body"/>
          </p:nvPr>
        </p:nvSpPr>
        <p:spPr>
          <a:xfrm>
            <a:off x="21600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81"/>
          <p:cNvSpPr txBox="1"/>
          <p:nvPr>
            <p:ph idx="5" type="body"/>
          </p:nvPr>
        </p:nvSpPr>
        <p:spPr>
          <a:xfrm>
            <a:off x="345384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81"/>
          <p:cNvSpPr txBox="1"/>
          <p:nvPr>
            <p:ph idx="6" type="body"/>
          </p:nvPr>
        </p:nvSpPr>
        <p:spPr>
          <a:xfrm>
            <a:off x="669204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6"/>
          <p:cNvSpPr/>
          <p:nvPr/>
        </p:nvSpPr>
        <p:spPr>
          <a:xfrm>
            <a:off x="0" y="287280"/>
            <a:ext cx="501480" cy="1077840"/>
          </a:xfrm>
          <a:prstGeom prst="rect">
            <a:avLst/>
          </a:prstGeom>
          <a:solidFill>
            <a:srgbClr val="EF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56"/>
          <p:cNvSpPr txBox="1"/>
          <p:nvPr>
            <p:ph type="title"/>
          </p:nvPr>
        </p:nvSpPr>
        <p:spPr>
          <a:xfrm>
            <a:off x="502920" y="301320"/>
            <a:ext cx="9070920" cy="126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6"/>
          <p:cNvSpPr txBox="1"/>
          <p:nvPr>
            <p:ph idx="1" type="body"/>
          </p:nvPr>
        </p:nvSpPr>
        <p:spPr>
          <a:xfrm>
            <a:off x="502920" y="1768320"/>
            <a:ext cx="9070920" cy="438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27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8"/>
          <p:cNvSpPr/>
          <p:nvPr/>
        </p:nvSpPr>
        <p:spPr>
          <a:xfrm>
            <a:off x="59300" y="1405200"/>
            <a:ext cx="9943200" cy="5868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5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279160" y="1777680"/>
            <a:ext cx="4704840" cy="383832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8"/>
          <p:cNvSpPr/>
          <p:nvPr/>
        </p:nvSpPr>
        <p:spPr>
          <a:xfrm>
            <a:off x="0" y="287280"/>
            <a:ext cx="501480" cy="1077840"/>
          </a:xfrm>
          <a:prstGeom prst="rect">
            <a:avLst/>
          </a:prstGeom>
          <a:solidFill>
            <a:srgbClr val="EF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8"/>
          <p:cNvSpPr/>
          <p:nvPr/>
        </p:nvSpPr>
        <p:spPr>
          <a:xfrm>
            <a:off x="-19465" y="-12600"/>
            <a:ext cx="5166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FCAIT – MSc (IT) Programme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8"/>
          <p:cNvSpPr/>
          <p:nvPr/>
        </p:nvSpPr>
        <p:spPr>
          <a:xfrm>
            <a:off x="5413829" y="7273440"/>
            <a:ext cx="4388059" cy="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 : Object Oriented Analysis and Design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8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58"/>
          <p:cNvSpPr txBox="1"/>
          <p:nvPr>
            <p:ph idx="1" type="body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9" name="Google Shape;69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22950" y="0"/>
            <a:ext cx="2557674" cy="85380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"/>
          <p:cNvSpPr/>
          <p:nvPr/>
        </p:nvSpPr>
        <p:spPr>
          <a:xfrm>
            <a:off x="385920" y="301680"/>
            <a:ext cx="9186840" cy="585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0" i="0" lang="en-US" sz="4900" u="none" cap="none" strike="noStrike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OBJECT ORIENTED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273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0" i="0" lang="en-US" sz="4900" u="none" cap="none" strike="noStrike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ANALYSIS AND DESIGN</a:t>
            </a:r>
            <a:endParaRPr b="0" i="0" sz="4900" u="none" cap="none" strike="noStrike">
              <a:solidFill>
                <a:srgbClr val="D253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273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lang="en-US" sz="4900">
                <a:solidFill>
                  <a:srgbClr val="D2533C"/>
                </a:solidFill>
              </a:rPr>
              <a:t>Ch - 4</a:t>
            </a:r>
            <a:endParaRPr sz="4900">
              <a:solidFill>
                <a:srgbClr val="D2533C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273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lang="en-US" sz="4900">
                <a:solidFill>
                  <a:srgbClr val="D2533C"/>
                </a:solidFill>
              </a:rPr>
              <a:t>Use Case Modeling</a:t>
            </a:r>
            <a:endParaRPr sz="4900">
              <a:solidFill>
                <a:srgbClr val="D2533C"/>
              </a:solidFill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507865" y="6153120"/>
            <a:ext cx="918684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study material for the students of GLS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14d8d6791_0_0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What is Use Case</a:t>
            </a:r>
            <a:endParaRPr/>
          </a:p>
        </p:txBody>
      </p:sp>
      <p:sp>
        <p:nvSpPr>
          <p:cNvPr id="129" name="Google Shape;129;g3714d8d6791_0_0"/>
          <p:cNvSpPr txBox="1"/>
          <p:nvPr>
            <p:ph idx="4294967295" type="body"/>
          </p:nvPr>
        </p:nvSpPr>
        <p:spPr>
          <a:xfrm>
            <a:off x="181850" y="1552200"/>
            <a:ext cx="9578700" cy="56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A use case tells a complete story of how a user interacts with a system to achieve something useful.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"Use" = someone doing something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"Case" = a situation or goal</a:t>
            </a:r>
            <a:br>
              <a:rPr lang="en-US" sz="2100"/>
            </a:b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100"/>
              <a:t>So, a Use Case = A situation where the system is used to achieve a goal.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Use Cases are not about how the system works inside, but what the user wants to do and how the system responds.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Use cases help in: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Understanding what the system should do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Describing user goals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Planning features in software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Creating test cases later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800"/>
              <a:buNone/>
            </a:pPr>
            <a:r>
              <a:rPr b="1" lang="en-US" sz="2100"/>
              <a:t>A Test Case is a set of steps used to check if a feature of the system is working correctly.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14fd61ac1_0_0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35" name="Google Shape;135;g3714fd61ac1_0_0"/>
          <p:cNvSpPr txBox="1"/>
          <p:nvPr>
            <p:ph idx="4294967295" type="body"/>
          </p:nvPr>
        </p:nvSpPr>
        <p:spPr>
          <a:xfrm>
            <a:off x="208826" y="1592945"/>
            <a:ext cx="9072600" cy="53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A use case diagram is a visual representation that shows - 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Who uses the system (Actor)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What they do (Use Cases)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System Boundary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/>
          </a:p>
        </p:txBody>
      </p:sp>
      <p:pic>
        <p:nvPicPr>
          <p:cNvPr id="136" name="Google Shape;136;g3714fd61ac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5575" y="3280100"/>
            <a:ext cx="6395600" cy="385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14fd61ac1_0_5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Use Case Modeling</a:t>
            </a:r>
            <a:endParaRPr/>
          </a:p>
        </p:txBody>
      </p:sp>
      <p:sp>
        <p:nvSpPr>
          <p:cNvPr id="142" name="Google Shape;142;g3714fd61ac1_0_5"/>
          <p:cNvSpPr txBox="1"/>
          <p:nvPr>
            <p:ph idx="4294967295" type="body"/>
          </p:nvPr>
        </p:nvSpPr>
        <p:spPr>
          <a:xfrm>
            <a:off x="208826" y="1553970"/>
            <a:ext cx="9072600" cy="53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Use Case Modeling is a simple way of understanding and writing down what the user wants from a software system.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It helps us answer: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“Who will use the system?”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“What will they do with it?”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It is part of requirements engineering — that is, figuring out what the software should do before we start building it.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Helps developers and clients understand the system clearly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Focuses on user goals instead of technical details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Acts as a blueprint before actual design and coding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14fd61ac1_0_10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600"/>
              <a:t>Components of Use Case Modeling</a:t>
            </a:r>
            <a:endParaRPr sz="3600"/>
          </a:p>
        </p:txBody>
      </p:sp>
      <p:sp>
        <p:nvSpPr>
          <p:cNvPr id="148" name="Google Shape;148;g3714fd61ac1_0_10"/>
          <p:cNvSpPr txBox="1"/>
          <p:nvPr>
            <p:ph idx="4294967295" type="body"/>
          </p:nvPr>
        </p:nvSpPr>
        <p:spPr>
          <a:xfrm>
            <a:off x="504025" y="1532725"/>
            <a:ext cx="9412500" cy="57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1. System Boundary:</a:t>
            </a:r>
            <a:r>
              <a:rPr lang="en-US" sz="2400"/>
              <a:t> It is a box that shows what is part of the system and what is not.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Everything inside the box = system features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Everything outside the box = external users/systems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2. Actors: </a:t>
            </a:r>
            <a:r>
              <a:rPr lang="en-US" sz="2400"/>
              <a:t>An actor is anyone or anything outside the system that interacts with it.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Examples: User, Admin, External systems (e.g., Payment Gateway)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3. Use Cases: </a:t>
            </a:r>
            <a:r>
              <a:rPr lang="en-US" sz="2400"/>
              <a:t>These are the goals or tasks that actors want to achieve using the system.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Examples: Login, Register, Buy Product, Generate Report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4. Relationships: </a:t>
            </a:r>
            <a:r>
              <a:rPr lang="en-US" sz="2400"/>
              <a:t>These are the connections between actors and use cases or between use cases themselves.</a:t>
            </a:r>
            <a:endParaRPr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Finding Actors</a:t>
            </a:r>
            <a:endParaRPr/>
          </a:p>
        </p:txBody>
      </p:sp>
      <p:sp>
        <p:nvSpPr>
          <p:cNvPr id="154" name="Google Shape;154;p3"/>
          <p:cNvSpPr txBox="1"/>
          <p:nvPr>
            <p:ph idx="1" type="body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actors of a system can be identified by answering a number of questions: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Who will use the functionality of the system?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Who will maintain the system?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What devices does the system need to handle?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What other system does this system need to interact?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Who or what has interest in the results of this system?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Finding Use-cases</a:t>
            </a:r>
            <a:endParaRPr/>
          </a:p>
        </p:txBody>
      </p:sp>
      <p:sp>
        <p:nvSpPr>
          <p:cNvPr id="160" name="Google Shape;160;p4"/>
          <p:cNvSpPr txBox="1"/>
          <p:nvPr>
            <p:ph idx="1" type="body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For each actor ask these questions: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Which functions does the actor require from the system?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What does the actor need to do?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Could the actor’s work be simplified or made efficient by new functions in the system?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What events are needed in the system?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What are the problems with the existing systems?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What are the inputs and outputs of the system?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14fd61ac1_0_15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600"/>
              <a:t>Use Case Diagram – Basic Symbols</a:t>
            </a:r>
            <a:endParaRPr sz="3600"/>
          </a:p>
        </p:txBody>
      </p:sp>
      <p:pic>
        <p:nvPicPr>
          <p:cNvPr id="166" name="Google Shape;166;g3714fd61ac1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025" y="1600875"/>
            <a:ext cx="8885150" cy="53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1274" y="1672376"/>
            <a:ext cx="5727400" cy="546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1600" y="1540075"/>
            <a:ext cx="4292850" cy="55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050" y="1519375"/>
            <a:ext cx="5260175" cy="552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3550" y="1568300"/>
            <a:ext cx="4183200" cy="5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Task</a:t>
            </a:r>
            <a:endParaRPr/>
          </a:p>
        </p:txBody>
      </p:sp>
      <p:sp>
        <p:nvSpPr>
          <p:cNvPr id="192" name="Google Shape;192;p9"/>
          <p:cNvSpPr txBox="1"/>
          <p:nvPr>
            <p:ph idx="1" type="body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1.</a:t>
            </a:r>
            <a:r>
              <a:rPr b="1" lang="en-US" sz="2400"/>
              <a:t> Online Movie Ticket Booking: </a:t>
            </a:r>
            <a:r>
              <a:rPr lang="en-US" sz="2400"/>
              <a:t>A user wants to search for movies, select a showtime, book seats, and make a payment online.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Task: Identify actors and use cases. Draw a use case diagram.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2. </a:t>
            </a:r>
            <a:r>
              <a:rPr b="1" lang="en-US" sz="2400"/>
              <a:t>Ride-Hailing App (like Uber): </a:t>
            </a:r>
            <a:r>
              <a:rPr lang="en-US" sz="2400"/>
              <a:t>A rider books a ride, tracks driver location, and makes payment. A driver accepts rides and completes trips.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Task: List actors and their associated use cases.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3. </a:t>
            </a:r>
            <a:r>
              <a:rPr b="1" lang="en-US" sz="2400"/>
              <a:t>YouTube-like Video Platform:</a:t>
            </a:r>
            <a:r>
              <a:rPr lang="en-US" sz="2400"/>
              <a:t> Users sign up, watch videos, like/share content, and upload their own videos. Admin reviews flagged videos.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Task: Identify 2 types of actors and their use cases.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 txBox="1"/>
          <p:nvPr>
            <p:ph type="title"/>
          </p:nvPr>
        </p:nvSpPr>
        <p:spPr>
          <a:xfrm>
            <a:off x="614472" y="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Types of Actors </a:t>
            </a:r>
            <a:endParaRPr/>
          </a:p>
        </p:txBody>
      </p:sp>
      <p:sp>
        <p:nvSpPr>
          <p:cNvPr id="198" name="Google Shape;198;p10"/>
          <p:cNvSpPr txBox="1"/>
          <p:nvPr>
            <p:ph idx="1" type="body"/>
          </p:nvPr>
        </p:nvSpPr>
        <p:spPr>
          <a:xfrm>
            <a:off x="373813" y="1649625"/>
            <a:ext cx="9333000" cy="53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/>
              <a:t>1. </a:t>
            </a:r>
            <a:r>
              <a:rPr b="1" lang="en-US"/>
              <a:t>Primary Actor</a:t>
            </a:r>
            <a:r>
              <a:rPr lang="en-US"/>
              <a:t>: The actor who initiates the interaction with the system to achieve a specific goal.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/>
              <a:t>Goal-Oriented: They use the system to fulfill a business or user goal.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1081"/>
              <a:buNone/>
            </a:pPr>
            <a:r>
              <a:rPr lang="en-US" sz="2400"/>
              <a:t>Examples: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1081"/>
              <a:buNone/>
            </a:pPr>
            <a:r>
              <a:rPr lang="en-US" sz="2400"/>
              <a:t>Customer using an ATM to withdraw money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1081"/>
              <a:buNone/>
            </a:pPr>
            <a:r>
              <a:rPr lang="en-US" sz="2400"/>
              <a:t>User playing music on Spotify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4844"/>
              <a:buNone/>
            </a:pPr>
            <a:r>
              <a:t/>
            </a:r>
            <a:endParaRPr sz="26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b="1" lang="en-US"/>
              <a:t>2. Secondary Actor (Supporting Actor): </a:t>
            </a:r>
            <a:r>
              <a:rPr lang="en-US"/>
              <a:t>The actor that supports the system in carrying out the use case. They do not initiate the use case.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/>
              <a:t>Role: Provide a service or functionality needed by the system to help the primary actor achieve their goal.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1081"/>
              <a:buNone/>
            </a:pPr>
            <a:r>
              <a:rPr lang="en-US" sz="2400"/>
              <a:t>Examples: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1081"/>
              <a:buNone/>
            </a:pPr>
            <a:r>
              <a:rPr lang="en-US" sz="2400"/>
              <a:t>Bank server verifying ATM transactions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1081"/>
              <a:buNone/>
            </a:pPr>
            <a:r>
              <a:rPr lang="en-US" sz="2400"/>
              <a:t>Payment gateway in online shopping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1081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75616b03d_0_6"/>
          <p:cNvSpPr txBox="1"/>
          <p:nvPr>
            <p:ph type="title"/>
          </p:nvPr>
        </p:nvSpPr>
        <p:spPr>
          <a:xfrm>
            <a:off x="914125" y="2156198"/>
            <a:ext cx="8851800" cy="403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0"/>
              <a:t>Case Study: </a:t>
            </a:r>
            <a:endParaRPr sz="9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0"/>
              <a:t>The NextGen POS System</a:t>
            </a:r>
            <a:endParaRPr sz="9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75616b03d_0_25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 POS System?</a:t>
            </a:r>
            <a:endParaRPr/>
          </a:p>
        </p:txBody>
      </p:sp>
      <p:sp>
        <p:nvSpPr>
          <p:cNvPr id="211" name="Google Shape;211;g3f75616b03d_0_25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POS = Point of Sale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Used at billing counters in stores Combines hardware + software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Scans products, calculates bill, processes payments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75616b03d_0_13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NextGen POS?</a:t>
            </a:r>
            <a:endParaRPr/>
          </a:p>
        </p:txBody>
      </p:sp>
      <p:sp>
        <p:nvSpPr>
          <p:cNvPr id="218" name="Google Shape;218;g3f75616b03d_0_13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3000"/>
              <a:t>Replace old cash register systems</a:t>
            </a:r>
            <a:endParaRPr sz="3000"/>
          </a:p>
          <a:p>
            <a:pPr indent="-3556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3000"/>
              <a:t>Modern, flexible, and scalable</a:t>
            </a:r>
            <a:endParaRPr sz="3000"/>
          </a:p>
          <a:p>
            <a:pPr indent="-3556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3000"/>
              <a:t>Works for all types of retail stores</a:t>
            </a:r>
            <a:endParaRPr sz="3000"/>
          </a:p>
          <a:p>
            <a:pPr indent="-3556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•"/>
            </a:pPr>
            <a:r>
              <a:rPr lang="en-US" sz="3000"/>
              <a:t>Real-time sales and inventory integration</a:t>
            </a:r>
            <a:endParaRPr sz="3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75616b03d_0_37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Business Goals</a:t>
            </a:r>
            <a:endParaRPr/>
          </a:p>
        </p:txBody>
      </p:sp>
      <p:sp>
        <p:nvSpPr>
          <p:cNvPr id="225" name="Google Shape;225;g3f75616b03d_0_37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Modernization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Flexibility across stores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Real-time inventory updates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Better customer service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Secure and fast transactions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75616b03d_0_43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Actors in the System</a:t>
            </a:r>
            <a:endParaRPr/>
          </a:p>
        </p:txBody>
      </p:sp>
      <p:sp>
        <p:nvSpPr>
          <p:cNvPr id="232" name="Google Shape;232;g3f75616b03d_0_43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1. Cashier -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cashie</a:t>
            </a:r>
            <a:r>
              <a:rPr lang="en-US"/>
              <a:t>r</a:t>
            </a:r>
            <a:r>
              <a:rPr lang="en-US"/>
              <a:t> is the primary actor.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cashier uses the POS system to process customer purchases.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cashier can: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Start a sale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Scan product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Enter quantity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Remove product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Calculate total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Process payment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Generate receipt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aba1c9a2d_0_27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Actors in the System</a:t>
            </a:r>
            <a:endParaRPr/>
          </a:p>
        </p:txBody>
      </p:sp>
      <p:sp>
        <p:nvSpPr>
          <p:cNvPr id="239" name="Google Shape;239;g3faba1c9a2d_0_27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2. Store Manager -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manager manages products, inventory, and sales information.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manager can: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Add product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Update product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Remove product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Check inventory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View sales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Generate reports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aba1c9a2d_0_21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Actors in the System</a:t>
            </a:r>
            <a:endParaRPr/>
          </a:p>
        </p:txBody>
      </p:sp>
      <p:sp>
        <p:nvSpPr>
          <p:cNvPr id="246" name="Google Shape;246;g3faba1c9a2d_0_21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3. Customer -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customer interacts indirectly with the POS system during a purchase.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For example:</a:t>
            </a:r>
            <a:endParaRPr/>
          </a:p>
          <a:p>
            <a:pPr indent="-317183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Provides products for purchase</a:t>
            </a:r>
            <a:endParaRPr/>
          </a:p>
          <a:p>
            <a:pPr indent="-31718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Makes payment</a:t>
            </a:r>
            <a:endParaRPr/>
          </a:p>
          <a:p>
            <a:pPr indent="-31718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Receives receipt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4. Payment Gateway -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payment gateway is an external system.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 interacts with the POS system when the customer pays using: Card, UPI, Digital payment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5. Inventory System -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If the store has a separate inventory system, it can interact with the POS system to update stock.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75616b03d_0_31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Main Use Cases</a:t>
            </a:r>
            <a:endParaRPr/>
          </a:p>
        </p:txBody>
      </p:sp>
      <p:sp>
        <p:nvSpPr>
          <p:cNvPr id="253" name="Google Shape;253;g3f75616b03d_0_31"/>
          <p:cNvSpPr txBox="1"/>
          <p:nvPr>
            <p:ph idx="1" type="body"/>
          </p:nvPr>
        </p:nvSpPr>
        <p:spPr>
          <a:xfrm>
            <a:off x="216000" y="1560250"/>
            <a:ext cx="30426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500"/>
              <a:t>Cashier -</a:t>
            </a:r>
            <a:endParaRPr b="1" sz="2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/>
              <a:t>The Cashier can: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Start Sale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Scan Product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Enter Product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View Product Details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Update Quantity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Remove Product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Calculate Total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Process Payment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Generate Receipt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Cancel Sale</a:t>
            </a:r>
            <a:endParaRPr sz="2500"/>
          </a:p>
        </p:txBody>
      </p:sp>
      <p:sp>
        <p:nvSpPr>
          <p:cNvPr id="254" name="Google Shape;254;g3f75616b03d_0_31"/>
          <p:cNvSpPr txBox="1"/>
          <p:nvPr/>
        </p:nvSpPr>
        <p:spPr>
          <a:xfrm>
            <a:off x="4360925" y="1394550"/>
            <a:ext cx="54264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/>
              <a:t>Store Manager -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The Manager can: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Add Product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Update Product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Remove Product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View Product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Check Inventory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View Sales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Generate Sales Report</a:t>
            </a:r>
            <a:endParaRPr sz="2500"/>
          </a:p>
        </p:txBody>
      </p:sp>
      <p:sp>
        <p:nvSpPr>
          <p:cNvPr id="255" name="Google Shape;255;g3f75616b03d_0_31"/>
          <p:cNvSpPr txBox="1"/>
          <p:nvPr/>
        </p:nvSpPr>
        <p:spPr>
          <a:xfrm>
            <a:off x="4577225" y="5198575"/>
            <a:ext cx="49938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/>
              <a:t>Payment Gateway -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The Payment Gateway participates in: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Process Digital Payment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Confirm Payment</a:t>
            </a:r>
            <a:endParaRPr sz="2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75616b03d_0_19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Real-World Shopping Example</a:t>
            </a:r>
            <a:endParaRPr/>
          </a:p>
        </p:txBody>
      </p:sp>
      <p:sp>
        <p:nvSpPr>
          <p:cNvPr id="262" name="Google Shape;262;g3f75616b03d_0_19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Customer brings 2 soaps, 1 shampoo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Shampoo removed by request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System calculates total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Customer pays → Change given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Receipt printed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Inventory updated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3f75616b03d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6625" y="0"/>
            <a:ext cx="5053600" cy="725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75616b03d_0_67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Benefits</a:t>
            </a:r>
            <a:endParaRPr/>
          </a:p>
        </p:txBody>
      </p:sp>
      <p:sp>
        <p:nvSpPr>
          <p:cNvPr id="275" name="Google Shape;275;g3f75616b03d_0_67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Fast &amp; accurate billing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Auto-updated inventory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Flexible payment options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Sales analytics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Eco-friendly digital receipts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5"/>
          <p:cNvSpPr txBox="1"/>
          <p:nvPr>
            <p:ph type="title"/>
          </p:nvPr>
        </p:nvSpPr>
        <p:spPr>
          <a:xfrm>
            <a:off x="413106" y="315043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57812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600"/>
              <a:buFont typeface="Arial"/>
              <a:buNone/>
            </a:pPr>
            <a:r>
              <a:rPr lang="en-US" sz="9600"/>
              <a:t>THANK YOU</a:t>
            </a:r>
            <a:endParaRPr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2020-04-27T17:43:41Z</dcterms:created>
</cp:coreProperties>
</file>