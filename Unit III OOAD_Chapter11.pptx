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RsOpV0s0DKmRaDna67tjirRnM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E99C5E-5965-47C6-A56F-6ACA8ED2D395}">
  <a:tblStyle styleId="{58E99C5E-5965-47C6-A56F-6ACA8ED2D39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98189fdf4709f87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98189fdf4709f87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h98189fdf4709f87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09f603b70a_0_186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409f603b70a_0_186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409f603b70a_0_186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09f603b70a_0_186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409f603b70a_0_186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409f603b70a_0_186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09f603b70a_0_187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409f603b70a_0_187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409f603b70a_0_187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09f603b70a_0_188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409f603b70a_0_188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409f603b70a_0_188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09f603b70a_0_188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409f603b70a_0_188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409f603b70a_0_188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9f603b70a_0_189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409f603b70a_0_189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409f603b70a_0_189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09f603b70a_0_189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409f603b70a_0_189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409f603b70a_0_189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409f603b70a_0_190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409f603b70a_0_190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409f603b70a_0_190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09f603b70a_0_19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409f603b70a_0_19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409f603b70a_0_191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09f603b70a_0_191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409f603b70a_0_191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409f603b70a_0_191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09f603b70a_0_192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409f603b70a_0_192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409f603b70a_0_192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09f603b70a_0_192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409f603b70a_0_192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409f603b70a_0_192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09f603b70a_0_193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409f603b70a_0_193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409f603b70a_0_193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09f603b70a_0_194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409f603b70a_0_194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409f603b70a_0_194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7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1800"/>
              <a:buNone/>
              <a:defRPr b="1">
                <a:solidFill>
                  <a:srgbClr val="A61C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6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1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2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2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4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5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5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85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5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6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6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6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7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7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8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8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9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9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9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9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0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90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0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0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90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0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8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8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1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1"/>
          <p:cNvSpPr txBox="1"/>
          <p:nvPr>
            <p:ph idx="1" type="subTitle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2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2"/>
          <p:cNvSpPr txBox="1"/>
          <p:nvPr>
            <p:ph idx="1" type="body"/>
          </p:nvPr>
        </p:nvSpPr>
        <p:spPr>
          <a:xfrm>
            <a:off x="216000" y="1560240"/>
            <a:ext cx="46728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92"/>
          <p:cNvSpPr txBox="1"/>
          <p:nvPr>
            <p:ph idx="2" type="body"/>
          </p:nvPr>
        </p:nvSpPr>
        <p:spPr>
          <a:xfrm>
            <a:off x="5122800" y="1560240"/>
            <a:ext cx="46728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3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4"/>
          <p:cNvSpPr txBox="1"/>
          <p:nvPr>
            <p:ph idx="1" type="subTitle"/>
          </p:nvPr>
        </p:nvSpPr>
        <p:spPr>
          <a:xfrm>
            <a:off x="719280" y="301320"/>
            <a:ext cx="8851800" cy="58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5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5"/>
          <p:cNvSpPr txBox="1"/>
          <p:nvPr>
            <p:ph idx="1" type="body"/>
          </p:nvPr>
        </p:nvSpPr>
        <p:spPr>
          <a:xfrm>
            <a:off x="216000" y="156024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5"/>
          <p:cNvSpPr txBox="1"/>
          <p:nvPr>
            <p:ph idx="2" type="body"/>
          </p:nvPr>
        </p:nvSpPr>
        <p:spPr>
          <a:xfrm>
            <a:off x="5122800" y="1560240"/>
            <a:ext cx="46728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95"/>
          <p:cNvSpPr txBox="1"/>
          <p:nvPr>
            <p:ph idx="3" type="body"/>
          </p:nvPr>
        </p:nvSpPr>
        <p:spPr>
          <a:xfrm>
            <a:off x="216000" y="443088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6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6"/>
          <p:cNvSpPr txBox="1"/>
          <p:nvPr>
            <p:ph idx="1" type="body"/>
          </p:nvPr>
        </p:nvSpPr>
        <p:spPr>
          <a:xfrm>
            <a:off x="216000" y="1560240"/>
            <a:ext cx="46728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96"/>
          <p:cNvSpPr txBox="1"/>
          <p:nvPr>
            <p:ph idx="2" type="body"/>
          </p:nvPr>
        </p:nvSpPr>
        <p:spPr>
          <a:xfrm>
            <a:off x="5122800" y="156024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6"/>
          <p:cNvSpPr txBox="1"/>
          <p:nvPr>
            <p:ph idx="3" type="body"/>
          </p:nvPr>
        </p:nvSpPr>
        <p:spPr>
          <a:xfrm>
            <a:off x="5122800" y="443088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7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7"/>
          <p:cNvSpPr txBox="1"/>
          <p:nvPr>
            <p:ph idx="1" type="body"/>
          </p:nvPr>
        </p:nvSpPr>
        <p:spPr>
          <a:xfrm>
            <a:off x="216000" y="156024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7"/>
          <p:cNvSpPr txBox="1"/>
          <p:nvPr>
            <p:ph idx="2" type="body"/>
          </p:nvPr>
        </p:nvSpPr>
        <p:spPr>
          <a:xfrm>
            <a:off x="5122800" y="156024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7"/>
          <p:cNvSpPr txBox="1"/>
          <p:nvPr>
            <p:ph idx="3" type="body"/>
          </p:nvPr>
        </p:nvSpPr>
        <p:spPr>
          <a:xfrm>
            <a:off x="216000" y="4430880"/>
            <a:ext cx="95760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8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8"/>
          <p:cNvSpPr txBox="1"/>
          <p:nvPr>
            <p:ph idx="1" type="body"/>
          </p:nvPr>
        </p:nvSpPr>
        <p:spPr>
          <a:xfrm>
            <a:off x="216000" y="1560240"/>
            <a:ext cx="95760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98"/>
          <p:cNvSpPr txBox="1"/>
          <p:nvPr>
            <p:ph idx="2" type="body"/>
          </p:nvPr>
        </p:nvSpPr>
        <p:spPr>
          <a:xfrm>
            <a:off x="216000" y="4430880"/>
            <a:ext cx="95760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9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9"/>
          <p:cNvSpPr txBox="1"/>
          <p:nvPr>
            <p:ph idx="1" type="body"/>
          </p:nvPr>
        </p:nvSpPr>
        <p:spPr>
          <a:xfrm>
            <a:off x="216000" y="156024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99"/>
          <p:cNvSpPr txBox="1"/>
          <p:nvPr>
            <p:ph idx="2" type="body"/>
          </p:nvPr>
        </p:nvSpPr>
        <p:spPr>
          <a:xfrm>
            <a:off x="5122800" y="156024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99"/>
          <p:cNvSpPr txBox="1"/>
          <p:nvPr>
            <p:ph idx="3" type="body"/>
          </p:nvPr>
        </p:nvSpPr>
        <p:spPr>
          <a:xfrm>
            <a:off x="216000" y="443088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99"/>
          <p:cNvSpPr txBox="1"/>
          <p:nvPr>
            <p:ph idx="4" type="body"/>
          </p:nvPr>
        </p:nvSpPr>
        <p:spPr>
          <a:xfrm>
            <a:off x="5122800" y="4430880"/>
            <a:ext cx="46728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0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00"/>
          <p:cNvSpPr txBox="1"/>
          <p:nvPr>
            <p:ph idx="1" type="body"/>
          </p:nvPr>
        </p:nvSpPr>
        <p:spPr>
          <a:xfrm>
            <a:off x="216000" y="1560240"/>
            <a:ext cx="30834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00"/>
          <p:cNvSpPr txBox="1"/>
          <p:nvPr>
            <p:ph idx="2" type="body"/>
          </p:nvPr>
        </p:nvSpPr>
        <p:spPr>
          <a:xfrm>
            <a:off x="3453840" y="1560240"/>
            <a:ext cx="30834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00"/>
          <p:cNvSpPr txBox="1"/>
          <p:nvPr>
            <p:ph idx="3" type="body"/>
          </p:nvPr>
        </p:nvSpPr>
        <p:spPr>
          <a:xfrm>
            <a:off x="6692040" y="1560240"/>
            <a:ext cx="30834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00"/>
          <p:cNvSpPr txBox="1"/>
          <p:nvPr>
            <p:ph idx="4" type="body"/>
          </p:nvPr>
        </p:nvSpPr>
        <p:spPr>
          <a:xfrm>
            <a:off x="216000" y="4430880"/>
            <a:ext cx="30834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00"/>
          <p:cNvSpPr txBox="1"/>
          <p:nvPr>
            <p:ph idx="5" type="body"/>
          </p:nvPr>
        </p:nvSpPr>
        <p:spPr>
          <a:xfrm>
            <a:off x="3453840" y="4430880"/>
            <a:ext cx="30834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00"/>
          <p:cNvSpPr txBox="1"/>
          <p:nvPr>
            <p:ph idx="6" type="body"/>
          </p:nvPr>
        </p:nvSpPr>
        <p:spPr>
          <a:xfrm>
            <a:off x="6692040" y="4430880"/>
            <a:ext cx="3083400" cy="26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5"/>
          <p:cNvSpPr txBox="1"/>
          <p:nvPr>
            <p:ph type="title"/>
          </p:nvPr>
        </p:nvSpPr>
        <p:spPr>
          <a:xfrm>
            <a:off x="502920" y="301320"/>
            <a:ext cx="9070920" cy="126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5"/>
          <p:cNvSpPr txBox="1"/>
          <p:nvPr>
            <p:ph idx="1" type="body"/>
          </p:nvPr>
        </p:nvSpPr>
        <p:spPr>
          <a:xfrm>
            <a:off x="502920" y="1768320"/>
            <a:ext cx="9070920" cy="438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2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7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79160" y="1777680"/>
            <a:ext cx="4704840" cy="3838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7"/>
          <p:cNvSpPr/>
          <p:nvPr/>
        </p:nvSpPr>
        <p:spPr>
          <a:xfrm>
            <a:off x="0" y="287280"/>
            <a:ext cx="501600" cy="107790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7"/>
          <p:cNvSpPr/>
          <p:nvPr/>
        </p:nvSpPr>
        <p:spPr>
          <a:xfrm>
            <a:off x="-19464" y="1"/>
            <a:ext cx="48102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7"/>
          <p:cNvSpPr/>
          <p:nvPr/>
        </p:nvSpPr>
        <p:spPr>
          <a:xfrm>
            <a:off x="5413829" y="7273440"/>
            <a:ext cx="43881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7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77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8" name="Google Shape;68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4275" y="0"/>
            <a:ext cx="2318476" cy="7739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/>
          <p:nvPr/>
        </p:nvSpPr>
        <p:spPr>
          <a:xfrm>
            <a:off x="385920" y="301680"/>
            <a:ext cx="9186900" cy="58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OBJECT ORIENTED 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ANALYSIS AND DESIGN</a:t>
            </a:r>
            <a:endParaRPr b="0" i="0" sz="49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Ch - 1</a:t>
            </a:r>
            <a:r>
              <a:rPr lang="en-US" sz="4900">
                <a:solidFill>
                  <a:srgbClr val="CC0000"/>
                </a:solidFill>
              </a:rPr>
              <a:t>1</a:t>
            </a:r>
            <a:endParaRPr b="0" i="0" sz="49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CC0000"/>
                </a:solidFill>
              </a:rPr>
              <a:t>Analysis Packages</a:t>
            </a:r>
            <a:endParaRPr b="0" i="0" sz="49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507865" y="6153120"/>
            <a:ext cx="9186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study material for the students of GLS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98189fdf4709f87_0_0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package?</a:t>
            </a:r>
            <a:endParaRPr/>
          </a:p>
        </p:txBody>
      </p:sp>
      <p:sp>
        <p:nvSpPr>
          <p:cNvPr id="129" name="Google Shape;129;h98189fdf4709f87_0_0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00"/>
              <a:t>A Package is a folder in UML used to group related elements together.</a:t>
            </a:r>
            <a:endParaRPr sz="27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700"/>
              <a:t>Purpose of a Package:</a:t>
            </a:r>
            <a:endParaRPr b="1" sz="2700"/>
          </a:p>
          <a:p>
            <a:pPr indent="-33655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To group related elements (like classes, diagrams, or components).</a:t>
            </a:r>
            <a:endParaRPr sz="2700"/>
          </a:p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To create a semantic boundary (clear separation in model).</a:t>
            </a:r>
            <a:endParaRPr sz="2700"/>
          </a:p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Helps in teamwork – allows multiple people to work in parallel.</a:t>
            </a:r>
            <a:endParaRPr sz="2700"/>
          </a:p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Keeps names unique inside one package.</a:t>
            </a:r>
            <a:endParaRPr sz="2700"/>
          </a:p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Example:</a:t>
            </a:r>
            <a:endParaRPr sz="2700"/>
          </a:p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-US" sz="2700"/>
              <a:t>A Library System may have packages like Books, Users, </a:t>
            </a:r>
            <a:endParaRPr sz="2700"/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130" name="Google Shape;130;h98189fdf4709f8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788" y="5000325"/>
            <a:ext cx="853440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f603b70a_0_1863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Package Syntax</a:t>
            </a:r>
            <a:endParaRPr/>
          </a:p>
        </p:txBody>
      </p:sp>
      <p:sp>
        <p:nvSpPr>
          <p:cNvPr id="137" name="Google Shape;137;g409f603b70a_0_1863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 package looks like a folder icon.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name of the package can appear on the tab or inside the folder.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You can give visibility to elements inside a package: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8" name="Google Shape;138;g409f603b70a_0_18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811" y="3459010"/>
            <a:ext cx="9497751" cy="3477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09f603b70a_0_1869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Packages and Namespaces</a:t>
            </a:r>
            <a:endParaRPr/>
          </a:p>
        </p:txBody>
      </p:sp>
      <p:sp>
        <p:nvSpPr>
          <p:cNvPr id="145" name="Google Shape;145;g409f603b70a_0_1869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 </a:t>
            </a:r>
            <a:r>
              <a:rPr b="1" lang="en-US"/>
              <a:t>Namespace</a:t>
            </a:r>
            <a:r>
              <a:rPr lang="en-US"/>
              <a:t> is a space that defines a unique naming boundary.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Inside it, all element names must be unique.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Key Points: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package acts as a namespace.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one package wants to use something from another package, it must use a qualified name (like a full path).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Library :: Users :: Librarian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→ means: the Librarian class is inside the Users package, which is inside Library.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9f603b70a_0_1875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Nested Packages</a:t>
            </a:r>
            <a:endParaRPr/>
          </a:p>
        </p:txBody>
      </p:sp>
      <p:sp>
        <p:nvSpPr>
          <p:cNvPr id="152" name="Google Shape;152;g409f603b70a_0_1875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 Nested Package means one package inside another.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Features:</a:t>
            </a:r>
            <a:endParaRPr b="1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Packages can be nested to any level.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inner (child) package can access elements from the outer (parent) package.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 access items in another nested package, you use the fully qualified name.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Example</a:t>
            </a:r>
            <a:r>
              <a:rPr lang="en-US"/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In package Library, you have a nested package Users with classes Librarian and Borrower.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So, to use them: Users::Librarian or Users::Borrower.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409f603b70a_0_1881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Nested Packages</a:t>
            </a:r>
            <a:endParaRPr/>
          </a:p>
        </p:txBody>
      </p:sp>
      <p:pic>
        <p:nvPicPr>
          <p:cNvPr id="159" name="Google Shape;159;g409f603b70a_0_18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2525"/>
            <a:ext cx="4172425" cy="49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409f603b70a_0_1881"/>
          <p:cNvSpPr txBox="1"/>
          <p:nvPr/>
        </p:nvSpPr>
        <p:spPr>
          <a:xfrm>
            <a:off x="4863975" y="1289250"/>
            <a:ext cx="454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An alternative nesting syntax:</a:t>
            </a:r>
            <a:endParaRPr b="1" sz="2000"/>
          </a:p>
        </p:txBody>
      </p:sp>
      <p:pic>
        <p:nvPicPr>
          <p:cNvPr id="161" name="Google Shape;161;g409f603b70a_0_18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3975" y="1781850"/>
            <a:ext cx="4483100" cy="464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09f603b70a_0_1887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Package Dependencies</a:t>
            </a:r>
            <a:endParaRPr/>
          </a:p>
        </p:txBody>
      </p:sp>
      <p:sp>
        <p:nvSpPr>
          <p:cNvPr id="168" name="Google Shape;168;g409f603b70a_0_1887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 dependency means one package relies on another package for some elements.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There are four types of dependencies, each with a different meaning.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Common ones: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&lt;&lt;import&gt;&gt;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&lt;&lt;access&gt;&gt;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409f603b70a_0_18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46799" cy="703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09f603b70a_0_1899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Import vs Access</a:t>
            </a:r>
            <a:endParaRPr/>
          </a:p>
        </p:txBody>
      </p:sp>
      <p:sp>
        <p:nvSpPr>
          <p:cNvPr id="181" name="Google Shape;181;g409f603b70a_0_1899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If Package A imports Package B → A can use B’s public classes.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If A only accesses B → A can use them privately, not share further.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182" name="Google Shape;182;g409f603b70a_0_1899"/>
          <p:cNvGraphicFramePr/>
          <p:nvPr/>
        </p:nvGraphicFramePr>
        <p:xfrm>
          <a:off x="347415" y="37798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{58E99C5E-5965-47C6-A56F-6ACA8ED2D395}</a:tableStyleId>
              </a:tblPr>
              <a:tblGrid>
                <a:gridCol w="2154675"/>
                <a:gridCol w="5428150"/>
                <a:gridCol w="1802950"/>
              </a:tblGrid>
              <a:tr h="71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Visibility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&lt;&lt;import&gt;&gt;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merge : all public elements of supplier become public in client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&lt;&lt;access&gt;&gt;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merge : supplier’s public elements become private in client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09f603b70a_0_1905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Transitivity</a:t>
            </a:r>
            <a:endParaRPr/>
          </a:p>
        </p:txBody>
      </p:sp>
      <p:sp>
        <p:nvSpPr>
          <p:cNvPr id="189" name="Google Shape;189;g409f603b70a_0_1905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If A depends on B and B depends on C → then A indirectly depends on C.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Key Points: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&lt;&lt;import&gt;&gt; is transitive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&lt;&lt;access&gt;&gt; is not transitive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Example: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If A imports B and B imports C → A can see C.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But if A accesses B and B accesses C → A cannot see C.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rPr lang="en-US" sz="2490"/>
              <a:t>This helps control coupling (connections) between packages.</a:t>
            </a:r>
            <a:endParaRPr sz="249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2490"/>
          </a:p>
        </p:txBody>
      </p:sp>
      <p:pic>
        <p:nvPicPr>
          <p:cNvPr id="190" name="Google Shape;190;g409f603b70a_0_19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457" y="6228392"/>
            <a:ext cx="5620535" cy="102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09f603b70a_0_1911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Managing Access</a:t>
            </a:r>
            <a:endParaRPr/>
          </a:p>
        </p:txBody>
      </p:sp>
      <p:sp>
        <p:nvSpPr>
          <p:cNvPr id="197" name="Google Shape;197;g409f603b70a_0_1911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900"/>
              <a:t>Public elements in Package C → become private in Package B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900"/>
              <a:t>Public elements in Package B → become private in Package A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900"/>
              <a:t>Hence, A can’t see elements of C directly.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900"/>
              <a:t>This rule helps to </a:t>
            </a:r>
            <a:r>
              <a:rPr b="1" lang="en-US" sz="2900"/>
              <a:t>control access </a:t>
            </a:r>
            <a:r>
              <a:rPr lang="en-US" sz="2900"/>
              <a:t>and keep the s</a:t>
            </a:r>
            <a:r>
              <a:rPr b="1" lang="en-US" sz="2900"/>
              <a:t>ystem organized and secure</a:t>
            </a:r>
            <a:endParaRPr b="1" sz="2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09f603b70a_0_1917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Package Generalization</a:t>
            </a:r>
            <a:endParaRPr/>
          </a:p>
        </p:txBody>
      </p:sp>
      <p:sp>
        <p:nvSpPr>
          <p:cNvPr id="204" name="Google Shape;204;g409f603b70a_0_1917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Package Generalization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means one package (child) </a:t>
            </a: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inherits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from another package (parent).</a:t>
            </a:r>
            <a:endParaRPr sz="14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child package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gets all </a:t>
            </a: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public and protected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elements of its parent.</a:t>
            </a:r>
            <a:endParaRPr sz="14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It can </a:t>
            </a: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add new elements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override</a:t>
            </a: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 existing ones.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2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00">
                <a:latin typeface="Calibri"/>
                <a:ea typeface="Calibri"/>
                <a:cs typeface="Calibri"/>
                <a:sym typeface="Calibri"/>
              </a:rPr>
              <a:t>Example:</a:t>
            </a:r>
            <a:br>
              <a:rPr lang="en-US" sz="27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Parent Package → Product</a:t>
            </a:r>
            <a:br>
              <a:rPr lang="en-US" sz="27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Child Packages → Hotels, CarHire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sz="27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Both inherit items from Product.</a:t>
            </a:r>
            <a:endParaRPr sz="14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Hotels adds Hotel and RoomType classes.</a:t>
            </a:r>
            <a:endParaRPr sz="14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CarHire adds a Car class.</a:t>
            </a:r>
            <a:endParaRPr sz="14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Both override the Item class from the parent.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09f603b70a_0_1923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Package Generalization</a:t>
            </a:r>
            <a:endParaRPr/>
          </a:p>
        </p:txBody>
      </p:sp>
      <p:pic>
        <p:nvPicPr>
          <p:cNvPr id="211" name="Google Shape;211;g409f603b70a_0_19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016" y="2206135"/>
            <a:ext cx="5874888" cy="4979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09f603b70a_0_1929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8" name="Google Shape;218;g409f603b70a_0_1929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09f603b70a_0_1935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5" name="Google Shape;225;g409f603b70a_0_1935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09f603b70a_0_1941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2" name="Google Shape;232;g409f603b70a_0_1941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4"/>
          <p:cNvSpPr txBox="1"/>
          <p:nvPr>
            <p:ph type="title"/>
          </p:nvPr>
        </p:nvSpPr>
        <p:spPr>
          <a:xfrm>
            <a:off x="614493" y="3486967"/>
            <a:ext cx="88518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781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600"/>
              <a:buFont typeface="Arial"/>
              <a:buNone/>
            </a:pPr>
            <a:r>
              <a:rPr lang="en-US" sz="9600"/>
              <a:t>THANK 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2020-04-27T17:43:41Z</dcterms:created>
</cp:coreProperties>
</file>