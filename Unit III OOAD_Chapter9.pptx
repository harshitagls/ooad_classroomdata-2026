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embeddedFontLs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jGLEsvKeI1x5rdylQefLiPhOLi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642f5fc9_0_73:notes"/>
          <p:cNvSpPr txBox="1"/>
          <p:nvPr>
            <p:ph idx="1" type="body"/>
          </p:nvPr>
        </p:nvSpPr>
        <p:spPr>
          <a:xfrm>
            <a:off x="685584" y="4401174"/>
            <a:ext cx="54867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fa642f5fc9_0_73:notes"/>
          <p:cNvSpPr/>
          <p:nvPr>
            <p:ph idx="2" type="sldImg"/>
          </p:nvPr>
        </p:nvSpPr>
        <p:spPr>
          <a:xfrm>
            <a:off x="2272685" y="1143960"/>
            <a:ext cx="23127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rgbClr val="888888"/>
              </a:buClr>
              <a:buSzPts val="254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2177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81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subTitle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Char char="•"/>
              <a:defRPr/>
            </a:lvl1pPr>
            <a:lvl2pPr lvl="1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>
  <p:cSld name="Title,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" type="body"/>
          </p:nvPr>
        </p:nvSpPr>
        <p:spPr>
          <a:xfrm>
            <a:off x="195931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2" type="body"/>
          </p:nvPr>
        </p:nvSpPr>
        <p:spPr>
          <a:xfrm>
            <a:off x="4646823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idx="1" type="subTitle"/>
          </p:nvPr>
        </p:nvSpPr>
        <p:spPr>
          <a:xfrm>
            <a:off x="652449" y="273352"/>
            <a:ext cx="8029240" cy="5295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Char char="•"/>
              <a:defRPr/>
            </a:lvl1pPr>
            <a:lvl2pPr lvl="1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195931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646823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195931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195931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2" type="body"/>
          </p:nvPr>
        </p:nvSpPr>
        <p:spPr>
          <a:xfrm>
            <a:off x="4646823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3" type="body"/>
          </p:nvPr>
        </p:nvSpPr>
        <p:spPr>
          <a:xfrm>
            <a:off x="4646823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" type="body"/>
          </p:nvPr>
        </p:nvSpPr>
        <p:spPr>
          <a:xfrm>
            <a:off x="195931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2" type="body"/>
          </p:nvPr>
        </p:nvSpPr>
        <p:spPr>
          <a:xfrm>
            <a:off x="4646823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idx="3" type="body"/>
          </p:nvPr>
        </p:nvSpPr>
        <p:spPr>
          <a:xfrm>
            <a:off x="195931" y="4019614"/>
            <a:ext cx="868626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" type="body"/>
          </p:nvPr>
        </p:nvSpPr>
        <p:spPr>
          <a:xfrm>
            <a:off x="195931" y="1415421"/>
            <a:ext cx="868626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2" type="body"/>
          </p:nvPr>
        </p:nvSpPr>
        <p:spPr>
          <a:xfrm>
            <a:off x="195931" y="4019614"/>
            <a:ext cx="868626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195931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2" type="body"/>
          </p:nvPr>
        </p:nvSpPr>
        <p:spPr>
          <a:xfrm>
            <a:off x="4646823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3" type="body"/>
          </p:nvPr>
        </p:nvSpPr>
        <p:spPr>
          <a:xfrm>
            <a:off x="195931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4" type="body"/>
          </p:nvPr>
        </p:nvSpPr>
        <p:spPr>
          <a:xfrm>
            <a:off x="4646823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>
            <a:off x="195931" y="1415421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2" type="body"/>
          </p:nvPr>
        </p:nvSpPr>
        <p:spPr>
          <a:xfrm>
            <a:off x="3132932" y="1415421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3" type="body"/>
          </p:nvPr>
        </p:nvSpPr>
        <p:spPr>
          <a:xfrm>
            <a:off x="6070260" y="1415421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4" type="body"/>
          </p:nvPr>
        </p:nvSpPr>
        <p:spPr>
          <a:xfrm>
            <a:off x="195931" y="4019614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5" type="body"/>
          </p:nvPr>
        </p:nvSpPr>
        <p:spPr>
          <a:xfrm>
            <a:off x="3132932" y="4019614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6" type="body"/>
          </p:nvPr>
        </p:nvSpPr>
        <p:spPr>
          <a:xfrm>
            <a:off x="6070260" y="4019614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a642f5fc9_0_87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83" name="Google Shape;83;g3fa642f5fc9_0_87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4" name="Google Shape;84;g3fa642f5fc9_0_87"/>
          <p:cNvSpPr txBox="1"/>
          <p:nvPr>
            <p:ph idx="10" type="dt"/>
          </p:nvPr>
        </p:nvSpPr>
        <p:spPr>
          <a:xfrm>
            <a:off x="0" y="0"/>
            <a:ext cx="27204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50" lIns="82900" spcFirstLastPara="1" rIns="82900" wrap="square" tIns="414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fa642f5fc9_0_87"/>
          <p:cNvSpPr txBox="1"/>
          <p:nvPr>
            <p:ph idx="11" type="ftr"/>
          </p:nvPr>
        </p:nvSpPr>
        <p:spPr>
          <a:xfrm>
            <a:off x="0" y="0"/>
            <a:ext cx="27204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50" lIns="82900" spcFirstLastPara="1" rIns="82900" wrap="square" tIns="414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fa642f5fc9_0_87"/>
          <p:cNvSpPr txBox="1"/>
          <p:nvPr>
            <p:ph idx="12" type="sldNum"/>
          </p:nvPr>
        </p:nvSpPr>
        <p:spPr>
          <a:xfrm>
            <a:off x="0" y="0"/>
            <a:ext cx="27204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50" lIns="82900" spcFirstLastPara="1" rIns="82900" wrap="square" tIns="414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642f5fc9_0_93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642f5fc9_0_95"/>
          <p:cNvSpPr txBox="1"/>
          <p:nvPr>
            <p:ph idx="11" type="ftr"/>
          </p:nvPr>
        </p:nvSpPr>
        <p:spPr>
          <a:xfrm>
            <a:off x="0" y="0"/>
            <a:ext cx="27204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3fa642f5fc9_0_95"/>
          <p:cNvSpPr txBox="1"/>
          <p:nvPr>
            <p:ph idx="10" type="dt"/>
          </p:nvPr>
        </p:nvSpPr>
        <p:spPr>
          <a:xfrm>
            <a:off x="0" y="0"/>
            <a:ext cx="27204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g3fa642f5fc9_0_95"/>
          <p:cNvSpPr txBox="1"/>
          <p:nvPr>
            <p:ph idx="12" type="sldNum"/>
          </p:nvPr>
        </p:nvSpPr>
        <p:spPr>
          <a:xfrm>
            <a:off x="0" y="0"/>
            <a:ext cx="27204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642f5fc9_0_100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6" name="Google Shape;96;g3fa642f5fc9_0_100"/>
          <p:cNvSpPr txBox="1"/>
          <p:nvPr>
            <p:ph idx="1" type="subTitle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>
  <p:cSld name="Title, Conte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642f5fc9_0_103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9" name="Google Shape;99;g3fa642f5fc9_0_103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642f5fc9_0_106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2" name="Google Shape;102;g3fa642f5fc9_0_106"/>
          <p:cNvSpPr txBox="1"/>
          <p:nvPr>
            <p:ph idx="1" type="body"/>
          </p:nvPr>
        </p:nvSpPr>
        <p:spPr>
          <a:xfrm>
            <a:off x="195931" y="1415421"/>
            <a:ext cx="42387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03" name="Google Shape;103;g3fa642f5fc9_0_106"/>
          <p:cNvSpPr txBox="1"/>
          <p:nvPr>
            <p:ph idx="2" type="body"/>
          </p:nvPr>
        </p:nvSpPr>
        <p:spPr>
          <a:xfrm>
            <a:off x="4646823" y="1415421"/>
            <a:ext cx="42387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642f5fc9_0_110"/>
          <p:cNvSpPr txBox="1"/>
          <p:nvPr>
            <p:ph idx="1" type="subTitle"/>
          </p:nvPr>
        </p:nvSpPr>
        <p:spPr>
          <a:xfrm>
            <a:off x="652450" y="273352"/>
            <a:ext cx="8029200" cy="52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642f5fc9_0_112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08" name="Google Shape;108;g3fa642f5fc9_0_112"/>
          <p:cNvSpPr txBox="1"/>
          <p:nvPr>
            <p:ph idx="1" type="body"/>
          </p:nvPr>
        </p:nvSpPr>
        <p:spPr>
          <a:xfrm>
            <a:off x="195931" y="1415421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09" name="Google Shape;109;g3fa642f5fc9_0_112"/>
          <p:cNvSpPr txBox="1"/>
          <p:nvPr>
            <p:ph idx="2" type="body"/>
          </p:nvPr>
        </p:nvSpPr>
        <p:spPr>
          <a:xfrm>
            <a:off x="4646823" y="1415421"/>
            <a:ext cx="42387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10" name="Google Shape;110;g3fa642f5fc9_0_112"/>
          <p:cNvSpPr txBox="1"/>
          <p:nvPr>
            <p:ph idx="3" type="body"/>
          </p:nvPr>
        </p:nvSpPr>
        <p:spPr>
          <a:xfrm>
            <a:off x="195931" y="4019614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642f5fc9_0_117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3" name="Google Shape;113;g3fa642f5fc9_0_117"/>
          <p:cNvSpPr txBox="1"/>
          <p:nvPr>
            <p:ph idx="1" type="body"/>
          </p:nvPr>
        </p:nvSpPr>
        <p:spPr>
          <a:xfrm>
            <a:off x="195931" y="1415421"/>
            <a:ext cx="42387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14" name="Google Shape;114;g3fa642f5fc9_0_117"/>
          <p:cNvSpPr txBox="1"/>
          <p:nvPr>
            <p:ph idx="2" type="body"/>
          </p:nvPr>
        </p:nvSpPr>
        <p:spPr>
          <a:xfrm>
            <a:off x="4646823" y="1415421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15" name="Google Shape;115;g3fa642f5fc9_0_117"/>
          <p:cNvSpPr txBox="1"/>
          <p:nvPr>
            <p:ph idx="3" type="body"/>
          </p:nvPr>
        </p:nvSpPr>
        <p:spPr>
          <a:xfrm>
            <a:off x="4646823" y="4019614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642f5fc9_0_122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18" name="Google Shape;118;g3fa642f5fc9_0_122"/>
          <p:cNvSpPr txBox="1"/>
          <p:nvPr>
            <p:ph idx="1" type="body"/>
          </p:nvPr>
        </p:nvSpPr>
        <p:spPr>
          <a:xfrm>
            <a:off x="195931" y="1415421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19" name="Google Shape;119;g3fa642f5fc9_0_122"/>
          <p:cNvSpPr txBox="1"/>
          <p:nvPr>
            <p:ph idx="2" type="body"/>
          </p:nvPr>
        </p:nvSpPr>
        <p:spPr>
          <a:xfrm>
            <a:off x="4646823" y="1415421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20" name="Google Shape;120;g3fa642f5fc9_0_122"/>
          <p:cNvSpPr txBox="1"/>
          <p:nvPr>
            <p:ph idx="3" type="body"/>
          </p:nvPr>
        </p:nvSpPr>
        <p:spPr>
          <a:xfrm>
            <a:off x="195931" y="4019614"/>
            <a:ext cx="86862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642f5fc9_0_127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3" name="Google Shape;123;g3fa642f5fc9_0_127"/>
          <p:cNvSpPr txBox="1"/>
          <p:nvPr>
            <p:ph idx="1" type="body"/>
          </p:nvPr>
        </p:nvSpPr>
        <p:spPr>
          <a:xfrm>
            <a:off x="195931" y="1415421"/>
            <a:ext cx="86862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24" name="Google Shape;124;g3fa642f5fc9_0_127"/>
          <p:cNvSpPr txBox="1"/>
          <p:nvPr>
            <p:ph idx="2" type="body"/>
          </p:nvPr>
        </p:nvSpPr>
        <p:spPr>
          <a:xfrm>
            <a:off x="195931" y="4019614"/>
            <a:ext cx="86862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642f5fc9_0_131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7" name="Google Shape;127;g3fa642f5fc9_0_131"/>
          <p:cNvSpPr txBox="1"/>
          <p:nvPr>
            <p:ph idx="1" type="body"/>
          </p:nvPr>
        </p:nvSpPr>
        <p:spPr>
          <a:xfrm>
            <a:off x="195931" y="1415421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g3fa642f5fc9_0_131"/>
          <p:cNvSpPr txBox="1"/>
          <p:nvPr>
            <p:ph idx="2" type="body"/>
          </p:nvPr>
        </p:nvSpPr>
        <p:spPr>
          <a:xfrm>
            <a:off x="4646823" y="1415421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29" name="Google Shape;129;g3fa642f5fc9_0_131"/>
          <p:cNvSpPr txBox="1"/>
          <p:nvPr>
            <p:ph idx="3" type="body"/>
          </p:nvPr>
        </p:nvSpPr>
        <p:spPr>
          <a:xfrm>
            <a:off x="195931" y="4019614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0" name="Google Shape;130;g3fa642f5fc9_0_131"/>
          <p:cNvSpPr txBox="1"/>
          <p:nvPr>
            <p:ph idx="4" type="body"/>
          </p:nvPr>
        </p:nvSpPr>
        <p:spPr>
          <a:xfrm>
            <a:off x="4646823" y="4019614"/>
            <a:ext cx="42387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a642f5fc9_0_137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3" name="Google Shape;133;g3fa642f5fc9_0_137"/>
          <p:cNvSpPr txBox="1"/>
          <p:nvPr>
            <p:ph idx="1" type="body"/>
          </p:nvPr>
        </p:nvSpPr>
        <p:spPr>
          <a:xfrm>
            <a:off x="195931" y="1415421"/>
            <a:ext cx="27969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4" name="Google Shape;134;g3fa642f5fc9_0_137"/>
          <p:cNvSpPr txBox="1"/>
          <p:nvPr>
            <p:ph idx="2" type="body"/>
          </p:nvPr>
        </p:nvSpPr>
        <p:spPr>
          <a:xfrm>
            <a:off x="3132932" y="1415421"/>
            <a:ext cx="27969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5" name="Google Shape;135;g3fa642f5fc9_0_137"/>
          <p:cNvSpPr txBox="1"/>
          <p:nvPr>
            <p:ph idx="3" type="body"/>
          </p:nvPr>
        </p:nvSpPr>
        <p:spPr>
          <a:xfrm>
            <a:off x="6070260" y="1415421"/>
            <a:ext cx="27969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6" name="Google Shape;136;g3fa642f5fc9_0_137"/>
          <p:cNvSpPr txBox="1"/>
          <p:nvPr>
            <p:ph idx="4" type="body"/>
          </p:nvPr>
        </p:nvSpPr>
        <p:spPr>
          <a:xfrm>
            <a:off x="195931" y="4019614"/>
            <a:ext cx="27969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7" name="Google Shape;137;g3fa642f5fc9_0_137"/>
          <p:cNvSpPr txBox="1"/>
          <p:nvPr>
            <p:ph idx="5" type="body"/>
          </p:nvPr>
        </p:nvSpPr>
        <p:spPr>
          <a:xfrm>
            <a:off x="3132932" y="4019614"/>
            <a:ext cx="27969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38" name="Google Shape;138;g3fa642f5fc9_0_137"/>
          <p:cNvSpPr txBox="1"/>
          <p:nvPr>
            <p:ph idx="6" type="body"/>
          </p:nvPr>
        </p:nvSpPr>
        <p:spPr>
          <a:xfrm>
            <a:off x="6070260" y="4019614"/>
            <a:ext cx="27969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67396" y="1612679"/>
            <a:ext cx="4267697" cy="34820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1"/>
          <p:cNvSpPr/>
          <p:nvPr/>
        </p:nvSpPr>
        <p:spPr>
          <a:xfrm>
            <a:off x="0" y="260615"/>
            <a:ext cx="454886" cy="977797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1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991"/>
              <a:buFont typeface="Arial"/>
              <a:buNone/>
              <a:defRPr b="0" i="0" sz="3991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9890" lvl="0" marL="457200" marR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Font typeface="Arial"/>
              <a:buChar char="•"/>
              <a:defRPr b="0" i="0" sz="25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6840" lvl="1" marL="9144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2177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3789" lvl="2" marL="13716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14"/>
              <a:buFont typeface="Arial"/>
              <a:buChar char="•"/>
              <a:defRPr b="0" i="0" sz="18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2296" lvl="3" marL="18288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2295" lvl="4" marL="22860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2295" lvl="5" marL="27432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2295" lvl="6" marL="32004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2296" lvl="7" marL="36576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2296" lvl="8" marL="41148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" name="Google Shape;1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73825" y="0"/>
            <a:ext cx="2370173" cy="77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1"/>
          <p:cNvSpPr/>
          <p:nvPr/>
        </p:nvSpPr>
        <p:spPr>
          <a:xfrm>
            <a:off x="4552526" y="6474290"/>
            <a:ext cx="453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1"/>
          <p:cNvSpPr/>
          <p:nvPr/>
        </p:nvSpPr>
        <p:spPr>
          <a:xfrm>
            <a:off x="-19452" y="-12599"/>
            <a:ext cx="3116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25" spcFirstLastPara="1" rIns="90025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fa642f5fc9_0_7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67396" y="1612679"/>
            <a:ext cx="4267697" cy="348205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fa642f5fc9_0_79"/>
          <p:cNvSpPr/>
          <p:nvPr/>
        </p:nvSpPr>
        <p:spPr>
          <a:xfrm>
            <a:off x="0" y="260615"/>
            <a:ext cx="454800" cy="97770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a642f5fc9_0_79"/>
          <p:cNvSpPr/>
          <p:nvPr/>
        </p:nvSpPr>
        <p:spPr>
          <a:xfrm>
            <a:off x="-17642" y="-11425"/>
            <a:ext cx="4267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I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fa642f5fc9_0_79"/>
          <p:cNvSpPr/>
          <p:nvPr/>
        </p:nvSpPr>
        <p:spPr>
          <a:xfrm>
            <a:off x="4779296" y="6578084"/>
            <a:ext cx="41118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I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a642f5fc9_0_79"/>
          <p:cNvSpPr txBox="1"/>
          <p:nvPr>
            <p:ph type="title"/>
          </p:nvPr>
        </p:nvSpPr>
        <p:spPr>
          <a:xfrm>
            <a:off x="652450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fa642f5fc9_0_79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7350" lvl="0" marL="457200" marR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0" name="Google Shape;80;g3fa642f5fc9_0_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48161" y="96778"/>
            <a:ext cx="2295842" cy="5877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642f5fc9_0_73"/>
          <p:cNvSpPr/>
          <p:nvPr/>
        </p:nvSpPr>
        <p:spPr>
          <a:xfrm>
            <a:off x="-322" y="260503"/>
            <a:ext cx="454095" cy="977341"/>
          </a:xfrm>
          <a:custGeom>
            <a:rect b="b" l="l" r="r" t="t"/>
            <a:pathLst>
              <a:path extrusionOk="0" h="1076960" w="500380">
                <a:moveTo>
                  <a:pt x="500037" y="0"/>
                </a:moveTo>
                <a:lnTo>
                  <a:pt x="0" y="0"/>
                </a:lnTo>
                <a:lnTo>
                  <a:pt x="0" y="1076401"/>
                </a:lnTo>
                <a:lnTo>
                  <a:pt x="250190" y="1076401"/>
                </a:lnTo>
                <a:lnTo>
                  <a:pt x="500037" y="1076401"/>
                </a:lnTo>
                <a:lnTo>
                  <a:pt x="500037" y="0"/>
                </a:lnTo>
                <a:close/>
              </a:path>
            </a:pathLst>
          </a:custGeom>
          <a:solidFill>
            <a:srgbClr val="EE28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a642f5fc9_0_73"/>
          <p:cNvSpPr txBox="1"/>
          <p:nvPr/>
        </p:nvSpPr>
        <p:spPr>
          <a:xfrm>
            <a:off x="663257" y="5587412"/>
            <a:ext cx="81111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IN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study material for the students of GLS University</a:t>
            </a:r>
            <a:endParaRPr b="0" i="0" sz="2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fa642f5fc9_0_73"/>
          <p:cNvSpPr/>
          <p:nvPr/>
        </p:nvSpPr>
        <p:spPr>
          <a:xfrm>
            <a:off x="349953" y="273564"/>
            <a:ext cx="8330700" cy="53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ANALYSIS AND DESIGN</a:t>
            </a:r>
            <a:endParaRPr b="0" i="0" sz="4400" u="none" cap="none" strike="noStrike">
              <a:solidFill>
                <a:srgbClr val="D253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N" sz="4400">
                <a:solidFill>
                  <a:srgbClr val="D2533C"/>
                </a:solidFill>
              </a:rPr>
              <a:t>Ch - 9</a:t>
            </a:r>
            <a:endParaRPr sz="4400">
              <a:solidFill>
                <a:srgbClr val="D2533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N" sz="4400">
                <a:solidFill>
                  <a:srgbClr val="D2533C"/>
                </a:solidFill>
              </a:rPr>
              <a:t>Relationships</a:t>
            </a:r>
            <a:endParaRPr sz="4400">
              <a:solidFill>
                <a:srgbClr val="D2533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What is a </a:t>
            </a:r>
            <a:r>
              <a:rPr lang="en-IN"/>
              <a:t>relationship?</a:t>
            </a:r>
            <a:endParaRPr/>
          </a:p>
        </p:txBody>
      </p:sp>
      <p:sp>
        <p:nvSpPr>
          <p:cNvPr id="151" name="Google Shape;151;p2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A meaningful connection between UML elements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Shows how different parts of a system are connected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b="1" lang="en-IN"/>
              <a:t>Between actors and use cases → Association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Example: Customer → places order → Order Use Case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b="1" lang="en-IN"/>
              <a:t>Between use cases →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Generalization (one use case is a specialized form of another)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«include» (common behavior reused by other use cases)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«extend» (optional or conditional behavior)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b="1" lang="en-IN"/>
              <a:t>Between actors → Generalization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Example: Admin is a specialized version of User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b="1" lang="en-IN"/>
              <a:t>Between objects → Links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A link connects two objects that can communicate.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b="1" lang="en-IN"/>
              <a:t>Between classes → Associations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rPr lang="en-IN"/>
              <a:t>Show how objects of one class are connected to objects of another.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What is a Link?</a:t>
            </a:r>
            <a:endParaRPr/>
          </a:p>
        </p:txBody>
      </p:sp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• A link is a connection between two objects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• Allows objects to send messages to each other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Implementation: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  Java → object reference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  C++ → pointer or reference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IN"/>
              <a:t>Types of Links: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 - </a:t>
            </a:r>
            <a:r>
              <a:rPr b="1" lang="en-IN"/>
              <a:t>Unidirectional</a:t>
            </a:r>
            <a:r>
              <a:rPr lang="en-IN"/>
              <a:t> (one-way) - one-way arrow shows which object can access the other.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 - </a:t>
            </a:r>
            <a:r>
              <a:rPr b="1" lang="en-IN"/>
              <a:t>Bidirectional</a:t>
            </a:r>
            <a:r>
              <a:rPr lang="en-IN"/>
              <a:t> (two-way) - no arrows; both can access each other.</a:t>
            </a:r>
            <a:endParaRPr/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/>
          </a:blip>
          <a:srcRect b="-8020" l="6410" r="-6410" t="8020"/>
          <a:stretch/>
        </p:blipFill>
        <p:spPr>
          <a:xfrm>
            <a:off x="4258452" y="2501551"/>
            <a:ext cx="4623750" cy="1642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Object Diagrams</a:t>
            </a:r>
            <a:endParaRPr/>
          </a:p>
        </p:txBody>
      </p:sp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Object diagrams show objects and links at a specific time.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Links are dynamic – they can change during program execution.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Example -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140"/>
          </a:p>
        </p:txBody>
      </p:sp>
      <p:pic>
        <p:nvPicPr>
          <p:cNvPr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771" y="3575200"/>
            <a:ext cx="5363075" cy="231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Paths in Diagrams</a:t>
            </a:r>
            <a:endParaRPr/>
          </a:p>
        </p:txBody>
      </p:sp>
      <p:sp>
        <p:nvSpPr>
          <p:cNvPr id="171" name="Google Shape;171;p7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Paths = lines connecting elements in UML diagrams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Styles: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 </a:t>
            </a:r>
            <a:r>
              <a:rPr b="1" lang="en-IN"/>
              <a:t>Orthogonal</a:t>
            </a:r>
            <a:r>
              <a:rPr lang="en-IN"/>
              <a:t> → straight horizontal/vertical lines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 </a:t>
            </a:r>
            <a:r>
              <a:rPr b="1" lang="en-IN"/>
              <a:t>Oblique</a:t>
            </a:r>
            <a:r>
              <a:rPr lang="en-IN"/>
              <a:t> → slanted lines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Rule: diagrams should always be neat and clear</a:t>
            </a:r>
            <a:endParaRPr/>
          </a:p>
        </p:txBody>
      </p:sp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240" y="3908248"/>
            <a:ext cx="5210498" cy="222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What is an </a:t>
            </a:r>
            <a:r>
              <a:rPr lang="en-IN"/>
              <a:t>association?</a:t>
            </a:r>
            <a:endParaRPr/>
          </a:p>
        </p:txBody>
      </p:sp>
      <p:sp>
        <p:nvSpPr>
          <p:cNvPr id="178" name="Google Shape;178;p8"/>
          <p:cNvSpPr txBox="1"/>
          <p:nvPr>
            <p:ph idx="1" type="body"/>
          </p:nvPr>
        </p:nvSpPr>
        <p:spPr>
          <a:xfrm>
            <a:off x="323938" y="936172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Associations are relationships between classes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Links connect objects; </a:t>
            </a:r>
            <a:r>
              <a:rPr lang="en-IN"/>
              <a:t>associations</a:t>
            </a:r>
            <a:r>
              <a:rPr lang="en-IN"/>
              <a:t> connect classes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A link = instantiation of an association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Objects ↔ Classes | Links ↔ Associations</a:t>
            </a:r>
            <a:endParaRPr/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99" y="3762911"/>
            <a:ext cx="5905865" cy="2645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Association Syntax</a:t>
            </a:r>
            <a:endParaRPr/>
          </a:p>
        </p:txBody>
      </p:sp>
      <p:sp>
        <p:nvSpPr>
          <p:cNvPr id="185" name="Google Shape;185;p9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Can include association name, role names, multiplicity, navigability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Example: A Company employs many Persons</a:t>
            </a:r>
            <a:endParaRPr/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3324" y="3309372"/>
            <a:ext cx="6168300" cy="22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Multiplicity</a:t>
            </a:r>
            <a:endParaRPr/>
          </a:p>
        </p:txBody>
      </p:sp>
      <p:sp>
        <p:nvSpPr>
          <p:cNvPr id="192" name="Google Shape;192;p10"/>
          <p:cNvSpPr txBox="1"/>
          <p:nvPr>
            <p:ph idx="1" type="body"/>
          </p:nvPr>
        </p:nvSpPr>
        <p:spPr>
          <a:xfrm>
            <a:off x="228869" y="936173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Defines how many objects can participate in a relationship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0..1 → Zero or one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1 → Exactly one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0..* or * → Zero or many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1..* → One or many</a:t>
            </a:r>
            <a:endParaRPr/>
          </a:p>
        </p:txBody>
      </p: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0687" y="1942735"/>
            <a:ext cx="4610273" cy="192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247" y="4175665"/>
            <a:ext cx="4785542" cy="249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Reflexive Associations</a:t>
            </a:r>
            <a:endParaRPr/>
          </a:p>
        </p:txBody>
      </p:sp>
      <p:sp>
        <p:nvSpPr>
          <p:cNvPr id="200" name="Google Shape;200;p11"/>
          <p:cNvSpPr txBox="1"/>
          <p:nvPr>
            <p:ph idx="1" type="body"/>
          </p:nvPr>
        </p:nvSpPr>
        <p:spPr>
          <a:xfrm>
            <a:off x="228869" y="831056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Class linked to itself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Example: Directory has subdirectories (0..*)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Each Directory may have one parent (0..1)</a:t>
            </a:r>
            <a:endParaRPr/>
          </a:p>
        </p:txBody>
      </p:sp>
      <p:pic>
        <p:nvPicPr>
          <p:cNvPr id="201" name="Google Shape;2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0878" y="2735368"/>
            <a:ext cx="5325218" cy="3553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Hierarchies vs Networks</a:t>
            </a:r>
            <a:endParaRPr/>
          </a:p>
        </p:txBody>
      </p:sp>
      <p:sp>
        <p:nvSpPr>
          <p:cNvPr id="207" name="Google Shape;207;p12"/>
          <p:cNvSpPr txBox="1"/>
          <p:nvPr>
            <p:ph idx="1" type="body"/>
          </p:nvPr>
        </p:nvSpPr>
        <p:spPr>
          <a:xfrm>
            <a:off x="195931" y="1429709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993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IN" sz="2300"/>
              <a:t>Hierarchy: one root, rigid structure (e.g., directory tree)</a:t>
            </a:r>
            <a:endParaRPr sz="2840"/>
          </a:p>
          <a:p>
            <a:pPr indent="-32993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IN" sz="2300"/>
              <a:t>Network: no fixed root, flexible connections (e.g., WWW)</a:t>
            </a:r>
            <a:endParaRPr sz="2840"/>
          </a:p>
        </p:txBody>
      </p:sp>
      <p:pic>
        <p:nvPicPr>
          <p:cNvPr id="208" name="Google Shape;2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900" y="2748575"/>
            <a:ext cx="5646975" cy="30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Navigability</a:t>
            </a:r>
            <a:endParaRPr/>
          </a:p>
        </p:txBody>
      </p:sp>
      <p:sp>
        <p:nvSpPr>
          <p:cNvPr id="214" name="Google Shape;214;p13"/>
          <p:cNvSpPr txBox="1"/>
          <p:nvPr>
            <p:ph idx="1" type="body"/>
          </p:nvPr>
        </p:nvSpPr>
        <p:spPr>
          <a:xfrm>
            <a:off x="195931" y="936173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Defines direction of message passing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Example: Order → Product (Order knows Products)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Product ✘ Order (Product doesn’t know Orders)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Helps minimize coupling</a:t>
            </a:r>
            <a:endParaRPr/>
          </a:p>
        </p:txBody>
      </p:sp>
      <p:pic>
        <p:nvPicPr>
          <p:cNvPr id="215" name="Google Shape;2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520" y="3531663"/>
            <a:ext cx="4053117" cy="2643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Associations &amp; Attributes</a:t>
            </a:r>
            <a:endParaRPr/>
          </a:p>
        </p:txBody>
      </p:sp>
      <p:sp>
        <p:nvSpPr>
          <p:cNvPr id="221" name="Google Shape;221;p14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Association ≈ pseudo-attribute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Example: House has address:Address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Multiplicity &gt; 1 → usually model as association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Multiplicity = 1 → may be modeled as attribute</a:t>
            </a:r>
            <a:endParaRPr/>
          </a:p>
        </p:txBody>
      </p:sp>
      <p:pic>
        <p:nvPicPr>
          <p:cNvPr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871" y="3699081"/>
            <a:ext cx="7482254" cy="2457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Association Classes</a:t>
            </a:r>
            <a:endParaRPr/>
          </a:p>
        </p:txBody>
      </p:sp>
      <p:sp>
        <p:nvSpPr>
          <p:cNvPr id="228" name="Google Shape;228;p15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Used in many-to-many with extra attributes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Example: Person ↔ Company with Job (salary)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If multiple jobs possible → reify as normal class</a:t>
            </a:r>
            <a:endParaRPr/>
          </a:p>
        </p:txBody>
      </p:sp>
      <p:pic>
        <p:nvPicPr>
          <p:cNvPr id="229" name="Google Shape;2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100" y="3333800"/>
            <a:ext cx="7069025" cy="22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Qualified Associations</a:t>
            </a:r>
            <a:endParaRPr/>
          </a:p>
        </p:txBody>
      </p:sp>
      <p:sp>
        <p:nvSpPr>
          <p:cNvPr id="235" name="Google Shape;235;p16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Narrow a many-to-many into many-to-one using unique key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Example: Club → Member (qualified by memberId)</a:t>
            </a:r>
            <a:endParaRPr/>
          </a:p>
        </p:txBody>
      </p:sp>
      <p:pic>
        <p:nvPicPr>
          <p:cNvPr id="236" name="Google Shape;2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326" y="3088774"/>
            <a:ext cx="3241675" cy="321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What is a Dependency?</a:t>
            </a:r>
            <a:endParaRPr/>
          </a:p>
        </p:txBody>
      </p:sp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228869" y="1085523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Relationship where client depends on supplier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Change in supplier may affect client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Not always association (e.g., passing objects as parameters)</a:t>
            </a:r>
            <a:endParaRPr/>
          </a:p>
        </p:txBody>
      </p:sp>
      <p:pic>
        <p:nvPicPr>
          <p:cNvPr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4023" y="3676463"/>
            <a:ext cx="5814518" cy="2614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Common Usage Dependency</a:t>
            </a:r>
            <a:endParaRPr/>
          </a:p>
        </p:txBody>
      </p:sp>
      <p:sp>
        <p:nvSpPr>
          <p:cNvPr id="249" name="Google Shape;249;p19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9591" lvl="0" marL="31088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40"/>
              <a:buNone/>
            </a:pPr>
            <a:r>
              <a:t/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«use»: client class uses supplier class</a:t>
            </a:r>
            <a:endParaRPr/>
          </a:p>
          <a:p>
            <a:pPr indent="-310881" lvl="0" marL="310881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Example: A method in Class A creates or returns an object of Class B</a:t>
            </a:r>
            <a:endParaRPr/>
          </a:p>
        </p:txBody>
      </p:sp>
      <p:pic>
        <p:nvPicPr>
          <p:cNvPr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326" y="3098496"/>
            <a:ext cx="6234925" cy="23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557380" y="2973223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1" lang="en-IN" sz="7200"/>
              <a:t>THANK YOU</a:t>
            </a:r>
            <a:br>
              <a:rPr lang="en-IN" sz="7200"/>
            </a:b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