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7562850" cx="10083800"/>
  <p:notesSz cx="10083800" cy="7562850"/>
  <p:embeddedFontLs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p593magxOsoojonpBMAxhDmwL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20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70388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711825" y="0"/>
            <a:ext cx="4370388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41688" y="946150"/>
            <a:ext cx="3400425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08063" y="3640138"/>
            <a:ext cx="8067675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370388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711825" y="7183438"/>
            <a:ext cx="4370388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1008063" y="3640138"/>
            <a:ext cx="8067675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3341688" y="946150"/>
            <a:ext cx="3400425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f4a20f90_0_0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f4a20f90_0_0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409f4a20f90_0_0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09f4a20f90_0_6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09f4a20f90_0_6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409f4a20f90_0_6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09f4a20f90_0_12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09f4a20f90_0_12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409f4a20f90_0_12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09f4a20f90_0_18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09f4a20f90_0_18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409f4a20f90_0_18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09f4a20f90_0_24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09f4a20f90_0_24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409f4a20f90_0_24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09f4a20f90_0_30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09f4a20f90_0_30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409f4a20f90_0_30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09f4a20f90_0_36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09f4a20f90_0_36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409f4a20f90_0_36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f4a20f90_0_54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09f4a20f90_0_54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409f4a20f90_0_54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09f4a20f90_0_60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09f4a20f90_0_60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409f4a20f90_0_60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9f4a20f90_0_273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09f4a20f90_0_273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409f4a20f90_0_273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09f4a20f90_0_279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09f4a20f90_0_279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409f4a20f90_0_279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09f4a20f90_0_80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09f4a20f90_0_80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409f4a20f90_0_80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f4a20f90_0_86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09f4a20f90_0_86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409f4a20f90_0_86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f4a20f90_0_92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09f4a20f90_0_92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409f4a20f90_0_92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09f4a20f90_0_98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09f4a20f90_0_98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409f4a20f90_0_98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9f4a20f90_0_104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09f4a20f90_0_104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409f4a20f90_0_104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09f4a20f90_0_110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409f4a20f90_0_110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409f4a20f90_0_110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f4a20f90_0_116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09f4a20f90_0_116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409f4a20f90_0_116:notes"/>
          <p:cNvSpPr txBox="1"/>
          <p:nvPr>
            <p:ph idx="12" type="sldNum"/>
          </p:nvPr>
        </p:nvSpPr>
        <p:spPr>
          <a:xfrm>
            <a:off x="5711825" y="7183438"/>
            <a:ext cx="4370400" cy="37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:notes"/>
          <p:cNvSpPr txBox="1"/>
          <p:nvPr>
            <p:ph idx="1" type="body"/>
          </p:nvPr>
        </p:nvSpPr>
        <p:spPr>
          <a:xfrm>
            <a:off x="1008063" y="3640138"/>
            <a:ext cx="8067600" cy="2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34:notes"/>
          <p:cNvSpPr/>
          <p:nvPr>
            <p:ph idx="2" type="sldImg"/>
          </p:nvPr>
        </p:nvSpPr>
        <p:spPr>
          <a:xfrm>
            <a:off x="3341688" y="946150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" type="body"/>
          </p:nvPr>
        </p:nvSpPr>
        <p:spPr>
          <a:xfrm>
            <a:off x="216068" y="1560895"/>
            <a:ext cx="9579016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0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1" type="subTitle"/>
          </p:nvPr>
        </p:nvSpPr>
        <p:spPr>
          <a:xfrm>
            <a:off x="216068" y="1560895"/>
            <a:ext cx="9579016" cy="549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2801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>
  <p:cSld name="Title,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" type="body"/>
          </p:nvPr>
        </p:nvSpPr>
        <p:spPr>
          <a:xfrm>
            <a:off x="216068" y="1560895"/>
            <a:ext cx="9579016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" type="body"/>
          </p:nvPr>
        </p:nvSpPr>
        <p:spPr>
          <a:xfrm>
            <a:off x="216068" y="1560895"/>
            <a:ext cx="4674272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2" type="body"/>
          </p:nvPr>
        </p:nvSpPr>
        <p:spPr>
          <a:xfrm>
            <a:off x="5124413" y="1560895"/>
            <a:ext cx="4674272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idx="1" type="subTitle"/>
          </p:nvPr>
        </p:nvSpPr>
        <p:spPr>
          <a:xfrm>
            <a:off x="719507" y="301446"/>
            <a:ext cx="8854468" cy="5839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2801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" type="body"/>
          </p:nvPr>
        </p:nvSpPr>
        <p:spPr>
          <a:xfrm>
            <a:off x="216068" y="1560895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2" type="body"/>
          </p:nvPr>
        </p:nvSpPr>
        <p:spPr>
          <a:xfrm>
            <a:off x="5124413" y="1560895"/>
            <a:ext cx="4674272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3" type="body"/>
          </p:nvPr>
        </p:nvSpPr>
        <p:spPr>
          <a:xfrm>
            <a:off x="216068" y="4432741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" type="body"/>
          </p:nvPr>
        </p:nvSpPr>
        <p:spPr>
          <a:xfrm>
            <a:off x="216068" y="1560895"/>
            <a:ext cx="4674272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2" type="body"/>
          </p:nvPr>
        </p:nvSpPr>
        <p:spPr>
          <a:xfrm>
            <a:off x="5124413" y="1560895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3" type="body"/>
          </p:nvPr>
        </p:nvSpPr>
        <p:spPr>
          <a:xfrm>
            <a:off x="5124413" y="4432741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1" type="body"/>
          </p:nvPr>
        </p:nvSpPr>
        <p:spPr>
          <a:xfrm>
            <a:off x="216068" y="1560895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2" type="body"/>
          </p:nvPr>
        </p:nvSpPr>
        <p:spPr>
          <a:xfrm>
            <a:off x="5124413" y="1560895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3" type="body"/>
          </p:nvPr>
        </p:nvSpPr>
        <p:spPr>
          <a:xfrm>
            <a:off x="216068" y="4432741"/>
            <a:ext cx="9579016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" type="body"/>
          </p:nvPr>
        </p:nvSpPr>
        <p:spPr>
          <a:xfrm>
            <a:off x="216068" y="1560895"/>
            <a:ext cx="9579016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2" type="body"/>
          </p:nvPr>
        </p:nvSpPr>
        <p:spPr>
          <a:xfrm>
            <a:off x="216068" y="4432741"/>
            <a:ext cx="9579016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" type="body"/>
          </p:nvPr>
        </p:nvSpPr>
        <p:spPr>
          <a:xfrm>
            <a:off x="216068" y="1560895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2" type="body"/>
          </p:nvPr>
        </p:nvSpPr>
        <p:spPr>
          <a:xfrm>
            <a:off x="5124413" y="1560895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8"/>
          <p:cNvSpPr txBox="1"/>
          <p:nvPr>
            <p:ph idx="3" type="body"/>
          </p:nvPr>
        </p:nvSpPr>
        <p:spPr>
          <a:xfrm>
            <a:off x="216068" y="4432741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4" type="body"/>
          </p:nvPr>
        </p:nvSpPr>
        <p:spPr>
          <a:xfrm>
            <a:off x="5124413" y="4432741"/>
            <a:ext cx="4674272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9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9"/>
          <p:cNvSpPr txBox="1"/>
          <p:nvPr>
            <p:ph idx="1" type="body"/>
          </p:nvPr>
        </p:nvSpPr>
        <p:spPr>
          <a:xfrm>
            <a:off x="216068" y="1560895"/>
            <a:ext cx="3084371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2" type="body"/>
          </p:nvPr>
        </p:nvSpPr>
        <p:spPr>
          <a:xfrm>
            <a:off x="3454928" y="1560895"/>
            <a:ext cx="3084371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3" type="body"/>
          </p:nvPr>
        </p:nvSpPr>
        <p:spPr>
          <a:xfrm>
            <a:off x="6694148" y="1560895"/>
            <a:ext cx="3084371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4" type="body"/>
          </p:nvPr>
        </p:nvSpPr>
        <p:spPr>
          <a:xfrm>
            <a:off x="216068" y="4432741"/>
            <a:ext cx="3084371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5" type="body"/>
          </p:nvPr>
        </p:nvSpPr>
        <p:spPr>
          <a:xfrm>
            <a:off x="3454928" y="4432741"/>
            <a:ext cx="3084371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6" type="body"/>
          </p:nvPr>
        </p:nvSpPr>
        <p:spPr>
          <a:xfrm>
            <a:off x="6694148" y="4432741"/>
            <a:ext cx="3084371" cy="2622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79878" y="1778427"/>
            <a:ext cx="4706322" cy="383993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5"/>
          <p:cNvSpPr/>
          <p:nvPr/>
        </p:nvSpPr>
        <p:spPr>
          <a:xfrm>
            <a:off x="0" y="287400"/>
            <a:ext cx="501638" cy="1078293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5"/>
          <p:cNvSpPr/>
          <p:nvPr/>
        </p:nvSpPr>
        <p:spPr>
          <a:xfrm>
            <a:off x="-19452" y="-12599"/>
            <a:ext cx="3116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25" spcFirstLastPara="1" rIns="90025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5"/>
          <p:cNvSpPr/>
          <p:nvPr/>
        </p:nvSpPr>
        <p:spPr>
          <a:xfrm>
            <a:off x="5270501" y="7254165"/>
            <a:ext cx="4534476" cy="187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5"/>
          <p:cNvSpPr txBox="1"/>
          <p:nvPr>
            <p:ph type="title"/>
          </p:nvPr>
        </p:nvSpPr>
        <p:spPr>
          <a:xfrm>
            <a:off x="719507" y="301446"/>
            <a:ext cx="8854468" cy="1259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1"/>
              <a:buFont typeface="Arial"/>
              <a:buNone/>
              <a:defRPr b="0" i="0" sz="4401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5"/>
          <p:cNvSpPr txBox="1"/>
          <p:nvPr>
            <p:ph idx="1" type="body"/>
          </p:nvPr>
        </p:nvSpPr>
        <p:spPr>
          <a:xfrm>
            <a:off x="216068" y="1560895"/>
            <a:ext cx="9579016" cy="5498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64" lvl="0" marL="457200" marR="0" rtl="0" algn="l">
              <a:lnSpc>
                <a:spcPct val="90000"/>
              </a:lnSpc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ts val="2801"/>
              <a:buFont typeface="Arial"/>
              <a:buChar char="•"/>
              <a:defRPr b="0" i="0" sz="2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64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Char char="•"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63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1"/>
              <a:buFont typeface="Arial"/>
              <a:buChar char="•"/>
              <a:defRPr b="0" i="0" sz="20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63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64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64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64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64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64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" name="Google Shape;1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2000" y="-77500"/>
            <a:ext cx="2531802" cy="8323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>
            <a:off x="-355" y="287277"/>
            <a:ext cx="500380" cy="1076960"/>
          </a:xfrm>
          <a:custGeom>
            <a:rect b="b" l="l" r="r" t="t"/>
            <a:pathLst>
              <a:path extrusionOk="0" h="1076960" w="500380">
                <a:moveTo>
                  <a:pt x="500037" y="0"/>
                </a:moveTo>
                <a:lnTo>
                  <a:pt x="0" y="0"/>
                </a:lnTo>
                <a:lnTo>
                  <a:pt x="0" y="1076401"/>
                </a:lnTo>
                <a:lnTo>
                  <a:pt x="250190" y="1076401"/>
                </a:lnTo>
                <a:lnTo>
                  <a:pt x="500037" y="1076401"/>
                </a:lnTo>
                <a:lnTo>
                  <a:pt x="500037" y="0"/>
                </a:lnTo>
                <a:close/>
              </a:path>
            </a:pathLst>
          </a:custGeom>
          <a:solidFill>
            <a:srgbClr val="EE282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>
            <p:ph type="title"/>
          </p:nvPr>
        </p:nvSpPr>
        <p:spPr>
          <a:xfrm>
            <a:off x="731425" y="1444525"/>
            <a:ext cx="8551200" cy="30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171D"/>
              </a:buClr>
              <a:buSzPts val="5000"/>
              <a:buFont typeface="Helvetica Neue"/>
              <a:buNone/>
            </a:pPr>
            <a:r>
              <a:rPr lang="en-US" sz="5000">
                <a:solidFill>
                  <a:srgbClr val="CD17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 ORIENTED </a:t>
            </a:r>
            <a:endParaRPr sz="5000">
              <a:solidFill>
                <a:srgbClr val="CD17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171D"/>
              </a:buClr>
              <a:buSzPts val="5000"/>
              <a:buFont typeface="Helvetica Neue"/>
              <a:buNone/>
            </a:pPr>
            <a:r>
              <a:rPr lang="en-US" sz="5000">
                <a:solidFill>
                  <a:srgbClr val="CD17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AND DESIGN</a:t>
            </a:r>
            <a:endParaRPr sz="5000">
              <a:solidFill>
                <a:srgbClr val="CD17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171D"/>
              </a:buClr>
              <a:buSzPts val="5000"/>
              <a:buFont typeface="Helvetica Neue"/>
              <a:buNone/>
            </a:pPr>
            <a:r>
              <a:rPr lang="en-US" sz="5000">
                <a:solidFill>
                  <a:srgbClr val="CD17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 - 8</a:t>
            </a:r>
            <a:endParaRPr sz="5000">
              <a:solidFill>
                <a:srgbClr val="CD17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171D"/>
              </a:buClr>
              <a:buSzPts val="5000"/>
              <a:buFont typeface="Helvetica Neue"/>
              <a:buNone/>
            </a:pPr>
            <a:r>
              <a:rPr lang="en-US" sz="5000">
                <a:solidFill>
                  <a:srgbClr val="CD17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analysis classes</a:t>
            </a:r>
            <a:endParaRPr sz="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731425" y="6161674"/>
            <a:ext cx="894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study material for the students of GLS University</a:t>
            </a:r>
            <a:endParaRPr b="0" i="0" sz="3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9f4a20f90_0_0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 Activity – Analyze a Use Case</a:t>
            </a:r>
            <a:endParaRPr/>
          </a:p>
        </p:txBody>
      </p:sp>
      <p:sp>
        <p:nvSpPr>
          <p:cNvPr id="88" name="Google Shape;88;g409f4a20f90_0_0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 UP activity Analyze a Use Case produces two important outputs: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1. Analysis Classes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Classes that represent important concepts in the problem domain.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2. Use Case Realizations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Collaborations between objects that show how interacting objects realize the behavior expressed in a use case.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09f4a20f90_0_6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the Problem Domain?</a:t>
            </a:r>
            <a:endParaRPr/>
          </a:p>
        </p:txBody>
      </p:sp>
      <p:sp>
        <p:nvSpPr>
          <p:cNvPr id="95" name="Google Shape;95;g409f4a20f90_0_6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 problem domain is the area in which the need for a software system arises.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Examples:</a:t>
            </a:r>
            <a:endParaRPr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Online selling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Customer relationship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Banking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Hotel reservation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Airline reservation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 problem domain can also arise from physical hardware that requires software, as in an embedded system.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09f4a20f90_0_12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Analysis Class?</a:t>
            </a:r>
            <a:endParaRPr/>
          </a:p>
        </p:txBody>
      </p:sp>
      <p:sp>
        <p:nvSpPr>
          <p:cNvPr id="102" name="Google Shape;102;g409f4a20f90_0_12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An analysis class represents a crisp abstraction in the problem domain.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It should:</a:t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Represent an important concept of the problem domain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Map clearly to a real-world business concept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Have a meaningful and appropriate name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Represent one specific aspect of the problem domain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Examples</a:t>
            </a:r>
            <a:endParaRPr b="1"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Customer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Product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Account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ShoppingBasket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Order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These represent identifiable concepts within their respective problem domains.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09f4a20f90_0_18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Class and Problem Domain</a:t>
            </a:r>
            <a:endParaRPr/>
          </a:p>
        </p:txBody>
      </p:sp>
      <p:sp>
        <p:nvSpPr>
          <p:cNvPr id="109" name="Google Shape;109;g409f4a20f90_0_18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Consider an E-Commerce System.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Problem Domain - Online Selling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Important Concepts -</a:t>
            </a:r>
            <a:endParaRPr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Product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ShoppingBasket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Order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These concepts can become analysis classes because they represent identifiable elements of the problem domain.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09f4a20f90_0_24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Classes</a:t>
            </a:r>
            <a:endParaRPr/>
          </a:p>
        </p:txBody>
      </p:sp>
      <p:sp>
        <p:nvSpPr>
          <p:cNvPr id="116" name="Google Shape;116;g409f4a20f90_0_24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Analysis focuses on the aspects of real-world things that are important from the perspective of the system.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For example, in a banking system, a customer may have many characteristics.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Relevant:</a:t>
            </a:r>
            <a:endParaRPr/>
          </a:p>
          <a:p>
            <a:pPr indent="-334328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Name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Address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Account information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Irrelevant to the banking system: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Preference for window or aisle seats on an aircraft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Therefore, only the information relevant to the system is modeled.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09f4a20f90_0_30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Class vs Design Class</a:t>
            </a:r>
            <a:endParaRPr/>
          </a:p>
        </p:txBody>
      </p:sp>
      <p:sp>
        <p:nvSpPr>
          <p:cNvPr id="123" name="Google Shape;123;g409f4a20f90_0_30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Analysis Class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Focuses on: What is important in the problem domain?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Contains: 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High-level attributes,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High-level operations/responsibilities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Design Class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Focuses on:  How will the concept be implemented?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May contain: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Detailed attributes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Data types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Visibility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Method parameters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Return types</a:t>
            </a:r>
            <a:endParaRPr/>
          </a:p>
          <a:p>
            <a:pPr indent="-30861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Implementation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Problem Domain =&gt;  Analysis Class =&gt; Design Class =&gt; Implementation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09f4a20f90_0_36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Anatomy of an Analysis Class</a:t>
            </a:r>
            <a:endParaRPr/>
          </a:p>
        </p:txBody>
      </p:sp>
      <p:sp>
        <p:nvSpPr>
          <p:cNvPr id="130" name="Google Shape;130;g409f4a20f90_0_36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An analysis class contains a limited set of UML information.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Main elements -</a:t>
            </a:r>
            <a:endParaRPr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Attributes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Operations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Additional elements may be included when useful:</a:t>
            </a:r>
            <a:endParaRPr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Visibility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Stereotypes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Tagged values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f4a20f90_0_54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BankAccount – Analysis Class</a:t>
            </a:r>
            <a:endParaRPr/>
          </a:p>
        </p:txBody>
      </p:sp>
      <p:pic>
        <p:nvPicPr>
          <p:cNvPr id="137" name="Google Shape;137;g409f4a20f90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225" y="1892213"/>
            <a:ext cx="702945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09f4a20f90_0_60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Makes a Good Analysis Class?</a:t>
            </a:r>
            <a:endParaRPr/>
          </a:p>
        </p:txBody>
      </p:sp>
      <p:sp>
        <p:nvSpPr>
          <p:cNvPr id="144" name="Google Shape;144;g409f4a20f90_0_60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 good analysis class should:</a:t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AutoNum type="arabicPeriod"/>
            </a:pPr>
            <a:r>
              <a:rPr lang="en-US"/>
              <a:t>Have a clear, meaningful name.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AutoNum type="arabicPeriod"/>
            </a:pPr>
            <a:r>
              <a:rPr lang="en-US"/>
              <a:t>Model one specific real-world concept.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AutoNum type="arabicPeriod"/>
            </a:pPr>
            <a:r>
              <a:rPr lang="en-US"/>
              <a:t>Map to an identifiable business feature (e.g., Customer, ShoppingBasket).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AutoNum type="arabicPeriod"/>
            </a:pPr>
            <a:r>
              <a:rPr lang="en-US"/>
              <a:t>Have a small, focused set of responsibilities (3–5).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AutoNum type="arabicPeriod"/>
            </a:pPr>
            <a:r>
              <a:rPr lang="en-US"/>
              <a:t>Show high cohesion – all responsibilities serve one goal.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63"/>
              <a:buAutoNum type="arabicPeriod"/>
            </a:pPr>
            <a:r>
              <a:rPr lang="en-US"/>
              <a:t>Have low coupling – not overly dependent on too many other classes.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ShoppingBasket → responsibilities: add item, remove item, show items.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(Cohesive → all about maintaining basket).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Wrong responsibilities for ShoppingBasket: validate credit card, print receipt (should go to other classes).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f4a20f90_0_273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Rules of Thumb for Analysis Classes</a:t>
            </a:r>
            <a:endParaRPr/>
          </a:p>
        </p:txBody>
      </p:sp>
      <p:sp>
        <p:nvSpPr>
          <p:cNvPr id="151" name="Google Shape;151;g409f4a20f90_0_273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Keep it simple:</a:t>
            </a:r>
            <a:endParaRPr b="1"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class should have 3 to 5 clear responsibilities (things it does).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keeps the class easy to understand and use.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Classes should work together:</a:t>
            </a:r>
            <a:endParaRPr b="1"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 class should exist alone.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Every class should collaborate (work) with other classes to perform tasks.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Avoid too many small classes:</a:t>
            </a:r>
            <a:endParaRPr b="1"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a class does only 1 or 2 small things, combine it with another related class.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Avoid very large classes:</a:t>
            </a:r>
            <a:endParaRPr b="1"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a class has too many tasks, it becomes confusing.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Split it into smaller, more focused classes.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4a20f90_0_279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Rules of Thumb for Analysis Classes</a:t>
            </a:r>
            <a:endParaRPr/>
          </a:p>
        </p:txBody>
      </p:sp>
      <p:sp>
        <p:nvSpPr>
          <p:cNvPr id="158" name="Google Shape;158;g409f4a20f90_0_279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ct val="39272"/>
              <a:buFont typeface="Arial"/>
              <a:buNone/>
            </a:pPr>
            <a:r>
              <a:rPr b="1" lang="en-US"/>
              <a:t>Avoid fake or meaningless classes:</a:t>
            </a:r>
            <a:endParaRPr b="1"/>
          </a:p>
          <a:p>
            <a:pPr indent="-334328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These are fake classes with only one method (like doIt() or process()), which just run code instead of modeling real-world things.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They are not true objects.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ct val="39272"/>
              <a:buFont typeface="Arial"/>
              <a:buNone/>
            </a:pPr>
            <a:r>
              <a:rPr b="1" lang="en-US"/>
              <a:t>Avoid “God classes”:</a:t>
            </a:r>
            <a:endParaRPr b="1"/>
          </a:p>
          <a:p>
            <a:pPr indent="-334328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These are classes that try to do everything (like one big “System” or “Controller” class).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They make the design messy and hard to manage.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Instead, divide the work among smaller, specific classes.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Clr>
                <a:schemeClr val="dk1"/>
              </a:buClr>
              <a:buSzPct val="39272"/>
              <a:buFont typeface="Arial"/>
              <a:buNone/>
            </a:pPr>
            <a:r>
              <a:rPr b="1" lang="en-US"/>
              <a:t>Keep inheritance simple:</a:t>
            </a:r>
            <a:endParaRPr b="1"/>
          </a:p>
          <a:p>
            <a:pPr indent="-334328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Don’t make long chains of parent–child classes.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Use inheritance only when there is a real “is-a” relationship (like Dog is a type of Animal).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This keeps your class hierarchy meaningful and easy to follow.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09f4a20f90_0_80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Classes</a:t>
            </a:r>
            <a:endParaRPr/>
          </a:p>
        </p:txBody>
      </p:sp>
      <p:sp>
        <p:nvSpPr>
          <p:cNvPr id="165" name="Google Shape;165;g409f4a20f90_0_80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There is no single algorithm that always identifies the correct analysis classes.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Three important approaches are: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1. Noun/Verb Analysis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Analyze relevant text.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2. CRC Analysis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Use collaborative brainstorming.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3. Other Sources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Look at physical objects, paperwork, interfaces and conceptual entities.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09f4a20f90_0_86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Noun/Verb Analysis</a:t>
            </a:r>
            <a:endParaRPr/>
          </a:p>
        </p:txBody>
      </p:sp>
      <p:sp>
        <p:nvSpPr>
          <p:cNvPr id="172" name="Google Shape;172;g409f4a20f90_0_86"/>
          <p:cNvSpPr txBox="1"/>
          <p:nvPr>
            <p:ph idx="1" type="body"/>
          </p:nvPr>
        </p:nvSpPr>
        <p:spPr>
          <a:xfrm>
            <a:off x="216075" y="1560900"/>
            <a:ext cx="9579000" cy="57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 text-based technique to identify candidate classes, attributes, and responsibilities.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Rule of thumb:</a:t>
            </a:r>
            <a:endParaRPr b="1"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Nouns / noun phrases → possible classes or attributes.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Verbs / verb phrases → possible responsibilities (operations).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Works well because it uses the language of the problem domain.</a:t>
            </a:r>
            <a:endParaRPr/>
          </a:p>
          <a:p>
            <a:pPr indent="0" lvl="0" marL="45720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Challenges:</a:t>
            </a:r>
            <a:endParaRPr b="1"/>
          </a:p>
          <a:p>
            <a:pPr indent="-342900" lvl="0" marL="457200" rtl="0" algn="l">
              <a:spcBef>
                <a:spcPts val="1423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Synonyms (different words, same meaning) &amp; homonyms (same word, different meaning).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Hidden classes: important abstractions that are not explicitly mentioned.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 In a holiday reservation system, “Order” may be missing but is crucial.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f4a20f90_0_92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Noun/Verb Analysis</a:t>
            </a:r>
            <a:endParaRPr/>
          </a:p>
        </p:txBody>
      </p:sp>
      <p:sp>
        <p:nvSpPr>
          <p:cNvPr id="179" name="Google Shape;179;g409f4a20f90_0_92"/>
          <p:cNvSpPr txBox="1"/>
          <p:nvPr>
            <p:ph idx="1" type="body"/>
          </p:nvPr>
        </p:nvSpPr>
        <p:spPr>
          <a:xfrm>
            <a:off x="216075" y="1560900"/>
            <a:ext cx="9579000" cy="571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3317"/>
              <a:t>Procedure -</a:t>
            </a:r>
            <a:endParaRPr b="1" sz="3317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3317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Collect relevant information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Identify nouns and noun phrases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Identify verbs and verb phrases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Clarify unknown terms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Resolve synonyms and homonyms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Create candidate classes, attributes and responsibilities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Allocate attributes and responsibilities to classes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Identify candidate relationships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          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/>
              <a:t>Create first-cut class model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09f4a20f90_0_98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CRC Analysis (Class, Responsibilities, Collaborators)</a:t>
            </a:r>
            <a:endParaRPr/>
          </a:p>
        </p:txBody>
      </p:sp>
      <p:sp>
        <p:nvSpPr>
          <p:cNvPr id="186" name="Google Shape;186;g409f4a20f90_0_98"/>
          <p:cNvSpPr txBox="1"/>
          <p:nvPr>
            <p:ph idx="1" type="body"/>
          </p:nvPr>
        </p:nvSpPr>
        <p:spPr>
          <a:xfrm>
            <a:off x="216075" y="1747075"/>
            <a:ext cx="9579000" cy="54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CRC is a brainstorming technique for identifying important concepts in the problem domain.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CRC uses sticky notes containing three sections: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Class name (top)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Responsibilities (left side)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Collaborators (right side → other classes it works with)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Example -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BankAccount        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──────────</a:t>
            </a:r>
            <a:r>
              <a:rPr lang="en-US"/>
              <a:t>───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 Responsibility: Maintain balance       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──────────</a:t>
            </a:r>
            <a:r>
              <a:rPr lang="en-US"/>
              <a:t>────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 Collaborator: Bank 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9f4a20f90_0_104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CRC</a:t>
            </a:r>
            <a:endParaRPr/>
          </a:p>
        </p:txBody>
      </p:sp>
      <p:sp>
        <p:nvSpPr>
          <p:cNvPr id="193" name="Google Shape;193;g409f4a20f90_0_104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CRC Procedure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Phase 1: Brainstorm (Gather Info)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Participants</a:t>
            </a:r>
            <a:r>
              <a:rPr lang="en-US"/>
              <a:t>: OO analysts + stakeholders + domain experts.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Rules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All ideas are accepted (no arguments, just record everything).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Steps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Ask team to name business “things” (e.g., Customer, Product). → Write on sticky notes.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Note down responsibilities on the sticky notes.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Identify collaborating classes (draw connections or note them).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f4a20f90_0_110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CRC</a:t>
            </a:r>
            <a:endParaRPr/>
          </a:p>
        </p:txBody>
      </p:sp>
      <p:sp>
        <p:nvSpPr>
          <p:cNvPr id="200" name="Google Shape;200;g409f4a20f90_0_110"/>
          <p:cNvSpPr txBox="1"/>
          <p:nvPr>
            <p:ph idx="1" type="body"/>
          </p:nvPr>
        </p:nvSpPr>
        <p:spPr>
          <a:xfrm>
            <a:off x="216075" y="1952275"/>
            <a:ext cx="9579000" cy="51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Phase 2: Analyze (Refine Info)</a:t>
            </a:r>
            <a:endParaRPr b="1"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Participants</a:t>
            </a:r>
            <a:r>
              <a:rPr lang="en-US"/>
              <a:t>: OO analysts + domain experts.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Decide which notes should be: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Classes (key business concepts, independent entities).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Attributes (parts of another class).</a:t>
            </a:r>
            <a:endParaRPr/>
          </a:p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b="1" lang="en-US"/>
              <a:t>Rule</a:t>
            </a:r>
            <a:r>
              <a:rPr lang="en-US"/>
              <a:t>: If not sure → treat it as a class (can refine later).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f4a20f90_0_116"/>
          <p:cNvSpPr txBox="1"/>
          <p:nvPr>
            <p:ph type="title"/>
          </p:nvPr>
        </p:nvSpPr>
        <p:spPr>
          <a:xfrm>
            <a:off x="719507" y="301446"/>
            <a:ext cx="8854500" cy="125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Sources of Classes</a:t>
            </a:r>
            <a:endParaRPr/>
          </a:p>
        </p:txBody>
      </p:sp>
      <p:sp>
        <p:nvSpPr>
          <p:cNvPr id="207" name="Google Shape;207;g409f4a20f90_0_116"/>
          <p:cNvSpPr txBox="1"/>
          <p:nvPr>
            <p:ph idx="1" type="body"/>
          </p:nvPr>
        </p:nvSpPr>
        <p:spPr>
          <a:xfrm>
            <a:off x="216068" y="1560895"/>
            <a:ext cx="9579000" cy="54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rPr lang="en-US"/>
              <a:t>Beyond text analysis, look at:</a:t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Physical objects – e.g., Aircraft, Hotel, Person.</a:t>
            </a:r>
            <a:endParaRPr/>
          </a:p>
          <a:p>
            <a:pPr indent="0" lvl="0" marL="45720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Paperwork – e.g., Invoice, Order, Bankbook.</a:t>
            </a:r>
            <a:endParaRPr/>
          </a:p>
          <a:p>
            <a:pPr indent="0" lvl="0" marL="45720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Be careful → don’t just copy outdated or unnecessary processes.</a:t>
            </a:r>
            <a:endParaRPr/>
          </a:p>
          <a:p>
            <a:pPr indent="0" lvl="0" marL="45720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Interfaces – e.g., Screens, Keyboards, External systems.</a:t>
            </a:r>
            <a:endParaRPr/>
          </a:p>
          <a:p>
            <a:pPr indent="0" lvl="0" marL="45720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Conceptual entities – important but abstract ideas.</a:t>
            </a:r>
            <a:endParaRPr/>
          </a:p>
          <a:p>
            <a:pPr indent="0" lvl="0" marL="457200" rtl="0" algn="l">
              <a:spcBef>
                <a:spcPts val="142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423"/>
              </a:spcBef>
              <a:spcAft>
                <a:spcPts val="0"/>
              </a:spcAft>
              <a:buSzPct val="64263"/>
              <a:buChar char="•"/>
            </a:pPr>
            <a:r>
              <a:rPr lang="en-US"/>
              <a:t>Example: LoyaltyProgram (not physical, but essential to model).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/>
        </p:nvSpPr>
        <p:spPr>
          <a:xfrm>
            <a:off x="1665675" y="2670725"/>
            <a:ext cx="64572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i="0" lang="en-US" sz="8000" u="none" cap="none" strike="noStrike">
                <a:solidFill>
                  <a:srgbClr val="CC0000"/>
                </a:solidFill>
              </a:rPr>
              <a:t>THANK YOU</a:t>
            </a:r>
            <a:endParaRPr i="0" sz="8000" u="none" cap="none" strike="noStrike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2025-08-05T13:36:42Z</dcterms:created>
  <dc:creator>Rachana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2023-08-05T00:00:00Z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2023-08-05T00:00:00Z</vt:filetime>
  </property>
</Properties>
</file>