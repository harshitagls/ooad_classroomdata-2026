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7559675" cx="10080625"/>
  <p:notesSz cx="7559675" cy="106918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2R9fr0cOrErImfgua7iiHV1oH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27119703a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727119703a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2b8355761_0_5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72b8355761_0_5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72b8355761_0_5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2b8355761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72b8355761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2b8355761_0_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72b8355761_0_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2b8355761_0_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72b8355761_0_1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2b8355761_0_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72b8355761_0_1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2b8355761_0_2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72b8355761_0_2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2b8355761_0_2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72b8355761_0_2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595c4138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8595c4138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8595c4138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595c4138_0_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8595c4138_0_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8595c4138_0_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595c4138_0_1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8595c4138_0_1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8595c4138_0_1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595c4138_0_1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8595c4138_0_1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8595c4138_0_18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595c4138_0_11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8595c4138_0_1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8595c4138_0_11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595c4138_0_11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8595c4138_0_11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8595c4138_0_11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595c4138_0_12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8595c4138_0_12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8595c4138_0_12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8595c4138_0_2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8595c4138_0_2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8595c4138_0_2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8595c4138_0_3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8595c4138_0_3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8595c4138_0_3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5acf2f71e_0_8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75acf2f71e_0_8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5acf2f71e_0_8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75acf2f71e_0_8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75acf2f71e_0_8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dd5babd7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add5babd7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add5babd7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5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2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3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3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5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8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9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1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1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1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1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1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2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4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5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6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76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76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7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7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77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8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78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78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9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79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0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80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80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80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1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81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81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81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81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81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6"/>
          <p:cNvSpPr txBox="1"/>
          <p:nvPr>
            <p:ph type="title"/>
          </p:nvPr>
        </p:nvSpPr>
        <p:spPr>
          <a:xfrm>
            <a:off x="502920" y="301320"/>
            <a:ext cx="9070920" cy="126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" type="body"/>
          </p:nvPr>
        </p:nvSpPr>
        <p:spPr>
          <a:xfrm>
            <a:off x="502920" y="1768320"/>
            <a:ext cx="9070920" cy="438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2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5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79160" y="1777680"/>
            <a:ext cx="4704840" cy="3838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8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8"/>
          <p:cNvSpPr/>
          <p:nvPr/>
        </p:nvSpPr>
        <p:spPr>
          <a:xfrm>
            <a:off x="-19462" y="-12600"/>
            <a:ext cx="43881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8"/>
          <p:cNvSpPr/>
          <p:nvPr/>
        </p:nvSpPr>
        <p:spPr>
          <a:xfrm>
            <a:off x="5413829" y="7273440"/>
            <a:ext cx="4388059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58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8" name="Google Shape;6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2950" y="0"/>
            <a:ext cx="2557674" cy="8538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/>
          <p:nvPr/>
        </p:nvSpPr>
        <p:spPr>
          <a:xfrm>
            <a:off x="385920" y="301680"/>
            <a:ext cx="9186840" cy="585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ANALYSIS AND DESIGN</a:t>
            </a:r>
            <a:endParaRPr b="0" i="0" sz="4900" u="none" cap="none" strike="noStrike">
              <a:solidFill>
                <a:srgbClr val="D253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D2533C"/>
                </a:solidFill>
              </a:rPr>
              <a:t>Ch - 5</a:t>
            </a:r>
            <a:endParaRPr sz="4900">
              <a:solidFill>
                <a:srgbClr val="D2533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D2533C"/>
                </a:solidFill>
              </a:rPr>
              <a:t>Advanced Use case Modeling</a:t>
            </a:r>
            <a:endParaRPr sz="4900">
              <a:solidFill>
                <a:srgbClr val="D2533C"/>
              </a:solidFill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507865" y="6153120"/>
            <a:ext cx="918684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study material for the students of GLS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27119703a_0_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Actor Generalization</a:t>
            </a:r>
            <a:endParaRPr/>
          </a:p>
        </p:txBody>
      </p:sp>
      <p:sp>
        <p:nvSpPr>
          <p:cNvPr id="128" name="Google Shape;128;g3727119703a_0_0"/>
          <p:cNvSpPr txBox="1"/>
          <p:nvPr>
            <p:ph idx="4294967295" type="body"/>
          </p:nvPr>
        </p:nvSpPr>
        <p:spPr>
          <a:xfrm>
            <a:off x="298150" y="1669100"/>
            <a:ext cx="9072600" cy="5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Actor generalization is the process of defining a parent actor (super actor) that holds common interactions, and child actors that inherit those behaviors and may also have additional, specific use cases.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Why Use Actor Generalization?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To reuse common interactions.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To simplify complex use case diagrams.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To represent hierarchies like User → Admin/User/Guest.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To promote clarity and maintainability.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2b8355761_0_53"/>
          <p:cNvSpPr txBox="1"/>
          <p:nvPr>
            <p:ph idx="4294967295"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135" name="Google Shape;135;g372b8355761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350" y="1409062"/>
            <a:ext cx="8627925" cy="474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2b8355761_0_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Use case Generalization</a:t>
            </a:r>
            <a:endParaRPr/>
          </a:p>
        </p:txBody>
      </p:sp>
      <p:sp>
        <p:nvSpPr>
          <p:cNvPr id="141" name="Google Shape;141;g372b8355761_0_0"/>
          <p:cNvSpPr txBox="1"/>
          <p:nvPr>
            <p:ph idx="4294967295" type="body"/>
          </p:nvPr>
        </p:nvSpPr>
        <p:spPr>
          <a:xfrm>
            <a:off x="414750" y="1630125"/>
            <a:ext cx="9520200" cy="5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Use case generalization allows you to: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Factor out common behavior from two or more similar use cases.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Place the shared logic in a parent use case.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Let child use cases inherit and extend or override some parts of the parent behavior.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b="1" lang="en-US" sz="2400"/>
              <a:t>Why Use It?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Avoids redundancy in use case descriptions.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Models polymorphism in user interactions.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Helps if different scenarios share a basic structure, but have some variations.</a:t>
            </a:r>
            <a:br>
              <a:rPr lang="en-US" sz="2400"/>
            </a:b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br>
              <a:rPr lang="en-US" sz="2400"/>
            </a:b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72b8355761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150" y="1887750"/>
            <a:ext cx="9318350" cy="39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2b8355761_0_10"/>
          <p:cNvSpPr txBox="1"/>
          <p:nvPr>
            <p:ph idx="4294967295"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&lt;&lt;include&gt;&gt;</a:t>
            </a:r>
            <a:r>
              <a:rPr lang="en-US"/>
              <a:t> Relationship </a:t>
            </a:r>
            <a:endParaRPr/>
          </a:p>
        </p:txBody>
      </p:sp>
      <p:sp>
        <p:nvSpPr>
          <p:cNvPr id="152" name="Google Shape;152;g372b8355761_0_10"/>
          <p:cNvSpPr txBox="1"/>
          <p:nvPr>
            <p:ph idx="4294967295" type="body"/>
          </p:nvPr>
        </p:nvSpPr>
        <p:spPr>
          <a:xfrm>
            <a:off x="122800" y="1432175"/>
            <a:ext cx="9430800" cy="5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 </a:t>
            </a:r>
            <a:r>
              <a:rPr lang="en-US" sz="2400">
                <a:latin typeface="Roboto Mono"/>
                <a:ea typeface="Roboto Mono"/>
                <a:cs typeface="Roboto Mono"/>
                <a:sym typeface="Roboto Mono"/>
              </a:rPr>
              <a:t>«include»</a:t>
            </a:r>
            <a:r>
              <a:rPr lang="en-US" sz="2400"/>
              <a:t> relationship extracts common behavior that is shared between multiple use cases, and puts it into a separate reusable use case.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Why use </a:t>
            </a:r>
            <a:r>
              <a:rPr b="1" lang="en-US" sz="2400">
                <a:latin typeface="Roboto Mono"/>
                <a:ea typeface="Roboto Mono"/>
                <a:cs typeface="Roboto Mono"/>
                <a:sym typeface="Roboto Mono"/>
              </a:rPr>
              <a:t>«include»</a:t>
            </a:r>
            <a:r>
              <a:rPr b="1" lang="en-US" sz="2400"/>
              <a:t>?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When multiple use cases have repetitive steps, instead of writing the same thing again and again, you: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Extract those common steps into a new use case.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Use the </a:t>
            </a:r>
            <a:r>
              <a:rPr lang="en-US" sz="2400">
                <a:latin typeface="Roboto Mono"/>
                <a:ea typeface="Roboto Mono"/>
                <a:cs typeface="Roboto Mono"/>
                <a:sym typeface="Roboto Mono"/>
              </a:rPr>
              <a:t>«include»</a:t>
            </a:r>
            <a:r>
              <a:rPr lang="en-US" sz="2400"/>
              <a:t> relationship to include that new use case wherever needed.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2b8355761_0_1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&lt;&lt;include&gt;&gt;</a:t>
            </a:r>
            <a:endParaRPr/>
          </a:p>
        </p:txBody>
      </p:sp>
      <p:pic>
        <p:nvPicPr>
          <p:cNvPr id="158" name="Google Shape;158;g372b8355761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25" y="1805851"/>
            <a:ext cx="8482200" cy="45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2b8355761_0_2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&lt;&lt;extend&gt;&gt;</a:t>
            </a:r>
            <a:r>
              <a:rPr lang="en-US"/>
              <a:t> Relationship </a:t>
            </a:r>
            <a:endParaRPr/>
          </a:p>
        </p:txBody>
      </p:sp>
      <p:sp>
        <p:nvSpPr>
          <p:cNvPr id="164" name="Google Shape;164;g372b8355761_0_20"/>
          <p:cNvSpPr txBox="1"/>
          <p:nvPr>
            <p:ph idx="4294967295" type="body"/>
          </p:nvPr>
        </p:nvSpPr>
        <p:spPr>
          <a:xfrm>
            <a:off x="298150" y="1670900"/>
            <a:ext cx="9072600" cy="5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 </a:t>
            </a:r>
            <a:r>
              <a:rPr lang="en-US" sz="2400">
                <a:latin typeface="Roboto Mono"/>
                <a:ea typeface="Roboto Mono"/>
                <a:cs typeface="Roboto Mono"/>
                <a:sym typeface="Roboto Mono"/>
              </a:rPr>
              <a:t>«extend»</a:t>
            </a:r>
            <a:r>
              <a:rPr lang="en-US" sz="2400"/>
              <a:t> relationship is used when a use case optionally adds behavior to another use case under certain conditions.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Why use </a:t>
            </a:r>
            <a:r>
              <a:rPr b="1" lang="en-US" sz="2400">
                <a:latin typeface="Roboto Mono"/>
                <a:ea typeface="Roboto Mono"/>
                <a:cs typeface="Roboto Mono"/>
                <a:sym typeface="Roboto Mono"/>
              </a:rPr>
              <a:t>«extend»</a:t>
            </a:r>
            <a:r>
              <a:rPr b="1" lang="en-US" sz="2400"/>
              <a:t>?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Use </a:t>
            </a:r>
            <a:r>
              <a:rPr lang="en-US" sz="2400">
                <a:latin typeface="Roboto Mono"/>
                <a:ea typeface="Roboto Mono"/>
                <a:cs typeface="Roboto Mono"/>
                <a:sym typeface="Roboto Mono"/>
              </a:rPr>
              <a:t>«extend»</a:t>
            </a:r>
            <a:r>
              <a:rPr lang="en-US" sz="2400"/>
              <a:t> when you have a base use case, and sometimes, depending on a condition or situation, you want to extend its behavior.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 extended part is not always executed — only when a specific condition is true.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2b8355761_0_2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&lt;&lt;extend&gt;&gt;</a:t>
            </a:r>
            <a:endParaRPr/>
          </a:p>
        </p:txBody>
      </p:sp>
      <p:pic>
        <p:nvPicPr>
          <p:cNvPr id="170" name="Google Shape;170;g372b8355761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00" y="2181898"/>
            <a:ext cx="8570325" cy="415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595c4138_0_0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Food Delivery System</a:t>
            </a:r>
            <a:endParaRPr/>
          </a:p>
        </p:txBody>
      </p:sp>
      <p:sp>
        <p:nvSpPr>
          <p:cNvPr id="177" name="Google Shape;177;g3f8595c4138_0_0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b="1" lang="en-US" sz="2460"/>
              <a:t>Part 1 — Understand the System</a:t>
            </a:r>
            <a:endParaRPr b="1" sz="246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460"/>
              <a:t>define the system boundary.</a:t>
            </a:r>
            <a:endParaRPr sz="246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460"/>
              <a:t>System -</a:t>
            </a:r>
            <a:endParaRPr sz="246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460"/>
              <a:t>Online Food Delivery System is responsible for: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Customer management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Restaurant management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Order management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Payment management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Delivery management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Offers and coupons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Reviews and ratings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Notifications</a:t>
            </a:r>
            <a:endParaRPr sz="246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246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b="1" lang="en-US" sz="2460"/>
              <a:t>Part 2 — Finding Actors</a:t>
            </a:r>
            <a:endParaRPr b="1" sz="2460"/>
          </a:p>
          <a:p>
            <a:pPr indent="-384810" lvl="0" marL="4572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Customer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Restaurant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Delivery Partner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Payment Gateway</a:t>
            </a:r>
            <a:endParaRPr sz="2460"/>
          </a:p>
          <a:p>
            <a:pPr indent="-38481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60"/>
              <a:buChar char="•"/>
            </a:pPr>
            <a:r>
              <a:rPr lang="en-US" sz="2460"/>
              <a:t>Notification Service</a:t>
            </a:r>
            <a:endParaRPr sz="246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95c4138_0_6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Food Delivery System</a:t>
            </a:r>
            <a:endParaRPr/>
          </a:p>
        </p:txBody>
      </p:sp>
      <p:sp>
        <p:nvSpPr>
          <p:cNvPr id="184" name="Google Shape;184;g3f8595c4138_0_6"/>
          <p:cNvSpPr txBox="1"/>
          <p:nvPr>
            <p:ph idx="1" type="body"/>
          </p:nvPr>
        </p:nvSpPr>
        <p:spPr>
          <a:xfrm>
            <a:off x="216000" y="1560250"/>
            <a:ext cx="47409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b="1" lang="en-US" sz="2240"/>
              <a:t>Part 3 — Identify Basic Use Cases</a:t>
            </a:r>
            <a:endParaRPr b="1" sz="224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b="1" lang="en-US" sz="2240"/>
              <a:t>Customer -</a:t>
            </a:r>
            <a:endParaRPr b="1" sz="2240"/>
          </a:p>
          <a:p>
            <a:pPr indent="-3708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Register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Login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Search Restaurant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View Menu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Place Order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Make Payment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Track Order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Cancel Order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Apply Coupon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Rate Order</a:t>
            </a:r>
            <a:endParaRPr sz="224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24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b="1" lang="en-US" sz="2240"/>
              <a:t>Restaurant Staff -</a:t>
            </a:r>
            <a:endParaRPr b="1" sz="2240"/>
          </a:p>
          <a:p>
            <a:pPr indent="-3708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Manage Menu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View Order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Accept Order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Reject Order</a:t>
            </a:r>
            <a:endParaRPr sz="2240"/>
          </a:p>
          <a:p>
            <a:pPr indent="-37084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 sz="2240"/>
              <a:t>Update Order Status</a:t>
            </a:r>
            <a:endParaRPr sz="2240"/>
          </a:p>
        </p:txBody>
      </p:sp>
      <p:sp>
        <p:nvSpPr>
          <p:cNvPr id="185" name="Google Shape;185;g3f8595c4138_0_6"/>
          <p:cNvSpPr txBox="1"/>
          <p:nvPr/>
        </p:nvSpPr>
        <p:spPr>
          <a:xfrm>
            <a:off x="5302150" y="2353300"/>
            <a:ext cx="39006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Delivery Partner -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View Delivery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Accept Delivery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Update Delivery Status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Confirm Delivery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Payment Gateway -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Process Payment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Notification Service -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Send Notification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595c4138_0_12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Food Delivery System</a:t>
            </a:r>
            <a:endParaRPr/>
          </a:p>
        </p:txBody>
      </p:sp>
      <p:sp>
        <p:nvSpPr>
          <p:cNvPr id="192" name="Google Shape;192;g3f8595c4138_0_12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/>
              <a:t>Part 4 — Actor Generalization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/>
              <a:t>Regular Customer</a:t>
            </a:r>
            <a:endParaRPr b="1"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Search restaurants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Place orders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Make payments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Track orders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/>
              <a:t>Premium Customer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Can do everything a regular customer can do, plus: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Get priority delivery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Receive special offers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Get premium discounts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/>
              <a:t>Another possible Actor Generalization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Suppose the system has: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Delivery Partner</a:t>
            </a:r>
            <a:endParaRPr/>
          </a:p>
          <a:p>
            <a:pPr indent="-317183" lvl="0" marL="457200" rtl="0" algn="l">
              <a:spcBef>
                <a:spcPts val="4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Delivery Supervisor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A Delivery Supervisor can perform all activities of a Delivery Partner, plus supervise multiple deliveries.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595c4138_0_18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Food Delivery System</a:t>
            </a:r>
            <a:endParaRPr/>
          </a:p>
        </p:txBody>
      </p:sp>
      <p:sp>
        <p:nvSpPr>
          <p:cNvPr id="199" name="Google Shape;199;g3f8595c4138_0_18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Part 5 — Use Case Generalization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general activity is: Make Payment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But payment can be performed through: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Card Payment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UPI Payment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Cash Payment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Part 6 — Another Use Case Generalization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Suppose the customer can communicate with the restaurant in two ways: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Send Text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Send Voice Message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Both are specialized forms of: Send Message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595c4138_0_110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Food Delivery System</a:t>
            </a:r>
            <a:endParaRPr/>
          </a:p>
        </p:txBody>
      </p:sp>
      <p:sp>
        <p:nvSpPr>
          <p:cNvPr id="206" name="Google Shape;206;g3f8595c4138_0_110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Part 7 — Finding &lt;&lt;include&gt;&gt;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When the customer makes an online payment, is authentication required.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Payment - - - - - - - - - - -&gt; Authenticate Payment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     </a:t>
            </a:r>
            <a:r>
              <a:rPr lang="en-US"/>
              <a:t>&lt;&lt;include&gt;&gt;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Place Order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the system confirms an order, it must: Calculate Order 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Place Order  - - - - - - - - - - -&gt; Calculate Order 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     &lt;&lt;include&gt;&gt;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Before confirming an order, the system must check whether the restaurant can accept the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Place Order  - - - - - - - - - - -&gt; Check Restaurant Availability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               &lt;&lt;include&gt;&gt;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595c4138_0_116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Food Delivery System</a:t>
            </a:r>
            <a:endParaRPr/>
          </a:p>
        </p:txBody>
      </p:sp>
      <p:sp>
        <p:nvSpPr>
          <p:cNvPr id="213" name="Google Shape;213;g3f8595c4138_0_116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Part 8 — Finding &lt;&lt;extend&gt;&gt;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Place Order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Sometimes the customer applies a coupon.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But does every customer use a coupon?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Apply Coupon - - - - - - - - - - -&gt; Place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               &lt;&lt;extend&gt;&gt;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Part 9 — Another extend Example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After an order is delivered, the customer may rate the restaurant.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Not every customer has to provide a rating.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Rate Order - - - - - - - - - - -&gt; Complete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               &lt;&lt;extend&gt;&gt;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595c4138_0_122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Food Delivery System</a:t>
            </a:r>
            <a:endParaRPr/>
          </a:p>
        </p:txBody>
      </p:sp>
      <p:sp>
        <p:nvSpPr>
          <p:cNvPr id="220" name="Google Shape;220;g3f8595c4138_0_122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Part 10 — Conditional Extension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Suppose a customer cancels an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system normally processes:  Cancel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But if the order has already been prepared, the system may require: Cancellation Reason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Provide Cancellation Reason - - - - - - - - - - -&gt; Cancel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                                       &lt;&lt;extend&gt;&gt;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f8595c4138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400" y="0"/>
            <a:ext cx="6627649" cy="7559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f8595c4138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150" y="0"/>
            <a:ext cx="4756019" cy="725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375acf2f71e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625" y="0"/>
            <a:ext cx="6999925" cy="725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75acf2f71e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000" y="0"/>
            <a:ext cx="6723724" cy="725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add5babd7_0_0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605"/>
              <a:buNone/>
            </a:pPr>
            <a:r>
              <a:rPr lang="en-US" sz="1919"/>
              <a:t>Design a UML Use Case Diagram for a University Course Registration System with the following requirements: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A university course registration system is used by Students, Faculty Members, Department Heads, and Administrators.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A Student can Search Courses, Register Course, Drop Course, View Timetable, View Results, and Add Course to Wishlist.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Students are specialized into Undergraduate Student and Postgraduate Student.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A Faculty Member can View Courses, Manage Attendance, and Upload Marks.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A Department Head is a specialized Faculty Member and can additionally Approve Course Registration.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An Administrator can Manage Students, Faculty, and Courses.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During Register Course, the system must Check Prerequisites, Check Seat Availability, and Validate Student Eligibility.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A student may optionally Add Course to Wishlist before registration.</a:t>
            </a:r>
            <a:endParaRPr sz="1919"/>
          </a:p>
          <a:p>
            <a:pPr indent="-350429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19"/>
              <a:buChar char="•"/>
            </a:pPr>
            <a:r>
              <a:rPr lang="en-US" sz="1919"/>
              <a:t>Identify and model suitable Use Case Generalization among related use cases.</a:t>
            </a:r>
            <a:endParaRPr sz="1919"/>
          </a:p>
          <a:p>
            <a:pPr indent="0" lvl="0" marL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919"/>
          </a:p>
          <a:p>
            <a:pPr indent="0" lvl="0" marL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605"/>
              <a:buNone/>
            </a:pPr>
            <a:r>
              <a:rPr lang="en-US" sz="1919"/>
              <a:t>Your diagram must clearly demonstrate</a:t>
            </a:r>
            <a:r>
              <a:rPr lang="en-US" sz="1919"/>
              <a:t>:</a:t>
            </a:r>
            <a:endParaRPr sz="1919"/>
          </a:p>
          <a:p>
            <a:pPr indent="-315504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369"/>
              <a:buChar char="•"/>
            </a:pPr>
            <a:r>
              <a:rPr lang="en-US" sz="1919"/>
              <a:t>Actor Generalization</a:t>
            </a:r>
            <a:endParaRPr sz="1919"/>
          </a:p>
          <a:p>
            <a:pPr indent="-315504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369"/>
              <a:buChar char="•"/>
            </a:pPr>
            <a:r>
              <a:rPr lang="en-US" sz="1919"/>
              <a:t>Use Case Generalization</a:t>
            </a:r>
            <a:endParaRPr sz="1919"/>
          </a:p>
          <a:p>
            <a:pPr indent="-315504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369"/>
              <a:buChar char="•"/>
            </a:pPr>
            <a:r>
              <a:rPr lang="en-US" sz="1919"/>
              <a:t>&lt;&lt;include&gt;&gt; relationships</a:t>
            </a:r>
            <a:endParaRPr sz="1919"/>
          </a:p>
          <a:p>
            <a:pPr indent="-315504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369"/>
              <a:buChar char="•"/>
            </a:pPr>
            <a:r>
              <a:rPr lang="en-US" sz="1919"/>
              <a:t>&lt;&lt;extend&gt;&gt; relationship</a:t>
            </a:r>
            <a:endParaRPr sz="1919"/>
          </a:p>
          <a:p>
            <a:pPr indent="-315504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369"/>
              <a:buChar char="•"/>
            </a:pPr>
            <a:r>
              <a:rPr lang="en-US" sz="1919"/>
              <a:t>Correct system boundary and actor associations.</a:t>
            </a:r>
            <a:endParaRPr sz="1919"/>
          </a:p>
        </p:txBody>
      </p:sp>
      <p:sp>
        <p:nvSpPr>
          <p:cNvPr id="250" name="Google Shape;250;g3fadd5babd7_0_0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University Course Registration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5"/>
          <p:cNvSpPr txBox="1"/>
          <p:nvPr>
            <p:ph type="title"/>
          </p:nvPr>
        </p:nvSpPr>
        <p:spPr>
          <a:xfrm>
            <a:off x="724831" y="2766067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781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600"/>
              <a:buFont typeface="Arial"/>
              <a:buNone/>
            </a:pPr>
            <a:r>
              <a:rPr lang="en-US" sz="9600"/>
              <a:t>THANK 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2020-04-27T17:43:41Z</dcterms:created>
</cp:coreProperties>
</file>