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GoogleSlidesCustomDataVersion2">
      <go:slidesCustomData xmlns:go="http://customooxmlschemas.google.com/" r:id="rId41" roundtripDataSignature="AMtx7mhn3UW/hYIp9OBZ4CkG8RFDcJIB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F93CA9B-5C5D-4A68-B0F2-D66B2A395FF7}">
  <a:tblStyle styleId="{5F93CA9B-5C5D-4A68-B0F2-D66B2A395FF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81" orient="horz"/>
        <p:guide pos="317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1" Type="http://customschemas.google.com/relationships/presentationmetadata" Target="meta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1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27119703a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727119703a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342b35202558df0a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342b35202558df0a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h342b35202558df0a_0_0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aa6fa9277_0_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g38aa6fa9277_0_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8aa6fa9277_0_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8aa6fa9277_0_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aa6fa9277_0_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g38aa6fa9277_0_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aa6fa9277_0_1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8aa6fa9277_0_1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aa6fa9277_0_2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8aa6fa9277_0_2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342b35202558df0a_0_6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h342b35202558df0a_0_6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h342b35202558df0a_0_6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aa6fa9277_0_2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8aa6fa9277_0_2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aa6fa9277_0_3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8aa6fa9277_0_3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aa6fa9277_0_3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8aa6fa9277_0_3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aa6fa9277_0_4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g38aa6fa9277_0_4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aa6fa9277_0_4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8aa6fa9277_0_4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aa6fa9277_0_5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8aa6fa9277_0_5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h342b35202558df0a_0_14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h342b35202558df0a_0_14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h342b35202558df0a_0_14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aa6fa9277_0_5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8aa6fa9277_0_5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8aa6fa9277_0_6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8aa6fa9277_0_6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fb881757b2_0_3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fb881757b2_0_3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fb881757b2_0_3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aa6fa9277_0_6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9" name="Google Shape;239;g38aa6fa9277_0_6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aa6fa9277_0_7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8aa6fa9277_0_7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aa6fa9277_0_7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g38aa6fa9277_0_7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aa6fa9277_0_8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8aa6fa9277_0_8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8aa6fa9277_0_8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8aa6fa9277_0_8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aa6fa9277_0_9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8aa6fa9277_0_9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aa6fa9277_0_9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8aa6fa9277_0_9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aa6fa9277_0_10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g38aa6fa9277_0_10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aa6fa9277_0_105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g38aa6fa9277_0_105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b881757b2_0_11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b881757b2_0_11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fb881757b2_0_11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b881757b2_0_22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b881757b2_0_22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fb881757b2_0_22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b881757b2_0_27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b881757b2_0_27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b881757b2_0_27:notes"/>
          <p:cNvSpPr txBox="1"/>
          <p:nvPr>
            <p:ph idx="12" type="sldNum"/>
          </p:nvPr>
        </p:nvSpPr>
        <p:spPr>
          <a:xfrm>
            <a:off x="4281488" y="10155238"/>
            <a:ext cx="3276600" cy="536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8aa6fa9277_0_110:notes"/>
          <p:cNvSpPr txBox="1"/>
          <p:nvPr>
            <p:ph idx="1" type="body"/>
          </p:nvPr>
        </p:nvSpPr>
        <p:spPr>
          <a:xfrm>
            <a:off x="755650" y="5145088"/>
            <a:ext cx="6048300" cy="42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7" name="Google Shape;307;g38aa6fa9277_0_110:notes"/>
          <p:cNvSpPr/>
          <p:nvPr>
            <p:ph idx="2" type="sldImg"/>
          </p:nvPr>
        </p:nvSpPr>
        <p:spPr>
          <a:xfrm>
            <a:off x="1374775" y="1336675"/>
            <a:ext cx="4810200" cy="3608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:notes"/>
          <p:cNvSpPr txBox="1"/>
          <p:nvPr>
            <p:ph idx="1" type="body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55:notes"/>
          <p:cNvSpPr/>
          <p:nvPr>
            <p:ph idx="2" type="sldImg"/>
          </p:nvPr>
        </p:nvSpPr>
        <p:spPr>
          <a:xfrm>
            <a:off x="1374775" y="1336675"/>
            <a:ext cx="4810125" cy="36083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7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2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6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7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7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7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7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7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7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9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2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72"/>
          <p:cNvSpPr txBox="1"/>
          <p:nvPr>
            <p:ph idx="1" type="subTitle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3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4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5"/>
          <p:cNvSpPr txBox="1"/>
          <p:nvPr>
            <p:ph idx="1" type="subTitle"/>
          </p:nvPr>
        </p:nvSpPr>
        <p:spPr>
          <a:xfrm>
            <a:off x="719280" y="301320"/>
            <a:ext cx="8851680" cy="583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6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6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76"/>
          <p:cNvSpPr txBox="1"/>
          <p:nvPr>
            <p:ph idx="2" type="body"/>
          </p:nvPr>
        </p:nvSpPr>
        <p:spPr>
          <a:xfrm>
            <a:off x="51228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76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7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77"/>
          <p:cNvSpPr txBox="1"/>
          <p:nvPr>
            <p:ph idx="1" type="body"/>
          </p:nvPr>
        </p:nvSpPr>
        <p:spPr>
          <a:xfrm>
            <a:off x="216000" y="1560240"/>
            <a:ext cx="46728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77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77"/>
          <p:cNvSpPr txBox="1"/>
          <p:nvPr>
            <p:ph idx="3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8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78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78"/>
          <p:cNvSpPr txBox="1"/>
          <p:nvPr>
            <p:ph idx="3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9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9"/>
          <p:cNvSpPr txBox="1"/>
          <p:nvPr>
            <p:ph idx="1" type="body"/>
          </p:nvPr>
        </p:nvSpPr>
        <p:spPr>
          <a:xfrm>
            <a:off x="216000" y="156024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79"/>
          <p:cNvSpPr txBox="1"/>
          <p:nvPr>
            <p:ph idx="2" type="body"/>
          </p:nvPr>
        </p:nvSpPr>
        <p:spPr>
          <a:xfrm>
            <a:off x="216000" y="4430880"/>
            <a:ext cx="95760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0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80"/>
          <p:cNvSpPr txBox="1"/>
          <p:nvPr>
            <p:ph idx="1" type="body"/>
          </p:nvPr>
        </p:nvSpPr>
        <p:spPr>
          <a:xfrm>
            <a:off x="2160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80"/>
          <p:cNvSpPr txBox="1"/>
          <p:nvPr>
            <p:ph idx="2" type="body"/>
          </p:nvPr>
        </p:nvSpPr>
        <p:spPr>
          <a:xfrm>
            <a:off x="5122800" y="156024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80"/>
          <p:cNvSpPr txBox="1"/>
          <p:nvPr>
            <p:ph idx="3" type="body"/>
          </p:nvPr>
        </p:nvSpPr>
        <p:spPr>
          <a:xfrm>
            <a:off x="2160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0"/>
          <p:cNvSpPr txBox="1"/>
          <p:nvPr>
            <p:ph idx="4" type="body"/>
          </p:nvPr>
        </p:nvSpPr>
        <p:spPr>
          <a:xfrm>
            <a:off x="5122800" y="4430880"/>
            <a:ext cx="46728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1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81"/>
          <p:cNvSpPr txBox="1"/>
          <p:nvPr>
            <p:ph idx="1" type="body"/>
          </p:nvPr>
        </p:nvSpPr>
        <p:spPr>
          <a:xfrm>
            <a:off x="21600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81"/>
          <p:cNvSpPr txBox="1"/>
          <p:nvPr>
            <p:ph idx="2" type="body"/>
          </p:nvPr>
        </p:nvSpPr>
        <p:spPr>
          <a:xfrm>
            <a:off x="34538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81"/>
          <p:cNvSpPr txBox="1"/>
          <p:nvPr>
            <p:ph idx="3" type="body"/>
          </p:nvPr>
        </p:nvSpPr>
        <p:spPr>
          <a:xfrm>
            <a:off x="6692040" y="156024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81"/>
          <p:cNvSpPr txBox="1"/>
          <p:nvPr>
            <p:ph idx="4" type="body"/>
          </p:nvPr>
        </p:nvSpPr>
        <p:spPr>
          <a:xfrm>
            <a:off x="21600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81"/>
          <p:cNvSpPr txBox="1"/>
          <p:nvPr>
            <p:ph idx="5" type="body"/>
          </p:nvPr>
        </p:nvSpPr>
        <p:spPr>
          <a:xfrm>
            <a:off x="34538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81"/>
          <p:cNvSpPr txBox="1"/>
          <p:nvPr>
            <p:ph idx="6" type="body"/>
          </p:nvPr>
        </p:nvSpPr>
        <p:spPr>
          <a:xfrm>
            <a:off x="6692040" y="4430880"/>
            <a:ext cx="3083400" cy="262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56"/>
          <p:cNvSpPr txBox="1"/>
          <p:nvPr>
            <p:ph type="title"/>
          </p:nvPr>
        </p:nvSpPr>
        <p:spPr>
          <a:xfrm>
            <a:off x="502920" y="301320"/>
            <a:ext cx="9070920" cy="1260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" type="body"/>
          </p:nvPr>
        </p:nvSpPr>
        <p:spPr>
          <a:xfrm>
            <a:off x="502920" y="1768320"/>
            <a:ext cx="9070920" cy="438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9275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5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279160" y="1777680"/>
            <a:ext cx="4704840" cy="3838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8"/>
          <p:cNvSpPr/>
          <p:nvPr/>
        </p:nvSpPr>
        <p:spPr>
          <a:xfrm>
            <a:off x="0" y="287280"/>
            <a:ext cx="501480" cy="1077840"/>
          </a:xfrm>
          <a:prstGeom prst="rect">
            <a:avLst/>
          </a:prstGeom>
          <a:solidFill>
            <a:srgbClr val="EF292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8"/>
          <p:cNvSpPr/>
          <p:nvPr/>
        </p:nvSpPr>
        <p:spPr>
          <a:xfrm>
            <a:off x="-19459" y="-1"/>
            <a:ext cx="39384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FCAIT – MSc (IT) Programme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8"/>
          <p:cNvSpPr/>
          <p:nvPr/>
        </p:nvSpPr>
        <p:spPr>
          <a:xfrm>
            <a:off x="5413829" y="7273440"/>
            <a:ext cx="4388059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 : Object Oriented Analysis and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8"/>
          <p:cNvSpPr txBox="1"/>
          <p:nvPr>
            <p:ph type="title"/>
          </p:nvPr>
        </p:nvSpPr>
        <p:spPr>
          <a:xfrm>
            <a:off x="719280" y="301320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58"/>
          <p:cNvSpPr txBox="1"/>
          <p:nvPr>
            <p:ph idx="1" type="body"/>
          </p:nvPr>
        </p:nvSpPr>
        <p:spPr>
          <a:xfrm>
            <a:off x="216000" y="1560240"/>
            <a:ext cx="9576000" cy="549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68" name="Google Shape;68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81600" y="106725"/>
            <a:ext cx="2215951" cy="7397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"/>
          <p:cNvSpPr/>
          <p:nvPr/>
        </p:nvSpPr>
        <p:spPr>
          <a:xfrm>
            <a:off x="385920" y="301680"/>
            <a:ext cx="9186840" cy="585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OBJECT ORIENTED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2273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ANALYSIS AND DESIGN</a:t>
            </a:r>
            <a:endParaRPr sz="4900">
              <a:solidFill>
                <a:srgbClr val="D2533C"/>
              </a:solidFill>
            </a:endParaRPr>
          </a:p>
          <a:p>
            <a:pPr indent="0" lvl="0" marL="0" rtl="0" algn="ctr">
              <a:spcBef>
                <a:spcPts val="2273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lang="en-US" sz="4900">
                <a:solidFill>
                  <a:srgbClr val="D2533C"/>
                </a:solidFill>
              </a:rPr>
              <a:t>Ch - 13</a:t>
            </a:r>
            <a:endParaRPr sz="4900">
              <a:solidFill>
                <a:srgbClr val="D2533C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273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Arial"/>
              <a:buNone/>
            </a:pPr>
            <a:r>
              <a:rPr b="0" i="0" lang="en-US" sz="4900" u="none" cap="none" strike="noStrike">
                <a:solidFill>
                  <a:srgbClr val="D2533C"/>
                </a:solidFill>
                <a:latin typeface="Arial"/>
                <a:ea typeface="Arial"/>
                <a:cs typeface="Arial"/>
                <a:sym typeface="Arial"/>
              </a:rPr>
              <a:t>ACTIVITY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507865" y="6153120"/>
            <a:ext cx="9186840" cy="6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study material for the students of GLS University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7119703a_0_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What is Activity Diagram</a:t>
            </a:r>
            <a:endParaRPr/>
          </a:p>
        </p:txBody>
      </p:sp>
      <p:sp>
        <p:nvSpPr>
          <p:cNvPr id="128" name="Google Shape;128;g3727119703a_0_0"/>
          <p:cNvSpPr txBox="1"/>
          <p:nvPr>
            <p:ph idx="4294967295" type="body"/>
          </p:nvPr>
        </p:nvSpPr>
        <p:spPr>
          <a:xfrm>
            <a:off x="208825" y="1401325"/>
            <a:ext cx="9595200" cy="55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Think of activity diagrams as object-oriented flowcharts.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600"/>
              <a:t>It tells us: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What activity happens first?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What happens next?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Where can the flow branch?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Which activities happen simultaneously?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Where do different flows join?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Which object is produced/used?</a:t>
            </a:r>
            <a:endParaRPr sz="2600"/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 sz="2600"/>
              <a:t>Which person/department is responsible for an activity?</a:t>
            </a:r>
            <a:endParaRPr sz="2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h342b35202558df0a_0_0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Activity Diagram</a:t>
            </a:r>
            <a:endParaRPr/>
          </a:p>
        </p:txBody>
      </p:sp>
      <p:sp>
        <p:nvSpPr>
          <p:cNvPr id="135" name="Google Shape;135;h342b35202558df0a_0_0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They show a process as a set of activities (tasks) connected by transitions (arrows).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Technically, they are a special kind of statechart, where every state is an “activity” that starts running as soon as the state is entered.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Activity = work being performed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Examples: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Login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Select Product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Make Payment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Generate Bill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Deliver Product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/>
              <a:t>Transition = movement from one activity to another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Login → Select Product → Make Payment → Generate Order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aa6fa9277_0_0"/>
          <p:cNvSpPr txBox="1"/>
          <p:nvPr>
            <p:ph type="title"/>
          </p:nvPr>
        </p:nvSpPr>
        <p:spPr>
          <a:xfrm>
            <a:off x="577281" y="216979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Where can you use activity diagrams?</a:t>
            </a:r>
            <a:endParaRPr/>
          </a:p>
        </p:txBody>
      </p:sp>
      <p:sp>
        <p:nvSpPr>
          <p:cNvPr id="141" name="Google Shape;141;g38aa6fa9277_0_0"/>
          <p:cNvSpPr txBox="1"/>
          <p:nvPr>
            <p:ph idx="4294967295" type="body"/>
          </p:nvPr>
        </p:nvSpPr>
        <p:spPr>
          <a:xfrm>
            <a:off x="282075" y="1475775"/>
            <a:ext cx="9419400" cy="5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An activity diagram can be attached to any modeling element to model its behavior.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 cases (to show the workflow of a use case)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400"/>
              <a:t>Example - </a:t>
            </a:r>
            <a:r>
              <a:rPr lang="en-US" sz="2400"/>
              <a:t>Place Order → Make Payment → Confirm Order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Classes / interfaces (to show what a class does)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Components / nodes (to show how they work internally)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Operations / methods (to show the algorithm for a function)</a:t>
            </a:r>
            <a:endParaRPr sz="2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Collaborations (To represent the flow involving collaborating elements.)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a6fa9277_0_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Action States</a:t>
            </a:r>
            <a:endParaRPr/>
          </a:p>
        </p:txBody>
      </p:sp>
      <p:sp>
        <p:nvSpPr>
          <p:cNvPr id="147" name="Google Shape;147;g38aa6fa9277_0_5"/>
          <p:cNvSpPr txBox="1"/>
          <p:nvPr>
            <p:ph idx="4294967295" type="body"/>
          </p:nvPr>
        </p:nvSpPr>
        <p:spPr>
          <a:xfrm>
            <a:off x="413150" y="1080200"/>
            <a:ext cx="9464700" cy="5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/>
              <a:t>Activity diagrams contain: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Action states</a:t>
            </a:r>
            <a:endParaRPr b="1"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Subactivity states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An action state is</a:t>
            </a:r>
            <a:r>
              <a:rPr lang="en-US" sz="2000"/>
              <a:t> basic building block of an activity diagram.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Represents a single, atomic task (smallest unit of work).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Used to show “what happens” at a certain step in the workflow.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Properties of Action States:</a:t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Atomic </a:t>
            </a:r>
            <a:r>
              <a:rPr lang="en-US" sz="2000"/>
              <a:t>→ cannot be broken into smaller steps.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Example: Open door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Uninterruptible </a:t>
            </a:r>
            <a:r>
              <a:rPr lang="en-US" sz="2000"/>
              <a:t>→ once started, it must finish.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You can’t “pause” or “interrupt” an action state.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/>
              <a:t>Instantaneous </a:t>
            </a:r>
            <a:r>
              <a:rPr lang="en-US" sz="2000"/>
              <a:t>→ </a:t>
            </a:r>
            <a:r>
              <a:rPr lang="en-US" sz="2000"/>
              <a:t>This does not mean that the real-world action literally takes zero seconds.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It means: From the perspective of the activity workflow, its duration is treated as negligible.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aa6fa9277_0_1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How is it drawn?</a:t>
            </a:r>
            <a:endParaRPr/>
          </a:p>
        </p:txBody>
      </p:sp>
      <p:sp>
        <p:nvSpPr>
          <p:cNvPr id="153" name="Google Shape;153;g38aa6fa9277_0_10"/>
          <p:cNvSpPr txBox="1"/>
          <p:nvPr>
            <p:ph idx="4294967295" type="body"/>
          </p:nvPr>
        </p:nvSpPr>
        <p:spPr>
          <a:xfrm>
            <a:off x="687825" y="1027926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Shape: rectangle with rounded ends.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Inside: write the action expression (what the action does).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Action </a:t>
            </a:r>
            <a:r>
              <a:rPr lang="en-US" sz="2200"/>
              <a:t>expression</a:t>
            </a:r>
            <a:r>
              <a:rPr lang="en-US" sz="2200"/>
              <a:t> can be written as: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Pseudo-code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Plain English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Should be a verb or verb phrase (since actions “do something”).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Why verb?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Because an action means something is being done.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Bad: User, Student, Payment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Better: Validate User, </a:t>
            </a:r>
            <a:r>
              <a:rPr lang="en-US" sz="2200"/>
              <a:t>R</a:t>
            </a:r>
            <a:r>
              <a:rPr lang="en-US" sz="2200"/>
              <a:t>egister Student, Process Payment</a:t>
            </a:r>
            <a:endParaRPr sz="2200"/>
          </a:p>
        </p:txBody>
      </p:sp>
      <p:pic>
        <p:nvPicPr>
          <p:cNvPr id="154" name="Google Shape;154;g38aa6fa9277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4050" y="5391403"/>
            <a:ext cx="6324550" cy="1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aa6fa9277_0_1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Start and Stop States</a:t>
            </a:r>
            <a:endParaRPr/>
          </a:p>
        </p:txBody>
      </p:sp>
      <p:sp>
        <p:nvSpPr>
          <p:cNvPr id="160" name="Google Shape;160;g38aa6fa9277_0_15"/>
          <p:cNvSpPr txBox="1"/>
          <p:nvPr>
            <p:ph idx="4294967295" type="body"/>
          </p:nvPr>
        </p:nvSpPr>
        <p:spPr>
          <a:xfrm>
            <a:off x="687825" y="1027926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Start state → solid filled circle ●.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It indicates: Where the activity starts.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Stop state → circle with a ring around it ◎.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It indicates:  Where the activity ends.</a:t>
            </a:r>
            <a:endParaRPr sz="2400"/>
          </a:p>
        </p:txBody>
      </p:sp>
      <p:pic>
        <p:nvPicPr>
          <p:cNvPr id="161" name="Google Shape;161;g38aa6fa9277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77" y="5866325"/>
            <a:ext cx="9327475" cy="103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8aa6fa9277_0_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00774" y="3779849"/>
            <a:ext cx="4818750" cy="16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aa6fa9277_0_2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Subactivity States</a:t>
            </a:r>
            <a:endParaRPr/>
          </a:p>
        </p:txBody>
      </p:sp>
      <p:sp>
        <p:nvSpPr>
          <p:cNvPr id="168" name="Google Shape;168;g38aa6fa9277_0_20"/>
          <p:cNvSpPr txBox="1"/>
          <p:nvPr>
            <p:ph idx="4294967295" type="body"/>
          </p:nvPr>
        </p:nvSpPr>
        <p:spPr>
          <a:xfrm>
            <a:off x="222700" y="1511950"/>
            <a:ext cx="9376500" cy="54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Action State - One small atomic activity.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 subactivity state is different from an action state.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Subactivity State - A larger activity that can itself be broken into another complete activity diagram.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It is: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Non-atomic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Can be broken down into other subactivity and action states.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Can be interrupted.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May take a finite amount of time.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An action state: Cannot be broken down.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 subactivity state: Can be broken down into a complete activity graph.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342b35202558df0a_0_6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Subactivity States</a:t>
            </a:r>
            <a:endParaRPr/>
          </a:p>
        </p:txBody>
      </p:sp>
      <p:sp>
        <p:nvSpPr>
          <p:cNvPr id="175" name="Google Shape;175;h342b35202558df0a_0_6"/>
          <p:cNvSpPr txBox="1"/>
          <p:nvPr>
            <p:ph idx="1" type="body"/>
          </p:nvPr>
        </p:nvSpPr>
        <p:spPr>
          <a:xfrm>
            <a:off x="216000" y="1560240"/>
            <a:ext cx="9576000" cy="549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Example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Suppose we have:  Process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At a high level, this is one activity.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But internally: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Process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|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+-- Validate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|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+-- Check Stock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|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+-- Calculate Price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|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      +-- Confirm Order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Therefore Process Order can be represented as a subactivity state.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8aa6fa9277_0_2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Subactivity States</a:t>
            </a:r>
            <a:endParaRPr/>
          </a:p>
        </p:txBody>
      </p:sp>
      <p:sp>
        <p:nvSpPr>
          <p:cNvPr id="181" name="Google Shape;181;g38aa6fa9277_0_25"/>
          <p:cNvSpPr txBox="1"/>
          <p:nvPr>
            <p:ph idx="4294967295" type="body"/>
          </p:nvPr>
        </p:nvSpPr>
        <p:spPr>
          <a:xfrm>
            <a:off x="504025" y="1189625"/>
            <a:ext cx="9256500" cy="55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Drawn like an action state (rounded rectangle), but with a thicker border and usually with a small icon (rake-like symbol) at the bottom-right corner.</a:t>
            </a:r>
            <a:endParaRPr sz="2400"/>
          </a:p>
        </p:txBody>
      </p:sp>
      <p:pic>
        <p:nvPicPr>
          <p:cNvPr id="182" name="Google Shape;182;g38aa6fa9277_0_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35" y="2607825"/>
            <a:ext cx="8218800" cy="14755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3" name="Google Shape;183;g38aa6fa9277_0_25"/>
          <p:cNvGraphicFramePr/>
          <p:nvPr/>
        </p:nvGraphicFramePr>
        <p:xfrm>
          <a:off x="416125" y="426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{5F93CA9B-5C5D-4A68-B0F2-D66B2A395FF7}</a:tableStyleId>
              </a:tblPr>
              <a:tblGrid>
                <a:gridCol w="3848375"/>
                <a:gridCol w="52052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Action State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Subactivity State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Atomic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Non-atomic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Cannot be broken down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Can be broken down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Uninterruptible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Interruptible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Generally instantaneous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May take finite time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Represents one task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Contains an entire activity graph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aa6fa9277_0_30"/>
          <p:cNvSpPr txBox="1"/>
          <p:nvPr>
            <p:ph type="title"/>
          </p:nvPr>
        </p:nvSpPr>
        <p:spPr>
          <a:xfrm>
            <a:off x="687818" y="70479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Transitions</a:t>
            </a:r>
            <a:endParaRPr/>
          </a:p>
        </p:txBody>
      </p:sp>
      <p:sp>
        <p:nvSpPr>
          <p:cNvPr id="189" name="Google Shape;189;g38aa6fa9277_0_30"/>
          <p:cNvSpPr txBox="1"/>
          <p:nvPr>
            <p:ph idx="4294967295" type="body"/>
          </p:nvPr>
        </p:nvSpPr>
        <p:spPr>
          <a:xfrm>
            <a:off x="687825" y="1555876"/>
            <a:ext cx="9072600" cy="56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 transition represents the movement from one state to another in an activity diagram.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When an action or subactivity state completes its work, the diagram moves automatically to the next state.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This kind of movement is called an automatic transition because it does not require a triggering event; it occurs as soon as the current state finishes its activity.</a:t>
            </a:r>
            <a:endParaRPr sz="2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aa6fa9277_0_3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Transitions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95" name="Google Shape;195;g38aa6fa9277_0_35"/>
          <p:cNvSpPr txBox="1"/>
          <p:nvPr>
            <p:ph idx="4294967295" type="body"/>
          </p:nvPr>
        </p:nvSpPr>
        <p:spPr>
          <a:xfrm>
            <a:off x="397875" y="1027925"/>
            <a:ext cx="51948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Start State: The activity begins here.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Write Letter (Action State): Automatically transitions from the start state. The system executes this action.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Address Letter (Next Action State): Once "Write Letter" is done, it automatically transitions here.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Post Letter (Next Action State): After addressing the letter, the activity transitions to posting it.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Stop State: After posting the letter, the activity ends here.</a:t>
            </a:r>
            <a:endParaRPr sz="2000"/>
          </a:p>
        </p:txBody>
      </p:sp>
      <p:pic>
        <p:nvPicPr>
          <p:cNvPr id="196" name="Google Shape;196;g38aa6fa9277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6024" y="1027925"/>
            <a:ext cx="4560726" cy="529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aa6fa9277_0_4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Decisions</a:t>
            </a:r>
            <a:endParaRPr/>
          </a:p>
        </p:txBody>
      </p:sp>
      <p:sp>
        <p:nvSpPr>
          <p:cNvPr id="202" name="Google Shape;202;g38aa6fa9277_0_40"/>
          <p:cNvSpPr txBox="1"/>
          <p:nvPr>
            <p:ph idx="4294967295" type="body"/>
          </p:nvPr>
        </p:nvSpPr>
        <p:spPr>
          <a:xfrm>
            <a:off x="687825" y="1027926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A decision represents a point where the workflow can branch into alternative paths based on some Boolean condition.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In UML, a decision is shown as a diamond shape, just like in traditional flowcharts.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same diamond is also used for a merge, where multiple alternative paths come back together.</a:t>
            </a:r>
            <a:endParaRPr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8aa6fa9277_0_45"/>
          <p:cNvSpPr txBox="1"/>
          <p:nvPr>
            <p:ph idx="4294967295" type="body"/>
          </p:nvPr>
        </p:nvSpPr>
        <p:spPr>
          <a:xfrm>
            <a:off x="504025" y="519526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Key Rules: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One input, many outputs: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Only one path can enter a decision.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Multiple paths may exit, each with a guard expression.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Guard expressions: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Each outgoing path has a Boolean condition (e.g., [is junk]).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 path is taken only if its guard expression evaluates to true.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Else path: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The else keyword specifies the path to take if none of the guard expressions are true.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Mutually exclusive guards: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The conditions should not create ambiguity.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8aa6fa9277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675" y="395575"/>
            <a:ext cx="6898875" cy="645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h342b35202558df0a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3025" y="364700"/>
            <a:ext cx="6135625" cy="6970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aa6fa9277_0_5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Forks and Joins</a:t>
            </a:r>
            <a:endParaRPr/>
          </a:p>
        </p:txBody>
      </p:sp>
      <p:sp>
        <p:nvSpPr>
          <p:cNvPr id="224" name="Google Shape;224;g38aa6fa9277_0_55"/>
          <p:cNvSpPr txBox="1"/>
          <p:nvPr>
            <p:ph idx="4294967295" type="body"/>
          </p:nvPr>
        </p:nvSpPr>
        <p:spPr>
          <a:xfrm>
            <a:off x="504025" y="1127325"/>
            <a:ext cx="9576600" cy="60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Fork</a:t>
            </a:r>
            <a:r>
              <a:rPr lang="en-US" sz="2500"/>
              <a:t>: Splits a single workflow path into two or more concurrent flows.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Join</a:t>
            </a:r>
            <a:r>
              <a:rPr lang="en-US" sz="2500"/>
              <a:t>: Synchronizes two or more concurrent flows back into a single path.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Key Rules: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Forks: </a:t>
            </a:r>
            <a:r>
              <a:rPr lang="en-US" sz="2500"/>
              <a:t>One incoming transition.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Two or more outgoing transitions, representing parallel/concurrent activities.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/>
              <a:t>Joins: </a:t>
            </a:r>
            <a:r>
              <a:rPr lang="en-US" sz="2500"/>
              <a:t>Two or more incoming transitions.</a:t>
            </a:r>
            <a:endParaRPr sz="25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/>
              <a:t>One outgoing transition, which fires only when all incoming transitions have completed.</a:t>
            </a:r>
            <a:endParaRPr sz="25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g38aa6fa9277_0_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475" y="506075"/>
            <a:ext cx="5351574" cy="64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b881757b2_0_3"/>
          <p:cNvSpPr txBox="1"/>
          <p:nvPr>
            <p:ph type="title"/>
          </p:nvPr>
        </p:nvSpPr>
        <p:spPr>
          <a:xfrm>
            <a:off x="719280" y="301320"/>
            <a:ext cx="8851800" cy="125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Fork vs Join</a:t>
            </a:r>
            <a:endParaRPr/>
          </a:p>
        </p:txBody>
      </p:sp>
      <p:graphicFrame>
        <p:nvGraphicFramePr>
          <p:cNvPr id="236" name="Google Shape;236;g3fb881757b2_0_3"/>
          <p:cNvGraphicFramePr/>
          <p:nvPr/>
        </p:nvGraphicFramePr>
        <p:xfrm>
          <a:off x="577250" y="226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{5F93CA9B-5C5D-4A68-B0F2-D66B2A395FF7}</a:tableStyleId>
              </a:tblPr>
              <a:tblGrid>
                <a:gridCol w="3558800"/>
                <a:gridCol w="4176125"/>
              </a:tblGrid>
              <a:tr h="528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Fork</a:t>
                      </a:r>
                      <a:endParaRPr b="1"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100"/>
                        <a:t>Join</a:t>
                      </a:r>
                      <a:endParaRPr b="1" sz="2100"/>
                    </a:p>
                  </a:txBody>
                  <a:tcPr marT="91425" marB="91425" marR="91425" marL="91425" anchor="ctr"/>
                </a:tc>
              </a:tr>
              <a:tr h="55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Splits a flow</a:t>
                      </a:r>
                      <a:endParaRPr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Synchronizes flows</a:t>
                      </a:r>
                      <a:endParaRPr sz="2100"/>
                    </a:p>
                  </a:txBody>
                  <a:tcPr marT="91425" marB="91425" marR="91425" marL="91425" anchor="ctr"/>
                </a:tc>
              </a:tr>
              <a:tr h="8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 incoming transition</a:t>
                      </a:r>
                      <a:endParaRPr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 or more incoming transitions</a:t>
                      </a:r>
                      <a:endParaRPr sz="2100"/>
                    </a:p>
                  </a:txBody>
                  <a:tcPr marT="91425" marB="91425" marR="91425" marL="91425" anchor="ctr"/>
                </a:tc>
              </a:tr>
              <a:tr h="8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2 or more outgoing transitions</a:t>
                      </a:r>
                      <a:endParaRPr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1 outgoing transition</a:t>
                      </a:r>
                      <a:endParaRPr sz="2100"/>
                    </a:p>
                  </a:txBody>
                  <a:tcPr marT="91425" marB="91425" marR="91425" marL="91425" anchor="ctr"/>
                </a:tc>
              </a:tr>
              <a:tr h="8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Starts concurrent flows</a:t>
                      </a:r>
                      <a:endParaRPr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Waits for concurrent flows to finish</a:t>
                      </a:r>
                      <a:endParaRPr sz="2100"/>
                    </a:p>
                  </a:txBody>
                  <a:tcPr marT="91425" marB="91425" marR="91425" marL="91425" anchor="ctr"/>
                </a:tc>
              </a:tr>
              <a:tr h="852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One to Many</a:t>
                      </a:r>
                      <a:endParaRPr sz="21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/>
                        <a:t>Many to One</a:t>
                      </a:r>
                      <a:endParaRPr sz="21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aa6fa9277_0_6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Swimlanes</a:t>
            </a:r>
            <a:endParaRPr/>
          </a:p>
        </p:txBody>
      </p:sp>
      <p:sp>
        <p:nvSpPr>
          <p:cNvPr id="242" name="Google Shape;242;g38aa6fa9277_0_65"/>
          <p:cNvSpPr txBox="1"/>
          <p:nvPr>
            <p:ph idx="4294967295" type="body"/>
          </p:nvPr>
        </p:nvSpPr>
        <p:spPr>
          <a:xfrm>
            <a:off x="687825" y="1027926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Swimlanes partition an activity diagram into distinct vertical or horizontal sections, called lanes.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UML does not prescribe detailed semantics for swimlanes, so you can use them flexibly.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Common Uses: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Swimlanes are often used to represent: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Use cases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Classes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Components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Organizational units (e.g., departments in business modeling)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Roles (e.g., in workflow modeling)</a:t>
            </a:r>
            <a:endParaRPr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g38aa6fa9277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2400" y="373700"/>
            <a:ext cx="5275450" cy="511145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38aa6fa9277_0_70"/>
          <p:cNvSpPr txBox="1"/>
          <p:nvPr/>
        </p:nvSpPr>
        <p:spPr>
          <a:xfrm>
            <a:off x="336975" y="5611175"/>
            <a:ext cx="94524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swimlane gives us responsibility information in addition to the workflow.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Without swimlanes: We know what happens.</a:t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/>
              <a:t>With swimlanes:  We know what happens + who/which role is responsible.</a:t>
            </a:r>
            <a:endParaRPr b="1"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8aa6fa9277_0_75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Object Flows</a:t>
            </a:r>
            <a:endParaRPr/>
          </a:p>
        </p:txBody>
      </p:sp>
      <p:sp>
        <p:nvSpPr>
          <p:cNvPr id="254" name="Google Shape;254;g38aa6fa9277_0_75"/>
          <p:cNvSpPr txBox="1"/>
          <p:nvPr>
            <p:ph idx="4294967295" type="body"/>
          </p:nvPr>
        </p:nvSpPr>
        <p:spPr>
          <a:xfrm>
            <a:off x="504025" y="1027925"/>
            <a:ext cx="92565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An object flow shows -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how objects move between activities;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how objects are inputs to activities;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how objects are outputs;</a:t>
            </a:r>
            <a:endParaRPr sz="2200"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200"/>
              <a:t>how objects are modified.</a:t>
            </a:r>
            <a:endParaRPr sz="22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What data/object is being passed from one activity to another?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Key Concepts: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/>
              <a:t>Object as Input/Output:</a:t>
            </a:r>
            <a:endParaRPr b="1"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An object can be produced by one activity and consumed by another.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Example: </a:t>
            </a:r>
            <a:r>
              <a:rPr lang="en-US" sz="2200"/>
              <a:t>Design new product →  :ProductSpec → Manufacture product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So: Design new product produces :ProductSpec.</a:t>
            </a:r>
            <a:endParaRPr sz="2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Then:  Manufacture product uses :ProductSpec.</a:t>
            </a:r>
            <a:endParaRPr sz="2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aa6fa9277_0_80"/>
          <p:cNvSpPr txBox="1"/>
          <p:nvPr>
            <p:ph idx="4294967295" type="body"/>
          </p:nvPr>
        </p:nvSpPr>
        <p:spPr>
          <a:xfrm>
            <a:off x="501050" y="577225"/>
            <a:ext cx="9259500" cy="65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Object State: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state of an object can be shown using square brackets below the object name.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Example: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:Order [paid] after payment is captured.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:Order [delivered] after the product is delivered.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The state name should correspond to the object’s statechart.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Object Attribute Values: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If the class does not have a statechart, you can show attribute values in a compartment below the object name to indicate its state or changes.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aa6fa9277_0_85"/>
          <p:cNvSpPr txBox="1"/>
          <p:nvPr/>
        </p:nvSpPr>
        <p:spPr>
          <a:xfrm>
            <a:off x="2232525" y="2077800"/>
            <a:ext cx="789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5" name="Google Shape;265;g38aa6fa9277_0_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750" y="688892"/>
            <a:ext cx="6169450" cy="618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aa6fa9277_0_90"/>
          <p:cNvSpPr txBox="1"/>
          <p:nvPr>
            <p:ph type="title"/>
          </p:nvPr>
        </p:nvSpPr>
        <p:spPr>
          <a:xfrm>
            <a:off x="504031" y="11854"/>
            <a:ext cx="8482200" cy="125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/>
              <a:t>Signals</a:t>
            </a:r>
            <a:endParaRPr/>
          </a:p>
        </p:txBody>
      </p:sp>
      <p:sp>
        <p:nvSpPr>
          <p:cNvPr id="271" name="Google Shape;271;g38aa6fa9277_0_90"/>
          <p:cNvSpPr txBox="1"/>
          <p:nvPr>
            <p:ph idx="4294967295" type="body"/>
          </p:nvPr>
        </p:nvSpPr>
        <p:spPr>
          <a:xfrm>
            <a:off x="504025" y="1027925"/>
            <a:ext cx="92565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 Signal represents an event/message that is sent from one part of a system to another, usually without the sender waiting for an immediate response.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Example - 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sending a WhatsApp message: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You send the message → the receiver gets notified → you don't have to wait for the receiver to reply before continuing your work.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A signal event occurs when an object receives a signal.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/>
              <a:t>Unlike normal events, signals can be shown on activity diagrams; most other events are shown only on statecharts.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aa6fa9277_0_95"/>
          <p:cNvSpPr txBox="1"/>
          <p:nvPr>
            <p:ph idx="4294967295" type="body"/>
          </p:nvPr>
        </p:nvSpPr>
        <p:spPr>
          <a:xfrm>
            <a:off x="621625" y="409000"/>
            <a:ext cx="9459000" cy="66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Key Concepts:</a:t>
            </a:r>
            <a:endParaRPr b="1"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Signal Send:</a:t>
            </a:r>
            <a:r>
              <a:rPr lang="en-US" sz="2300"/>
              <a:t> </a:t>
            </a:r>
            <a:r>
              <a:rPr lang="en-US" sz="2300"/>
              <a:t>Modeled as a convex pentagon labeled with the signal name.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Has one input and one output transition.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No actions are performed; it only sends the signal.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A dashed arrow is drawn from the signal send to the receiving object.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Example: Order signal is sent to :MailOrderCompany.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Payment Completed → Send Signal → "Payment Successful”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300"/>
              <a:t>Signal Receipt: </a:t>
            </a:r>
            <a:r>
              <a:rPr lang="en-US" sz="2300"/>
              <a:t>Modeled as a concave pentagon labeled with the signal name.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Represents waiting to receive a signal.</a:t>
            </a:r>
            <a:endParaRPr sz="2300"/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•"/>
            </a:pPr>
            <a:r>
              <a:rPr lang="en-US" sz="2300"/>
              <a:t>No actions are associated; it merely receives the signal.</a:t>
            </a:r>
            <a:endParaRPr sz="23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/>
              <a:t>Example: Receiving Goods delivered signal from :MailOrderCompany.</a:t>
            </a:r>
            <a:endParaRPr sz="2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aa6fa9277_0_100"/>
          <p:cNvSpPr txBox="1"/>
          <p:nvPr>
            <p:ph idx="4294967295" type="body"/>
          </p:nvPr>
        </p:nvSpPr>
        <p:spPr>
          <a:xfrm>
            <a:off x="643625" y="716089"/>
            <a:ext cx="9072600" cy="61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375" lIns="100775" spcFirstLastPara="1" rIns="100775" wrap="square" tIns="503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Signal Attributes and Operations: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Signals are classifiers, often modeled as stereotyped classes («signal»).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They only have attributes representing the information being sent.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They have an implicit operation send(targetSet), which is not shown in diagrams.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Signals are primarily for data transfer between objects.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/>
              <a:t>Example – GUI Signals 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«signal» MouseButtonEvent with attributes x, y, button.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Specialized signals: MouseButtonDown, MouseButtonUp.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Shows that signals can represent real-world events as data objects.</a:t>
            </a:r>
            <a:endParaRPr sz="2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g38aa6fa9277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0750" y="303925"/>
            <a:ext cx="6744150" cy="6905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g3fb881757b2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250" y="-12"/>
            <a:ext cx="4714500" cy="725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g3fb881757b2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0250" y="79150"/>
            <a:ext cx="4729150" cy="7254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3fb881757b2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950" y="0"/>
            <a:ext cx="4727302" cy="725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g38aa6fa9277_0_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00" y="735450"/>
            <a:ext cx="9775826" cy="6329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5"/>
          <p:cNvSpPr txBox="1"/>
          <p:nvPr>
            <p:ph type="title"/>
          </p:nvPr>
        </p:nvSpPr>
        <p:spPr>
          <a:xfrm>
            <a:off x="724831" y="2766067"/>
            <a:ext cx="8851680" cy="1258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57812"/>
              </a:lnSpc>
              <a:spcBef>
                <a:spcPts val="0"/>
              </a:spcBef>
              <a:spcAft>
                <a:spcPts val="0"/>
              </a:spcAft>
              <a:buClr>
                <a:srgbClr val="161613"/>
              </a:buClr>
              <a:buSzPts val="9600"/>
              <a:buFont typeface="Arial"/>
              <a:buNone/>
            </a:pPr>
            <a:r>
              <a:rPr lang="en-US" sz="10200"/>
              <a:t>Thank You</a:t>
            </a:r>
            <a:endParaRPr sz="10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2020-04-27T17:43:41Z</dcterms:created>
</cp:coreProperties>
</file>