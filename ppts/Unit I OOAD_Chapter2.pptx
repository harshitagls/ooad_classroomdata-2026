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7559675" cx="10080625"/>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81">
          <p15:clr>
            <a:srgbClr val="A4A3A4"/>
          </p15:clr>
        </p15:guide>
        <p15:guide id="2" pos="3175">
          <p15:clr>
            <a:srgbClr val="A4A3A4"/>
          </p15:clr>
        </p15:guide>
      </p15:sldGuideLst>
    </p:ext>
    <p:ext uri="GoogleSlidesCustomDataVersion2">
      <go:slidesCustomData xmlns:go="http://customooxmlschemas.google.com/" r:id="rId46" roundtripDataSignature="AMtx7mgUr8v+8IkHzM0f39HBUif16r4zO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81" orient="horz"/>
        <p:guide pos="317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9" name="Google Shape;149;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1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1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2" name="Google Shape;202;p1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p1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1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2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2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3" name="Google Shape;243;p2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3: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2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4: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2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9" name="Google Shape;259;p2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2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70fa1691c3_0_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g370fa1691c3_0_0: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g370fa1691c3_0_0: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7: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2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70fa1691c3_0_9: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g370fa1691c3_0_9: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g370fa1691c3_0_9: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8: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p2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70fa1691c3_0_17: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70fa1691c3_0_17: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370fa1691c3_0_17: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70fa1691c3_0_33: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370fa1691c3_0_33: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4" name="Google Shape;304;g370fa1691c3_0_33: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70fa1691c3_0_42: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70fa1691c3_0_42: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370fa1691c3_0_42: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0fa1691c3_0_60: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370fa1691c3_0_60: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70fa1691c3_0_60: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70fa1691c3_0_88: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370fa1691c3_0_88: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g370fa1691c3_0_88: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370fa1691c3_0_116: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g370fa1691c3_0_116: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0" name="Google Shape;350;g370fa1691c3_0_116: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6f6a566c33_0_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6" name="Google Shape;356;g36f6a566c33_0_1: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g36f6a566c33_0_1: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6f6a566c33_0_11:notes"/>
          <p:cNvSpPr/>
          <p:nvPr>
            <p:ph idx="2" type="sldImg"/>
          </p:nvPr>
        </p:nvSpPr>
        <p:spPr>
          <a:xfrm>
            <a:off x="1374775" y="1336675"/>
            <a:ext cx="4810200" cy="3608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6f6a566c33_0_11:notes"/>
          <p:cNvSpPr txBox="1"/>
          <p:nvPr>
            <p:ph idx="1" type="body"/>
          </p:nvPr>
        </p:nvSpPr>
        <p:spPr>
          <a:xfrm>
            <a:off x="755650" y="5145088"/>
            <a:ext cx="6048300" cy="421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36f6a566c33_0_11:notes"/>
          <p:cNvSpPr txBox="1"/>
          <p:nvPr>
            <p:ph idx="12" type="sldNum"/>
          </p:nvPr>
        </p:nvSpPr>
        <p:spPr>
          <a:xfrm>
            <a:off x="4281488" y="10155238"/>
            <a:ext cx="3276600" cy="53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55: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0" name="Google Shape;370;p5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3" name="Shape 13"/>
        <p:cNvGrpSpPr/>
        <p:nvPr/>
      </p:nvGrpSpPr>
      <p:grpSpPr>
        <a:xfrm>
          <a:off x="0" y="0"/>
          <a:ext cx="0" cy="0"/>
          <a:chOff x="0" y="0"/>
          <a:chExt cx="0" cy="0"/>
        </a:xfrm>
      </p:grpSpPr>
      <p:sp>
        <p:nvSpPr>
          <p:cNvPr id="14" name="Google Shape;14;p57"/>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 type="subTitle"/>
          </p:nvPr>
        </p:nvSpPr>
        <p:spPr>
          <a:xfrm>
            <a:off x="216000" y="1560240"/>
            <a:ext cx="9576000" cy="549576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 name="Shape 17"/>
        <p:cNvGrpSpPr/>
        <p:nvPr/>
      </p:nvGrpSpPr>
      <p:grpSpPr>
        <a:xfrm>
          <a:off x="0" y="0"/>
          <a:ext cx="0" cy="0"/>
          <a:chOff x="0" y="0"/>
          <a:chExt cx="0" cy="0"/>
        </a:xfrm>
      </p:grpSpPr>
      <p:sp>
        <p:nvSpPr>
          <p:cNvPr id="18" name="Google Shape;18;p62"/>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2"/>
          <p:cNvSpPr txBox="1"/>
          <p:nvPr>
            <p:ph idx="1" type="body"/>
          </p:nvPr>
        </p:nvSpPr>
        <p:spPr>
          <a:xfrm>
            <a:off x="216000" y="1560240"/>
            <a:ext cx="95760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0" name="Shape 20"/>
        <p:cNvGrpSpPr/>
        <p:nvPr/>
      </p:nvGrpSpPr>
      <p:grpSpPr>
        <a:xfrm>
          <a:off x="0" y="0"/>
          <a:ext cx="0" cy="0"/>
          <a:chOff x="0" y="0"/>
          <a:chExt cx="0" cy="0"/>
        </a:xfrm>
      </p:grpSpPr>
      <p:sp>
        <p:nvSpPr>
          <p:cNvPr id="21" name="Google Shape;21;p63"/>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63"/>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63"/>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4"/>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6" name="Shape 26"/>
        <p:cNvGrpSpPr/>
        <p:nvPr/>
      </p:nvGrpSpPr>
      <p:grpSpPr>
        <a:xfrm>
          <a:off x="0" y="0"/>
          <a:ext cx="0" cy="0"/>
          <a:chOff x="0" y="0"/>
          <a:chExt cx="0" cy="0"/>
        </a:xfrm>
      </p:grpSpPr>
      <p:sp>
        <p:nvSpPr>
          <p:cNvPr id="27" name="Google Shape;27;p65"/>
          <p:cNvSpPr txBox="1"/>
          <p:nvPr>
            <p:ph idx="1" type="subTitle"/>
          </p:nvPr>
        </p:nvSpPr>
        <p:spPr>
          <a:xfrm>
            <a:off x="719280" y="301320"/>
            <a:ext cx="8851680" cy="583704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8" name="Shape 28"/>
        <p:cNvGrpSpPr/>
        <p:nvPr/>
      </p:nvGrpSpPr>
      <p:grpSpPr>
        <a:xfrm>
          <a:off x="0" y="0"/>
          <a:ext cx="0" cy="0"/>
          <a:chOff x="0" y="0"/>
          <a:chExt cx="0" cy="0"/>
        </a:xfrm>
      </p:grpSpPr>
      <p:sp>
        <p:nvSpPr>
          <p:cNvPr id="29" name="Google Shape;29;p66"/>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66"/>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66"/>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6"/>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3" name="Shape 33"/>
        <p:cNvGrpSpPr/>
        <p:nvPr/>
      </p:nvGrpSpPr>
      <p:grpSpPr>
        <a:xfrm>
          <a:off x="0" y="0"/>
          <a:ext cx="0" cy="0"/>
          <a:chOff x="0" y="0"/>
          <a:chExt cx="0" cy="0"/>
        </a:xfrm>
      </p:grpSpPr>
      <p:sp>
        <p:nvSpPr>
          <p:cNvPr id="34" name="Google Shape;34;p67"/>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7"/>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7"/>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7"/>
          <p:cNvSpPr txBox="1"/>
          <p:nvPr>
            <p:ph idx="3"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8" name="Shape 38"/>
        <p:cNvGrpSpPr/>
        <p:nvPr/>
      </p:nvGrpSpPr>
      <p:grpSpPr>
        <a:xfrm>
          <a:off x="0" y="0"/>
          <a:ext cx="0" cy="0"/>
          <a:chOff x="0" y="0"/>
          <a:chExt cx="0" cy="0"/>
        </a:xfrm>
      </p:grpSpPr>
      <p:sp>
        <p:nvSpPr>
          <p:cNvPr id="39" name="Google Shape;39;p68"/>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8"/>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8"/>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8"/>
          <p:cNvSpPr txBox="1"/>
          <p:nvPr>
            <p:ph idx="3"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3" name="Shape 43"/>
        <p:cNvGrpSpPr/>
        <p:nvPr/>
      </p:nvGrpSpPr>
      <p:grpSpPr>
        <a:xfrm>
          <a:off x="0" y="0"/>
          <a:ext cx="0" cy="0"/>
          <a:chOff x="0" y="0"/>
          <a:chExt cx="0" cy="0"/>
        </a:xfrm>
      </p:grpSpPr>
      <p:sp>
        <p:nvSpPr>
          <p:cNvPr id="44" name="Google Shape;44;p69"/>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9"/>
          <p:cNvSpPr txBox="1"/>
          <p:nvPr>
            <p:ph idx="1" type="body"/>
          </p:nvPr>
        </p:nvSpPr>
        <p:spPr>
          <a:xfrm>
            <a:off x="216000" y="156024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9"/>
          <p:cNvSpPr txBox="1"/>
          <p:nvPr>
            <p:ph idx="2"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7" name="Shape 47"/>
        <p:cNvGrpSpPr/>
        <p:nvPr/>
      </p:nvGrpSpPr>
      <p:grpSpPr>
        <a:xfrm>
          <a:off x="0" y="0"/>
          <a:ext cx="0" cy="0"/>
          <a:chOff x="0" y="0"/>
          <a:chExt cx="0" cy="0"/>
        </a:xfrm>
      </p:grpSpPr>
      <p:sp>
        <p:nvSpPr>
          <p:cNvPr id="48" name="Google Shape;48;p70"/>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0"/>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0"/>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0"/>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70"/>
          <p:cNvSpPr txBox="1"/>
          <p:nvPr>
            <p:ph idx="4"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3" name="Shape 53"/>
        <p:cNvGrpSpPr/>
        <p:nvPr/>
      </p:nvGrpSpPr>
      <p:grpSpPr>
        <a:xfrm>
          <a:off x="0" y="0"/>
          <a:ext cx="0" cy="0"/>
          <a:chOff x="0" y="0"/>
          <a:chExt cx="0" cy="0"/>
        </a:xfrm>
      </p:grpSpPr>
      <p:sp>
        <p:nvSpPr>
          <p:cNvPr id="54" name="Google Shape;54;p71"/>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71"/>
          <p:cNvSpPr txBox="1"/>
          <p:nvPr>
            <p:ph idx="1" type="body"/>
          </p:nvPr>
        </p:nvSpPr>
        <p:spPr>
          <a:xfrm>
            <a:off x="21600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71"/>
          <p:cNvSpPr txBox="1"/>
          <p:nvPr>
            <p:ph idx="2" type="body"/>
          </p:nvPr>
        </p:nvSpPr>
        <p:spPr>
          <a:xfrm>
            <a:off x="34538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7" name="Google Shape;57;p71"/>
          <p:cNvSpPr txBox="1"/>
          <p:nvPr>
            <p:ph idx="3" type="body"/>
          </p:nvPr>
        </p:nvSpPr>
        <p:spPr>
          <a:xfrm>
            <a:off x="66920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71"/>
          <p:cNvSpPr txBox="1"/>
          <p:nvPr>
            <p:ph idx="4" type="body"/>
          </p:nvPr>
        </p:nvSpPr>
        <p:spPr>
          <a:xfrm>
            <a:off x="21600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71"/>
          <p:cNvSpPr txBox="1"/>
          <p:nvPr>
            <p:ph idx="5" type="body"/>
          </p:nvPr>
        </p:nvSpPr>
        <p:spPr>
          <a:xfrm>
            <a:off x="34538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71"/>
          <p:cNvSpPr txBox="1"/>
          <p:nvPr>
            <p:ph idx="6" type="body"/>
          </p:nvPr>
        </p:nvSpPr>
        <p:spPr>
          <a:xfrm>
            <a:off x="66920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0" name="Shape 70"/>
        <p:cNvGrpSpPr/>
        <p:nvPr/>
      </p:nvGrpSpPr>
      <p:grpSpPr>
        <a:xfrm>
          <a:off x="0" y="0"/>
          <a:ext cx="0" cy="0"/>
          <a:chOff x="0" y="0"/>
          <a:chExt cx="0" cy="0"/>
        </a:xfrm>
      </p:grpSpPr>
      <p:sp>
        <p:nvSpPr>
          <p:cNvPr id="71" name="Google Shape;71;p59"/>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9"/>
          <p:cNvSpPr txBox="1"/>
          <p:nvPr>
            <p:ph idx="1" type="body"/>
          </p:nvPr>
        </p:nvSpPr>
        <p:spPr>
          <a:xfrm>
            <a:off x="216000" y="1560240"/>
            <a:ext cx="95760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73" name="Shape 73"/>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4" name="Shape 74"/>
        <p:cNvGrpSpPr/>
        <p:nvPr/>
      </p:nvGrpSpPr>
      <p:grpSpPr>
        <a:xfrm>
          <a:off x="0" y="0"/>
          <a:ext cx="0" cy="0"/>
          <a:chOff x="0" y="0"/>
          <a:chExt cx="0" cy="0"/>
        </a:xfrm>
      </p:grpSpPr>
      <p:sp>
        <p:nvSpPr>
          <p:cNvPr id="75" name="Google Shape;75;p72"/>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72"/>
          <p:cNvSpPr txBox="1"/>
          <p:nvPr>
            <p:ph idx="1" type="subTitle"/>
          </p:nvPr>
        </p:nvSpPr>
        <p:spPr>
          <a:xfrm>
            <a:off x="216000" y="1560240"/>
            <a:ext cx="9576000" cy="549576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7" name="Shape 77"/>
        <p:cNvGrpSpPr/>
        <p:nvPr/>
      </p:nvGrpSpPr>
      <p:grpSpPr>
        <a:xfrm>
          <a:off x="0" y="0"/>
          <a:ext cx="0" cy="0"/>
          <a:chOff x="0" y="0"/>
          <a:chExt cx="0" cy="0"/>
        </a:xfrm>
      </p:grpSpPr>
      <p:sp>
        <p:nvSpPr>
          <p:cNvPr id="78" name="Google Shape;78;p73"/>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3"/>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73"/>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74"/>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3" name="Shape 83"/>
        <p:cNvGrpSpPr/>
        <p:nvPr/>
      </p:nvGrpSpPr>
      <p:grpSpPr>
        <a:xfrm>
          <a:off x="0" y="0"/>
          <a:ext cx="0" cy="0"/>
          <a:chOff x="0" y="0"/>
          <a:chExt cx="0" cy="0"/>
        </a:xfrm>
      </p:grpSpPr>
      <p:sp>
        <p:nvSpPr>
          <p:cNvPr id="84" name="Google Shape;84;p75"/>
          <p:cNvSpPr txBox="1"/>
          <p:nvPr>
            <p:ph idx="1" type="subTitle"/>
          </p:nvPr>
        </p:nvSpPr>
        <p:spPr>
          <a:xfrm>
            <a:off x="719280" y="301320"/>
            <a:ext cx="8851680" cy="5837040"/>
          </a:xfrm>
          <a:prstGeom prst="rect">
            <a:avLst/>
          </a:prstGeom>
          <a:noFill/>
          <a:ln>
            <a:noFill/>
          </a:ln>
        </p:spPr>
        <p:txBody>
          <a:bodyPr anchorCtr="0" anchor="ctr" bIns="0" lIns="0" spcFirstLastPara="1" rIns="0" wrap="square" tIns="0">
            <a:norm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5" name="Shape 85"/>
        <p:cNvGrpSpPr/>
        <p:nvPr/>
      </p:nvGrpSpPr>
      <p:grpSpPr>
        <a:xfrm>
          <a:off x="0" y="0"/>
          <a:ext cx="0" cy="0"/>
          <a:chOff x="0" y="0"/>
          <a:chExt cx="0" cy="0"/>
        </a:xfrm>
      </p:grpSpPr>
      <p:sp>
        <p:nvSpPr>
          <p:cNvPr id="86" name="Google Shape;86;p76"/>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6"/>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76"/>
          <p:cNvSpPr txBox="1"/>
          <p:nvPr>
            <p:ph idx="2" type="body"/>
          </p:nvPr>
        </p:nvSpPr>
        <p:spPr>
          <a:xfrm>
            <a:off x="51228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76"/>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90" name="Shape 90"/>
        <p:cNvGrpSpPr/>
        <p:nvPr/>
      </p:nvGrpSpPr>
      <p:grpSpPr>
        <a:xfrm>
          <a:off x="0" y="0"/>
          <a:ext cx="0" cy="0"/>
          <a:chOff x="0" y="0"/>
          <a:chExt cx="0" cy="0"/>
        </a:xfrm>
      </p:grpSpPr>
      <p:sp>
        <p:nvSpPr>
          <p:cNvPr id="91" name="Google Shape;91;p77"/>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77"/>
          <p:cNvSpPr txBox="1"/>
          <p:nvPr>
            <p:ph idx="1" type="body"/>
          </p:nvPr>
        </p:nvSpPr>
        <p:spPr>
          <a:xfrm>
            <a:off x="216000" y="1560240"/>
            <a:ext cx="4672800" cy="54957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77"/>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4" name="Google Shape;94;p77"/>
          <p:cNvSpPr txBox="1"/>
          <p:nvPr>
            <p:ph idx="3"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5" name="Shape 95"/>
        <p:cNvGrpSpPr/>
        <p:nvPr/>
      </p:nvGrpSpPr>
      <p:grpSpPr>
        <a:xfrm>
          <a:off x="0" y="0"/>
          <a:ext cx="0" cy="0"/>
          <a:chOff x="0" y="0"/>
          <a:chExt cx="0" cy="0"/>
        </a:xfrm>
      </p:grpSpPr>
      <p:sp>
        <p:nvSpPr>
          <p:cNvPr id="96" name="Google Shape;96;p78"/>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78"/>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78"/>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9" name="Google Shape;99;p78"/>
          <p:cNvSpPr txBox="1"/>
          <p:nvPr>
            <p:ph idx="3"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00" name="Shape 100"/>
        <p:cNvGrpSpPr/>
        <p:nvPr/>
      </p:nvGrpSpPr>
      <p:grpSpPr>
        <a:xfrm>
          <a:off x="0" y="0"/>
          <a:ext cx="0" cy="0"/>
          <a:chOff x="0" y="0"/>
          <a:chExt cx="0" cy="0"/>
        </a:xfrm>
      </p:grpSpPr>
      <p:sp>
        <p:nvSpPr>
          <p:cNvPr id="101" name="Google Shape;101;p79"/>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79"/>
          <p:cNvSpPr txBox="1"/>
          <p:nvPr>
            <p:ph idx="1" type="body"/>
          </p:nvPr>
        </p:nvSpPr>
        <p:spPr>
          <a:xfrm>
            <a:off x="216000" y="156024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3" name="Google Shape;103;p79"/>
          <p:cNvSpPr txBox="1"/>
          <p:nvPr>
            <p:ph idx="2" type="body"/>
          </p:nvPr>
        </p:nvSpPr>
        <p:spPr>
          <a:xfrm>
            <a:off x="216000" y="4430880"/>
            <a:ext cx="95760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4" name="Shape 104"/>
        <p:cNvGrpSpPr/>
        <p:nvPr/>
      </p:nvGrpSpPr>
      <p:grpSpPr>
        <a:xfrm>
          <a:off x="0" y="0"/>
          <a:ext cx="0" cy="0"/>
          <a:chOff x="0" y="0"/>
          <a:chExt cx="0" cy="0"/>
        </a:xfrm>
      </p:grpSpPr>
      <p:sp>
        <p:nvSpPr>
          <p:cNvPr id="105" name="Google Shape;105;p80"/>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80"/>
          <p:cNvSpPr txBox="1"/>
          <p:nvPr>
            <p:ph idx="1" type="body"/>
          </p:nvPr>
        </p:nvSpPr>
        <p:spPr>
          <a:xfrm>
            <a:off x="2160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80"/>
          <p:cNvSpPr txBox="1"/>
          <p:nvPr>
            <p:ph idx="2" type="body"/>
          </p:nvPr>
        </p:nvSpPr>
        <p:spPr>
          <a:xfrm>
            <a:off x="5122800" y="156024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80"/>
          <p:cNvSpPr txBox="1"/>
          <p:nvPr>
            <p:ph idx="3" type="body"/>
          </p:nvPr>
        </p:nvSpPr>
        <p:spPr>
          <a:xfrm>
            <a:off x="2160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80"/>
          <p:cNvSpPr txBox="1"/>
          <p:nvPr>
            <p:ph idx="4" type="body"/>
          </p:nvPr>
        </p:nvSpPr>
        <p:spPr>
          <a:xfrm>
            <a:off x="5122800" y="4430880"/>
            <a:ext cx="46728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10" name="Shape 110"/>
        <p:cNvGrpSpPr/>
        <p:nvPr/>
      </p:nvGrpSpPr>
      <p:grpSpPr>
        <a:xfrm>
          <a:off x="0" y="0"/>
          <a:ext cx="0" cy="0"/>
          <a:chOff x="0" y="0"/>
          <a:chExt cx="0" cy="0"/>
        </a:xfrm>
      </p:grpSpPr>
      <p:sp>
        <p:nvSpPr>
          <p:cNvPr id="111" name="Google Shape;111;p81"/>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81"/>
          <p:cNvSpPr txBox="1"/>
          <p:nvPr>
            <p:ph idx="1" type="body"/>
          </p:nvPr>
        </p:nvSpPr>
        <p:spPr>
          <a:xfrm>
            <a:off x="21600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81"/>
          <p:cNvSpPr txBox="1"/>
          <p:nvPr>
            <p:ph idx="2" type="body"/>
          </p:nvPr>
        </p:nvSpPr>
        <p:spPr>
          <a:xfrm>
            <a:off x="34538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81"/>
          <p:cNvSpPr txBox="1"/>
          <p:nvPr>
            <p:ph idx="3" type="body"/>
          </p:nvPr>
        </p:nvSpPr>
        <p:spPr>
          <a:xfrm>
            <a:off x="6692040" y="156024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81"/>
          <p:cNvSpPr txBox="1"/>
          <p:nvPr>
            <p:ph idx="4" type="body"/>
          </p:nvPr>
        </p:nvSpPr>
        <p:spPr>
          <a:xfrm>
            <a:off x="21600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81"/>
          <p:cNvSpPr txBox="1"/>
          <p:nvPr>
            <p:ph idx="5" type="body"/>
          </p:nvPr>
        </p:nvSpPr>
        <p:spPr>
          <a:xfrm>
            <a:off x="34538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7" name="Google Shape;117;p81"/>
          <p:cNvSpPr txBox="1"/>
          <p:nvPr>
            <p:ph idx="6" type="body"/>
          </p:nvPr>
        </p:nvSpPr>
        <p:spPr>
          <a:xfrm>
            <a:off x="6692040" y="4430880"/>
            <a:ext cx="3083400" cy="26211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1.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56"/>
          <p:cNvSpPr/>
          <p:nvPr/>
        </p:nvSpPr>
        <p:spPr>
          <a:xfrm>
            <a:off x="0" y="287280"/>
            <a:ext cx="501480" cy="1077840"/>
          </a:xfrm>
          <a:prstGeom prst="rect">
            <a:avLst/>
          </a:prstGeom>
          <a:solidFill>
            <a:srgbClr val="EF29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56"/>
          <p:cNvSpPr txBox="1"/>
          <p:nvPr>
            <p:ph type="title"/>
          </p:nvPr>
        </p:nvSpPr>
        <p:spPr>
          <a:xfrm>
            <a:off x="502920" y="301320"/>
            <a:ext cx="9070920" cy="126036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56"/>
          <p:cNvSpPr txBox="1"/>
          <p:nvPr>
            <p:ph idx="1" type="body"/>
          </p:nvPr>
        </p:nvSpPr>
        <p:spPr>
          <a:xfrm>
            <a:off x="502920" y="1768320"/>
            <a:ext cx="9070920" cy="4383360"/>
          </a:xfrm>
          <a:prstGeom prst="rect">
            <a:avLst/>
          </a:prstGeom>
          <a:noFill/>
          <a:ln>
            <a:noFill/>
          </a:ln>
        </p:spPr>
        <p:txBody>
          <a:bodyPr anchorCtr="0" anchor="t" bIns="0" lIns="0" spcFirstLastPara="1" rIns="0" wrap="square" tIns="89275">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 name="Shape 61"/>
        <p:cNvGrpSpPr/>
        <p:nvPr/>
      </p:nvGrpSpPr>
      <p:grpSpPr>
        <a:xfrm>
          <a:off x="0" y="0"/>
          <a:ext cx="0" cy="0"/>
          <a:chOff x="0" y="0"/>
          <a:chExt cx="0" cy="0"/>
        </a:xfrm>
      </p:grpSpPr>
      <p:sp>
        <p:nvSpPr>
          <p:cNvPr id="62" name="Google Shape;62;p58"/>
          <p:cNvSpPr/>
          <p:nvPr/>
        </p:nvSpPr>
        <p:spPr>
          <a:xfrm>
            <a:off x="59300" y="1423000"/>
            <a:ext cx="9938400" cy="5850600"/>
          </a:xfrm>
          <a:prstGeom prst="rect">
            <a:avLst/>
          </a:prstGeom>
          <a:solidFill>
            <a:schemeClr val="lt1"/>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 name="Google Shape;63;p58"/>
          <p:cNvPicPr preferRelativeResize="0"/>
          <p:nvPr/>
        </p:nvPicPr>
        <p:blipFill rotWithShape="1">
          <a:blip r:embed="rId1">
            <a:alphaModFix/>
          </a:blip>
          <a:srcRect b="0" l="0" r="0" t="0"/>
          <a:stretch/>
        </p:blipFill>
        <p:spPr>
          <a:xfrm>
            <a:off x="2279160" y="1777680"/>
            <a:ext cx="4704840" cy="3838320"/>
          </a:xfrm>
          <a:prstGeom prst="rect">
            <a:avLst/>
          </a:prstGeom>
          <a:noFill/>
          <a:ln>
            <a:noFill/>
          </a:ln>
        </p:spPr>
      </p:pic>
      <p:sp>
        <p:nvSpPr>
          <p:cNvPr id="64" name="Google Shape;64;p58"/>
          <p:cNvSpPr/>
          <p:nvPr/>
        </p:nvSpPr>
        <p:spPr>
          <a:xfrm>
            <a:off x="0" y="287280"/>
            <a:ext cx="501480" cy="1077840"/>
          </a:xfrm>
          <a:prstGeom prst="rect">
            <a:avLst/>
          </a:prstGeom>
          <a:solidFill>
            <a:srgbClr val="EF29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8"/>
          <p:cNvSpPr/>
          <p:nvPr/>
        </p:nvSpPr>
        <p:spPr>
          <a:xfrm>
            <a:off x="-19457" y="-12600"/>
            <a:ext cx="3387300" cy="3861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FCAIT – MSc (IT) Programme</a:t>
            </a:r>
            <a:endParaRPr b="0" i="0" sz="1400" u="none" cap="none" strike="noStrike">
              <a:solidFill>
                <a:srgbClr val="000000"/>
              </a:solidFill>
              <a:latin typeface="Arial"/>
              <a:ea typeface="Arial"/>
              <a:cs typeface="Arial"/>
              <a:sym typeface="Arial"/>
            </a:endParaRPr>
          </a:p>
        </p:txBody>
      </p:sp>
      <p:sp>
        <p:nvSpPr>
          <p:cNvPr id="66" name="Google Shape;66;p58"/>
          <p:cNvSpPr/>
          <p:nvPr/>
        </p:nvSpPr>
        <p:spPr>
          <a:xfrm>
            <a:off x="5413829" y="7273440"/>
            <a:ext cx="4388059" cy="165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Arial"/>
                <a:ea typeface="Arial"/>
                <a:cs typeface="Arial"/>
                <a:sym typeface="Arial"/>
              </a:rPr>
              <a:t>Subject : Object Oriented Analysis and Design </a:t>
            </a:r>
            <a:endParaRPr b="0" i="0" sz="1400" u="none" cap="none" strike="noStrike">
              <a:solidFill>
                <a:srgbClr val="000000"/>
              </a:solidFill>
              <a:latin typeface="Arial"/>
              <a:ea typeface="Arial"/>
              <a:cs typeface="Arial"/>
              <a:sym typeface="Arial"/>
            </a:endParaRPr>
          </a:p>
        </p:txBody>
      </p:sp>
      <p:sp>
        <p:nvSpPr>
          <p:cNvPr id="67" name="Google Shape;67;p58"/>
          <p:cNvSpPr txBox="1"/>
          <p:nvPr>
            <p:ph type="title"/>
          </p:nvPr>
        </p:nvSpPr>
        <p:spPr>
          <a:xfrm>
            <a:off x="719280" y="301320"/>
            <a:ext cx="8851680" cy="125892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rgbClr val="CC0000"/>
              </a:buClr>
              <a:buSzPts val="4400"/>
              <a:buFont typeface="Arial"/>
              <a:buNone/>
              <a:defRPr b="0" i="0" sz="4400" u="none" cap="none" strike="noStrike">
                <a:solidFill>
                  <a:srgbClr val="CC0000"/>
                </a:solidFill>
                <a:latin typeface="Arial"/>
                <a:ea typeface="Arial"/>
                <a:cs typeface="Arial"/>
                <a:sym typeface="Arial"/>
              </a:defRPr>
            </a:lvl1pPr>
            <a:lvl2pPr lvl="1"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2pPr>
            <a:lvl3pPr lvl="2"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3pPr>
            <a:lvl4pPr lvl="3"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4pPr>
            <a:lvl5pPr lvl="4"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5pPr>
            <a:lvl6pPr lvl="5"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6pPr>
            <a:lvl7pPr lvl="6"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7pPr>
            <a:lvl8pPr lvl="7"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8pPr>
            <a:lvl9pPr lvl="8" marR="0" rtl="0" algn="l">
              <a:lnSpc>
                <a:spcPct val="100000"/>
              </a:lnSpc>
              <a:spcBef>
                <a:spcPts val="0"/>
              </a:spcBef>
              <a:spcAft>
                <a:spcPts val="0"/>
              </a:spcAft>
              <a:buClr>
                <a:srgbClr val="CC0000"/>
              </a:buClr>
              <a:buSzPts val="1400"/>
              <a:buFont typeface="Arial"/>
              <a:buNone/>
              <a:defRPr b="0" i="0" sz="1800" u="none" cap="none" strike="noStrike">
                <a:solidFill>
                  <a:srgbClr val="CC0000"/>
                </a:solidFill>
                <a:latin typeface="Arial"/>
                <a:ea typeface="Arial"/>
                <a:cs typeface="Arial"/>
                <a:sym typeface="Arial"/>
              </a:defRPr>
            </a:lvl9pPr>
          </a:lstStyle>
          <a:p/>
        </p:txBody>
      </p:sp>
      <p:sp>
        <p:nvSpPr>
          <p:cNvPr id="68" name="Google Shape;68;p58"/>
          <p:cNvSpPr txBox="1"/>
          <p:nvPr>
            <p:ph idx="1" type="body"/>
          </p:nvPr>
        </p:nvSpPr>
        <p:spPr>
          <a:xfrm>
            <a:off x="216000" y="1560240"/>
            <a:ext cx="9576000" cy="54957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pic>
        <p:nvPicPr>
          <p:cNvPr id="69" name="Google Shape;69;p58"/>
          <p:cNvPicPr preferRelativeResize="0"/>
          <p:nvPr/>
        </p:nvPicPr>
        <p:blipFill rotWithShape="1">
          <a:blip r:embed="rId2">
            <a:alphaModFix/>
          </a:blip>
          <a:srcRect b="0" l="0" r="0" t="0"/>
          <a:stretch/>
        </p:blipFill>
        <p:spPr>
          <a:xfrm>
            <a:off x="7781600" y="106725"/>
            <a:ext cx="2215951" cy="73972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
          <p:cNvSpPr/>
          <p:nvPr/>
        </p:nvSpPr>
        <p:spPr>
          <a:xfrm>
            <a:off x="385920" y="301680"/>
            <a:ext cx="9186840" cy="58514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900"/>
              <a:buFont typeface="Arial"/>
              <a:buNone/>
            </a:pPr>
            <a:r>
              <a:rPr b="0" i="0" lang="en-US" sz="4900" u="none" cap="none" strike="noStrike">
                <a:solidFill>
                  <a:srgbClr val="D2533C"/>
                </a:solidFill>
                <a:latin typeface="Arial"/>
                <a:ea typeface="Arial"/>
                <a:cs typeface="Arial"/>
                <a:sym typeface="Arial"/>
              </a:rPr>
              <a:t>OBJECT ORIENTED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2273"/>
              </a:spcBef>
              <a:spcAft>
                <a:spcPts val="0"/>
              </a:spcAft>
              <a:buClr>
                <a:srgbClr val="000000"/>
              </a:buClr>
              <a:buSzPts val="4900"/>
              <a:buFont typeface="Arial"/>
              <a:buNone/>
            </a:pPr>
            <a:r>
              <a:rPr b="0" i="0" lang="en-US" sz="4900" u="none" cap="none" strike="noStrike">
                <a:solidFill>
                  <a:srgbClr val="D2533C"/>
                </a:solidFill>
                <a:latin typeface="Arial"/>
                <a:ea typeface="Arial"/>
                <a:cs typeface="Arial"/>
                <a:sym typeface="Arial"/>
              </a:rPr>
              <a:t>ANALYSIS AND DESIGN</a:t>
            </a:r>
            <a:endParaRPr b="0" i="0" sz="4900" u="none" cap="none" strike="noStrike">
              <a:solidFill>
                <a:srgbClr val="D2533C"/>
              </a:solidFill>
              <a:latin typeface="Arial"/>
              <a:ea typeface="Arial"/>
              <a:cs typeface="Arial"/>
              <a:sym typeface="Arial"/>
            </a:endParaRPr>
          </a:p>
          <a:p>
            <a:pPr indent="0" lvl="0" marL="0" marR="0" rtl="0" algn="ctr">
              <a:lnSpc>
                <a:spcPct val="100000"/>
              </a:lnSpc>
              <a:spcBef>
                <a:spcPts val="2273"/>
              </a:spcBef>
              <a:spcAft>
                <a:spcPts val="0"/>
              </a:spcAft>
              <a:buClr>
                <a:srgbClr val="000000"/>
              </a:buClr>
              <a:buSzPts val="4900"/>
              <a:buFont typeface="Arial"/>
              <a:buNone/>
            </a:pPr>
            <a:r>
              <a:rPr lang="en-US" sz="4900">
                <a:solidFill>
                  <a:srgbClr val="D2533C"/>
                </a:solidFill>
              </a:rPr>
              <a:t>Ch - 2</a:t>
            </a:r>
            <a:endParaRPr sz="4900">
              <a:solidFill>
                <a:srgbClr val="D2533C"/>
              </a:solidFill>
            </a:endParaRPr>
          </a:p>
        </p:txBody>
      </p:sp>
      <p:sp>
        <p:nvSpPr>
          <p:cNvPr id="123" name="Google Shape;123;p1"/>
          <p:cNvSpPr/>
          <p:nvPr/>
        </p:nvSpPr>
        <p:spPr>
          <a:xfrm>
            <a:off x="507865" y="6153120"/>
            <a:ext cx="9186840" cy="65880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A study material for the students of GLS University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
          <p:cNvSpPr txBox="1"/>
          <p:nvPr>
            <p:ph type="title"/>
          </p:nvPr>
        </p:nvSpPr>
        <p:spPr>
          <a:xfrm>
            <a:off x="504031" y="11854"/>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What is Unified Process?</a:t>
            </a:r>
            <a:endParaRPr/>
          </a:p>
        </p:txBody>
      </p:sp>
      <p:sp>
        <p:nvSpPr>
          <p:cNvPr id="129" name="Google Shape;129;p2"/>
          <p:cNvSpPr txBox="1"/>
          <p:nvPr>
            <p:ph idx="4294967295" type="body"/>
          </p:nvPr>
        </p:nvSpPr>
        <p:spPr>
          <a:xfrm>
            <a:off x="142425" y="1480800"/>
            <a:ext cx="9683700" cy="45981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400"/>
              <a:buChar char="•"/>
            </a:pPr>
            <a:r>
              <a:rPr lang="en-US" sz="2400"/>
              <a:t>The Unified Process (UP) is a method or way of developing software in a well-planned and organized manner.</a:t>
            </a:r>
            <a:endParaRPr/>
          </a:p>
          <a:p>
            <a:pPr indent="-228600" lvl="0" marL="228600" rtl="0" algn="l">
              <a:lnSpc>
                <a:spcPct val="90000"/>
              </a:lnSpc>
              <a:spcBef>
                <a:spcPts val="1000"/>
              </a:spcBef>
              <a:spcAft>
                <a:spcPts val="0"/>
              </a:spcAft>
              <a:buClr>
                <a:schemeClr val="dk1"/>
              </a:buClr>
              <a:buSzPts val="2400"/>
              <a:buChar char="•"/>
            </a:pPr>
            <a:r>
              <a:rPr lang="en-US" sz="2400"/>
              <a:t>It helps software teams to:</a:t>
            </a:r>
            <a:endParaRPr/>
          </a:p>
          <a:p>
            <a:pPr indent="-228600" lvl="0" marL="228600" rtl="0" algn="l">
              <a:lnSpc>
                <a:spcPct val="90000"/>
              </a:lnSpc>
              <a:spcBef>
                <a:spcPts val="1000"/>
              </a:spcBef>
              <a:spcAft>
                <a:spcPts val="0"/>
              </a:spcAft>
              <a:buClr>
                <a:schemeClr val="dk1"/>
              </a:buClr>
              <a:buSzPts val="2400"/>
              <a:buChar char="•"/>
            </a:pPr>
            <a:r>
              <a:rPr lang="en-US" sz="2400"/>
              <a:t>Understand what to build,</a:t>
            </a:r>
            <a:endParaRPr/>
          </a:p>
          <a:p>
            <a:pPr indent="-228600" lvl="0" marL="228600" rtl="0" algn="l">
              <a:lnSpc>
                <a:spcPct val="90000"/>
              </a:lnSpc>
              <a:spcBef>
                <a:spcPts val="1000"/>
              </a:spcBef>
              <a:spcAft>
                <a:spcPts val="0"/>
              </a:spcAft>
              <a:buClr>
                <a:schemeClr val="dk1"/>
              </a:buClr>
              <a:buSzPts val="2400"/>
              <a:buChar char="•"/>
            </a:pPr>
            <a:r>
              <a:rPr lang="en-US" sz="2400"/>
              <a:t>Design it properly,</a:t>
            </a:r>
            <a:endParaRPr/>
          </a:p>
          <a:p>
            <a:pPr indent="-228600" lvl="0" marL="228600" rtl="0" algn="l">
              <a:lnSpc>
                <a:spcPct val="90000"/>
              </a:lnSpc>
              <a:spcBef>
                <a:spcPts val="1000"/>
              </a:spcBef>
              <a:spcAft>
                <a:spcPts val="0"/>
              </a:spcAft>
              <a:buClr>
                <a:schemeClr val="dk1"/>
              </a:buClr>
              <a:buSzPts val="2400"/>
              <a:buChar char="•"/>
            </a:pPr>
            <a:r>
              <a:rPr lang="en-US" sz="2400"/>
              <a:t>Build it step by step,</a:t>
            </a:r>
            <a:endParaRPr/>
          </a:p>
          <a:p>
            <a:pPr indent="-228600" lvl="0" marL="228600" rtl="0" algn="l">
              <a:lnSpc>
                <a:spcPct val="90000"/>
              </a:lnSpc>
              <a:spcBef>
                <a:spcPts val="1000"/>
              </a:spcBef>
              <a:spcAft>
                <a:spcPts val="0"/>
              </a:spcAft>
              <a:buClr>
                <a:schemeClr val="dk1"/>
              </a:buClr>
              <a:buSzPts val="2400"/>
              <a:buChar char="•"/>
            </a:pPr>
            <a:r>
              <a:rPr lang="en-US" sz="2400"/>
              <a:t>And deliver it to users successfully.</a:t>
            </a:r>
            <a:endParaRPr sz="2400"/>
          </a:p>
          <a:p>
            <a:pPr indent="0" lvl="0" marL="0" rtl="0" algn="l">
              <a:lnSpc>
                <a:spcPct val="90000"/>
              </a:lnSpc>
              <a:spcBef>
                <a:spcPts val="0"/>
              </a:spcBef>
              <a:spcAft>
                <a:spcPts val="0"/>
              </a:spcAft>
              <a:buClr>
                <a:schemeClr val="dk1"/>
              </a:buClr>
              <a:buSzPts val="2400"/>
              <a:buNone/>
            </a:pPr>
            <a:r>
              <a:rPr lang="en-US" sz="2400"/>
              <a:t> SEP is the process in which user requirements convert into software</a:t>
            </a:r>
            <a:endParaRPr/>
          </a:p>
        </p:txBody>
      </p:sp>
      <p:pic>
        <p:nvPicPr>
          <p:cNvPr id="130" name="Google Shape;130;p2"/>
          <p:cNvPicPr preferRelativeResize="0"/>
          <p:nvPr/>
        </p:nvPicPr>
        <p:blipFill rotWithShape="1">
          <a:blip r:embed="rId3">
            <a:alphaModFix/>
          </a:blip>
          <a:srcRect b="0" l="0" r="0" t="0"/>
          <a:stretch/>
        </p:blipFill>
        <p:spPr>
          <a:xfrm>
            <a:off x="504030" y="4857212"/>
            <a:ext cx="8482314" cy="216247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3"/>
          <p:cNvSpPr txBox="1"/>
          <p:nvPr>
            <p:ph idx="4294967295" type="body"/>
          </p:nvPr>
        </p:nvSpPr>
        <p:spPr>
          <a:xfrm>
            <a:off x="504013" y="1863948"/>
            <a:ext cx="9072600" cy="49446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UML project was meant to provide both visual language and software engineering process</a:t>
            </a:r>
            <a:endParaRPr/>
          </a:p>
          <a:p>
            <a:pPr indent="-50800" lvl="0" marL="228600" rtl="0" algn="l">
              <a:lnSpc>
                <a:spcPct val="90000"/>
              </a:lnSpc>
              <a:spcBef>
                <a:spcPts val="1200"/>
              </a:spcBef>
              <a:spcAft>
                <a:spcPts val="0"/>
              </a:spcAft>
              <a:buClr>
                <a:schemeClr val="dk1"/>
              </a:buClr>
              <a:buSzPts val="2800"/>
              <a:buNone/>
            </a:pPr>
            <a:r>
              <a:t/>
            </a:r>
            <a:endParaRPr/>
          </a:p>
          <a:p>
            <a:pPr indent="-228600" lvl="0" marL="228600" rtl="0" algn="l">
              <a:lnSpc>
                <a:spcPct val="90000"/>
              </a:lnSpc>
              <a:spcBef>
                <a:spcPts val="1200"/>
              </a:spcBef>
              <a:spcAft>
                <a:spcPts val="0"/>
              </a:spcAft>
              <a:buClr>
                <a:schemeClr val="dk1"/>
              </a:buClr>
              <a:buSzPts val="2800"/>
              <a:buChar char="•"/>
            </a:pPr>
            <a:r>
              <a:rPr lang="en-US"/>
              <a:t> UML is visual language and UP is the process part</a:t>
            </a:r>
            <a:endParaRPr/>
          </a:p>
          <a:p>
            <a:pPr indent="-50800" lvl="0" marL="228600" rtl="0" algn="l">
              <a:lnSpc>
                <a:spcPct val="90000"/>
              </a:lnSpc>
              <a:spcBef>
                <a:spcPts val="1200"/>
              </a:spcBef>
              <a:spcAft>
                <a:spcPts val="0"/>
              </a:spcAft>
              <a:buClr>
                <a:schemeClr val="dk1"/>
              </a:buClr>
              <a:buSzPts val="2800"/>
              <a:buNone/>
            </a:pPr>
            <a:r>
              <a:t/>
            </a:r>
            <a:endParaRPr/>
          </a:p>
          <a:p>
            <a:pPr indent="-228600" lvl="0" marL="228600" rtl="0" algn="l">
              <a:lnSpc>
                <a:spcPct val="90000"/>
              </a:lnSpc>
              <a:spcBef>
                <a:spcPts val="1200"/>
              </a:spcBef>
              <a:spcAft>
                <a:spcPts val="0"/>
              </a:spcAft>
              <a:buClr>
                <a:schemeClr val="dk1"/>
              </a:buClr>
              <a:buSzPts val="2800"/>
              <a:buChar char="•"/>
            </a:pPr>
            <a:r>
              <a:rPr lang="en-US"/>
              <a:t> UP is based on process work conducted by Ericsson approach at Rational </a:t>
            </a:r>
            <a:endParaRPr/>
          </a:p>
          <a:p>
            <a:pPr indent="-50800" lvl="0" marL="228600" rtl="0" algn="l">
              <a:lnSpc>
                <a:spcPct val="90000"/>
              </a:lnSpc>
              <a:spcBef>
                <a:spcPts val="1200"/>
              </a:spcBef>
              <a:spcAft>
                <a:spcPts val="0"/>
              </a:spcAft>
              <a:buClr>
                <a:schemeClr val="dk1"/>
              </a:buClr>
              <a:buSzPts val="2800"/>
              <a:buNone/>
            </a:pPr>
            <a:r>
              <a:t/>
            </a:r>
            <a:endParaRPr/>
          </a:p>
          <a:p>
            <a:pPr indent="-228600" lvl="0" marL="228600" rtl="0" algn="l">
              <a:lnSpc>
                <a:spcPct val="90000"/>
              </a:lnSpc>
              <a:spcBef>
                <a:spcPts val="1200"/>
              </a:spcBef>
              <a:spcAft>
                <a:spcPts val="0"/>
              </a:spcAft>
              <a:buClr>
                <a:schemeClr val="dk1"/>
              </a:buClr>
              <a:buSzPts val="2800"/>
              <a:buChar char="•"/>
            </a:pPr>
            <a:r>
              <a:rPr lang="en-US"/>
              <a:t>UP method for developing software and incorporates best practice from its predecessors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4"/>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The Birth of UP</a:t>
            </a:r>
            <a:endParaRPr/>
          </a:p>
        </p:txBody>
      </p:sp>
      <p:sp>
        <p:nvSpPr>
          <p:cNvPr id="141" name="Google Shape;141;p4"/>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287655" lvl="0" marL="300355" rtl="0" algn="l">
              <a:lnSpc>
                <a:spcPct val="100000"/>
              </a:lnSpc>
              <a:spcBef>
                <a:spcPts val="0"/>
              </a:spcBef>
              <a:spcAft>
                <a:spcPts val="0"/>
              </a:spcAft>
              <a:buClr>
                <a:schemeClr val="dk1"/>
              </a:buClr>
              <a:buSzPts val="2800"/>
              <a:buChar char="•"/>
            </a:pPr>
            <a:r>
              <a:rPr lang="en-US">
                <a:latin typeface="Arial"/>
                <a:ea typeface="Arial"/>
                <a:cs typeface="Arial"/>
                <a:sym typeface="Arial"/>
              </a:rPr>
              <a:t>Iva</a:t>
            </a:r>
            <a:r>
              <a:rPr lang="en-US"/>
              <a:t>r</a:t>
            </a:r>
            <a:r>
              <a:rPr lang="en-US">
                <a:latin typeface="Arial"/>
                <a:ea typeface="Arial"/>
                <a:cs typeface="Arial"/>
                <a:sym typeface="Arial"/>
              </a:rPr>
              <a:t> Jacobson, father of UP</a:t>
            </a:r>
            <a:endParaRPr>
              <a:latin typeface="Arial"/>
              <a:ea typeface="Arial"/>
              <a:cs typeface="Arial"/>
              <a:sym typeface="Arial"/>
            </a:endParaRPr>
          </a:p>
          <a:p>
            <a:pPr indent="-50800" lvl="0" marL="228600" rtl="0" algn="l">
              <a:lnSpc>
                <a:spcPct val="100000"/>
              </a:lnSpc>
              <a:spcBef>
                <a:spcPts val="125"/>
              </a:spcBef>
              <a:spcAft>
                <a:spcPts val="0"/>
              </a:spcAft>
              <a:buClr>
                <a:schemeClr val="dk1"/>
              </a:buClr>
              <a:buSzPts val="2800"/>
              <a:buFont typeface="Arial"/>
              <a:buNone/>
            </a:pPr>
            <a:r>
              <a:t/>
            </a:r>
            <a:endParaRPr>
              <a:latin typeface="Arial"/>
              <a:ea typeface="Arial"/>
              <a:cs typeface="Arial"/>
              <a:sym typeface="Arial"/>
            </a:endParaRPr>
          </a:p>
          <a:p>
            <a:pPr indent="-265430" lvl="0" marL="277495" marR="442594" rtl="0" algn="l">
              <a:lnSpc>
                <a:spcPct val="100000"/>
              </a:lnSpc>
              <a:spcBef>
                <a:spcPts val="1000"/>
              </a:spcBef>
              <a:spcAft>
                <a:spcPts val="0"/>
              </a:spcAft>
              <a:buClr>
                <a:schemeClr val="dk1"/>
              </a:buClr>
              <a:buSzPts val="2800"/>
              <a:buChar char="•"/>
            </a:pPr>
            <a:r>
              <a:rPr lang="en-US">
                <a:latin typeface="Arial"/>
                <a:ea typeface="Arial"/>
                <a:cs typeface="Arial"/>
                <a:sym typeface="Arial"/>
              </a:rPr>
              <a:t>	In 1967 the </a:t>
            </a:r>
            <a:r>
              <a:rPr b="1" lang="en-US"/>
              <a:t>Ericsson Approach</a:t>
            </a:r>
            <a:r>
              <a:rPr lang="en-US">
                <a:latin typeface="Arial"/>
                <a:ea typeface="Arial"/>
                <a:cs typeface="Arial"/>
                <a:sym typeface="Arial"/>
              </a:rPr>
              <a:t>, modeling a complex system as a set of interconnected blocks</a:t>
            </a:r>
            <a:endParaRPr>
              <a:latin typeface="Arial"/>
              <a:ea typeface="Arial"/>
              <a:cs typeface="Arial"/>
              <a:sym typeface="Arial"/>
            </a:endParaRPr>
          </a:p>
          <a:p>
            <a:pPr indent="-50800" lvl="0" marL="228600" rtl="0" algn="l">
              <a:lnSpc>
                <a:spcPct val="100000"/>
              </a:lnSpc>
              <a:spcBef>
                <a:spcPts val="125"/>
              </a:spcBef>
              <a:spcAft>
                <a:spcPts val="0"/>
              </a:spcAft>
              <a:buClr>
                <a:schemeClr val="dk1"/>
              </a:buClr>
              <a:buSzPts val="2800"/>
              <a:buFont typeface="Arial"/>
              <a:buNone/>
            </a:pPr>
            <a:r>
              <a:t/>
            </a:r>
            <a:endParaRPr>
              <a:latin typeface="Arial"/>
              <a:ea typeface="Arial"/>
              <a:cs typeface="Arial"/>
              <a:sym typeface="Arial"/>
            </a:endParaRPr>
          </a:p>
          <a:p>
            <a:pPr indent="-265430" lvl="0" marL="277495" marR="445134" rtl="0" algn="l">
              <a:lnSpc>
                <a:spcPct val="100000"/>
              </a:lnSpc>
              <a:spcBef>
                <a:spcPts val="1000"/>
              </a:spcBef>
              <a:spcAft>
                <a:spcPts val="0"/>
              </a:spcAft>
              <a:buClr>
                <a:schemeClr val="dk1"/>
              </a:buClr>
              <a:buSzPts val="2800"/>
              <a:buChar char="•"/>
            </a:pPr>
            <a:r>
              <a:rPr lang="en-US">
                <a:latin typeface="Arial"/>
                <a:ea typeface="Arial"/>
                <a:cs typeface="Arial"/>
                <a:sym typeface="Arial"/>
              </a:rPr>
              <a:t>	Small blocks were interconnected to form large blocks building up to a complete system</a:t>
            </a:r>
            <a:endParaRPr>
              <a:latin typeface="Arial"/>
              <a:ea typeface="Arial"/>
              <a:cs typeface="Arial"/>
              <a:sym typeface="Arial"/>
            </a:endParaRPr>
          </a:p>
          <a:p>
            <a:pPr indent="-50800" lvl="0" marL="228600" rtl="0" algn="l">
              <a:lnSpc>
                <a:spcPct val="100000"/>
              </a:lnSpc>
              <a:spcBef>
                <a:spcPts val="130"/>
              </a:spcBef>
              <a:spcAft>
                <a:spcPts val="0"/>
              </a:spcAft>
              <a:buClr>
                <a:schemeClr val="dk1"/>
              </a:buClr>
              <a:buSzPts val="2800"/>
              <a:buFont typeface="Arial"/>
              <a:buNone/>
            </a:pPr>
            <a:r>
              <a:t/>
            </a:r>
            <a:endParaRPr>
              <a:latin typeface="Arial"/>
              <a:ea typeface="Arial"/>
              <a:cs typeface="Arial"/>
              <a:sym typeface="Arial"/>
            </a:endParaRPr>
          </a:p>
          <a:p>
            <a:pPr indent="-265430" lvl="0" marL="277495" marR="5080" rtl="0" algn="l">
              <a:lnSpc>
                <a:spcPct val="100000"/>
              </a:lnSpc>
              <a:spcBef>
                <a:spcPts val="1000"/>
              </a:spcBef>
              <a:spcAft>
                <a:spcPts val="0"/>
              </a:spcAft>
              <a:buClr>
                <a:schemeClr val="dk1"/>
              </a:buClr>
              <a:buSzPts val="2800"/>
              <a:buChar char="•"/>
            </a:pPr>
            <a:r>
              <a:rPr lang="en-US">
                <a:latin typeface="Arial"/>
                <a:ea typeface="Arial"/>
                <a:cs typeface="Arial"/>
                <a:sym typeface="Arial"/>
              </a:rPr>
              <a:t>	The basis of this approach was “Divide and conquer” and now as component-based development</a:t>
            </a:r>
            <a:endParaRPr>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5"/>
          <p:cNvPicPr preferRelativeResize="0"/>
          <p:nvPr/>
        </p:nvPicPr>
        <p:blipFill rotWithShape="1">
          <a:blip r:embed="rId3">
            <a:alphaModFix/>
          </a:blip>
          <a:srcRect b="0" l="0" r="0" t="0"/>
          <a:stretch/>
        </p:blipFill>
        <p:spPr>
          <a:xfrm>
            <a:off x="386545" y="1792611"/>
            <a:ext cx="7756592" cy="444519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idx="4294967295" type="body"/>
          </p:nvPr>
        </p:nvSpPr>
        <p:spPr>
          <a:xfrm>
            <a:off x="504025" y="1883424"/>
            <a:ext cx="9072600" cy="4584300"/>
          </a:xfrm>
          <a:prstGeom prst="rect">
            <a:avLst/>
          </a:prstGeom>
          <a:noFill/>
          <a:ln>
            <a:noFill/>
          </a:ln>
        </p:spPr>
        <p:txBody>
          <a:bodyPr anchorCtr="0" anchor="t" bIns="50375" lIns="100775" spcFirstLastPara="1" rIns="100775" wrap="square" tIns="50375">
            <a:normAutofit fontScale="85000" lnSpcReduction="20000"/>
          </a:bodyPr>
          <a:lstStyle/>
          <a:p>
            <a:pPr indent="-252095" lvl="0" marL="277495" marR="36830" rtl="0" algn="l">
              <a:lnSpc>
                <a:spcPct val="100000"/>
              </a:lnSpc>
              <a:spcBef>
                <a:spcPts val="0"/>
              </a:spcBef>
              <a:spcAft>
                <a:spcPts val="0"/>
              </a:spcAft>
              <a:buClr>
                <a:schemeClr val="dk1"/>
              </a:buClr>
              <a:buSzPct val="100000"/>
              <a:buChar char="•"/>
            </a:pPr>
            <a:r>
              <a:rPr lang="en-US">
                <a:latin typeface="Arial"/>
                <a:ea typeface="Arial"/>
                <a:cs typeface="Arial"/>
                <a:sym typeface="Arial"/>
              </a:rPr>
              <a:t>	Another Ericsson innovation was, these blocks creating “traffic cases” that described how system to be used – which called use cases in UML</a:t>
            </a:r>
            <a:endParaRPr>
              <a:latin typeface="Arial"/>
              <a:ea typeface="Arial"/>
              <a:cs typeface="Arial"/>
              <a:sym typeface="Arial"/>
            </a:endParaRPr>
          </a:p>
          <a:p>
            <a:pPr indent="-64135" lvl="0" marL="228600" rtl="0" algn="l">
              <a:lnSpc>
                <a:spcPct val="100000"/>
              </a:lnSpc>
              <a:spcBef>
                <a:spcPts val="125"/>
              </a:spcBef>
              <a:spcAft>
                <a:spcPts val="0"/>
              </a:spcAft>
              <a:buClr>
                <a:schemeClr val="dk1"/>
              </a:buClr>
              <a:buSzPct val="100000"/>
              <a:buFont typeface="Arial"/>
              <a:buNone/>
            </a:pPr>
            <a:r>
              <a:t/>
            </a:r>
            <a:endParaRPr>
              <a:latin typeface="Arial"/>
              <a:ea typeface="Arial"/>
              <a:cs typeface="Arial"/>
              <a:sym typeface="Arial"/>
            </a:endParaRPr>
          </a:p>
          <a:p>
            <a:pPr indent="-252095" lvl="0" marL="277495" marR="5080" rtl="0" algn="l">
              <a:lnSpc>
                <a:spcPct val="100000"/>
              </a:lnSpc>
              <a:spcBef>
                <a:spcPts val="1000"/>
              </a:spcBef>
              <a:spcAft>
                <a:spcPts val="0"/>
              </a:spcAft>
              <a:buClr>
                <a:schemeClr val="dk1"/>
              </a:buClr>
              <a:buSzPct val="100000"/>
              <a:buChar char="•"/>
            </a:pPr>
            <a:r>
              <a:rPr lang="en-US">
                <a:latin typeface="Arial"/>
                <a:ea typeface="Arial"/>
                <a:cs typeface="Arial"/>
                <a:sym typeface="Arial"/>
              </a:rPr>
              <a:t>	The result of this process was an architecture representation that described the blocks and how they fitted together</a:t>
            </a:r>
            <a:endParaRPr>
              <a:latin typeface="Arial"/>
              <a:ea typeface="Arial"/>
              <a:cs typeface="Arial"/>
              <a:sym typeface="Arial"/>
            </a:endParaRPr>
          </a:p>
          <a:p>
            <a:pPr indent="-64135" lvl="0" marL="228600" rtl="0" algn="l">
              <a:lnSpc>
                <a:spcPct val="100000"/>
              </a:lnSpc>
              <a:spcBef>
                <a:spcPts val="130"/>
              </a:spcBef>
              <a:spcAft>
                <a:spcPts val="0"/>
              </a:spcAft>
              <a:buClr>
                <a:schemeClr val="dk1"/>
              </a:buClr>
              <a:buSzPct val="100000"/>
              <a:buFont typeface="Arial"/>
              <a:buNone/>
            </a:pPr>
            <a:r>
              <a:t/>
            </a:r>
            <a:endParaRPr>
              <a:latin typeface="Arial"/>
              <a:ea typeface="Arial"/>
              <a:cs typeface="Arial"/>
              <a:sym typeface="Arial"/>
            </a:endParaRPr>
          </a:p>
          <a:p>
            <a:pPr indent="-252095" lvl="0" marL="277495" marR="151765" rtl="0" algn="l">
              <a:lnSpc>
                <a:spcPct val="100000"/>
              </a:lnSpc>
              <a:spcBef>
                <a:spcPts val="1000"/>
              </a:spcBef>
              <a:spcAft>
                <a:spcPts val="0"/>
              </a:spcAft>
              <a:buClr>
                <a:schemeClr val="dk1"/>
              </a:buClr>
              <a:buSzPct val="100000"/>
              <a:buChar char="•"/>
            </a:pPr>
            <a:r>
              <a:rPr lang="en-US">
                <a:latin typeface="Arial"/>
                <a:ea typeface="Arial"/>
                <a:cs typeface="Arial"/>
                <a:sym typeface="Arial"/>
              </a:rPr>
              <a:t>	The requirement view (traffic cases) and static view (architecture description), Ericsson had a dynamic view that described how all the blocks communicated with each other</a:t>
            </a:r>
            <a:endParaRPr>
              <a:latin typeface="Arial"/>
              <a:ea typeface="Arial"/>
              <a:cs typeface="Arial"/>
              <a:sym typeface="Arial"/>
            </a:endParaRPr>
          </a:p>
          <a:p>
            <a:pPr indent="-64135" lvl="0" marL="228600" rtl="0" algn="l">
              <a:lnSpc>
                <a:spcPct val="100000"/>
              </a:lnSpc>
              <a:spcBef>
                <a:spcPts val="125"/>
              </a:spcBef>
              <a:spcAft>
                <a:spcPts val="0"/>
              </a:spcAft>
              <a:buClr>
                <a:schemeClr val="dk1"/>
              </a:buClr>
              <a:buSzPct val="100000"/>
              <a:buFont typeface="Arial"/>
              <a:buNone/>
            </a:pPr>
            <a:r>
              <a:t/>
            </a:r>
            <a:endParaRPr>
              <a:latin typeface="Arial"/>
              <a:ea typeface="Arial"/>
              <a:cs typeface="Arial"/>
              <a:sym typeface="Arial"/>
            </a:endParaRPr>
          </a:p>
          <a:p>
            <a:pPr indent="-252095" lvl="0" marL="277495" marR="26034" rtl="0" algn="l">
              <a:lnSpc>
                <a:spcPct val="100000"/>
              </a:lnSpc>
              <a:spcBef>
                <a:spcPts val="1000"/>
              </a:spcBef>
              <a:spcAft>
                <a:spcPts val="0"/>
              </a:spcAft>
              <a:buClr>
                <a:schemeClr val="dk1"/>
              </a:buClr>
              <a:buSzPct val="100000"/>
              <a:buChar char="•"/>
            </a:pPr>
            <a:r>
              <a:rPr lang="en-US">
                <a:latin typeface="Arial"/>
                <a:ea typeface="Arial"/>
                <a:cs typeface="Arial"/>
                <a:sym typeface="Arial"/>
              </a:rPr>
              <a:t>	This consist of sequence, communication and state machine diagram</a:t>
            </a:r>
            <a:endParaRPr>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txBox="1"/>
          <p:nvPr>
            <p:ph idx="4294967295" type="body"/>
          </p:nvPr>
        </p:nvSpPr>
        <p:spPr>
          <a:xfrm>
            <a:off x="120625" y="1513225"/>
            <a:ext cx="9839400" cy="1734000"/>
          </a:xfrm>
          <a:prstGeom prst="rect">
            <a:avLst/>
          </a:prstGeom>
          <a:noFill/>
          <a:ln>
            <a:noFill/>
          </a:ln>
        </p:spPr>
        <p:txBody>
          <a:bodyPr anchorCtr="0" anchor="t" bIns="50375" lIns="100775" spcFirstLastPara="1" rIns="100775" wrap="square" tIns="50375">
            <a:normAutofit fontScale="85000" lnSpcReduction="20000"/>
          </a:bodyPr>
          <a:lstStyle/>
          <a:p>
            <a:pPr indent="-238760" lvl="0" marL="277495" marR="5080" rtl="0" algn="l">
              <a:lnSpc>
                <a:spcPct val="100000"/>
              </a:lnSpc>
              <a:spcBef>
                <a:spcPts val="0"/>
              </a:spcBef>
              <a:spcAft>
                <a:spcPts val="0"/>
              </a:spcAft>
              <a:buClr>
                <a:schemeClr val="dk1"/>
              </a:buClr>
              <a:buSzPct val="100000"/>
              <a:buChar char="•"/>
            </a:pPr>
            <a:r>
              <a:rPr lang="en-US">
                <a:latin typeface="Arial"/>
                <a:ea typeface="Arial"/>
                <a:cs typeface="Arial"/>
                <a:sym typeface="Arial"/>
              </a:rPr>
              <a:t>	Next development in 1980s of Specification &amp; Description Language (SDL) was one of the first object-based visual modeling language</a:t>
            </a:r>
            <a:endParaRPr>
              <a:latin typeface="Arial"/>
              <a:ea typeface="Arial"/>
              <a:cs typeface="Arial"/>
              <a:sym typeface="Arial"/>
            </a:endParaRPr>
          </a:p>
          <a:p>
            <a:pPr indent="-50800" lvl="0" marL="228600" rtl="0" algn="l">
              <a:lnSpc>
                <a:spcPct val="100000"/>
              </a:lnSpc>
              <a:spcBef>
                <a:spcPts val="125"/>
              </a:spcBef>
              <a:spcAft>
                <a:spcPts val="0"/>
              </a:spcAft>
              <a:buClr>
                <a:schemeClr val="dk1"/>
              </a:buClr>
              <a:buSzPct val="100000"/>
              <a:buFont typeface="Arial"/>
              <a:buNone/>
            </a:pPr>
            <a:r>
              <a:t/>
            </a:r>
            <a:endParaRPr>
              <a:latin typeface="Arial"/>
              <a:ea typeface="Arial"/>
              <a:cs typeface="Arial"/>
              <a:sym typeface="Arial"/>
            </a:endParaRPr>
          </a:p>
          <a:p>
            <a:pPr indent="-238760" lvl="0" marL="277495" marR="296545" rtl="0" algn="l">
              <a:lnSpc>
                <a:spcPct val="100000"/>
              </a:lnSpc>
              <a:spcBef>
                <a:spcPts val="1000"/>
              </a:spcBef>
              <a:spcAft>
                <a:spcPts val="0"/>
              </a:spcAft>
              <a:buClr>
                <a:schemeClr val="dk1"/>
              </a:buClr>
              <a:buSzPct val="100000"/>
              <a:buChar char="•"/>
            </a:pPr>
            <a:r>
              <a:rPr lang="en-US">
                <a:latin typeface="Arial"/>
                <a:ea typeface="Arial"/>
                <a:cs typeface="Arial"/>
                <a:sym typeface="Arial"/>
              </a:rPr>
              <a:t>	In 1992 it was extended to become object-oriented with classes and inheritance</a:t>
            </a:r>
            <a:endParaRPr>
              <a:latin typeface="Arial"/>
              <a:ea typeface="Arial"/>
              <a:cs typeface="Arial"/>
              <a:sym typeface="Arial"/>
            </a:endParaRPr>
          </a:p>
        </p:txBody>
      </p:sp>
      <p:pic>
        <p:nvPicPr>
          <p:cNvPr id="157" name="Google Shape;157;p7"/>
          <p:cNvPicPr preferRelativeResize="0"/>
          <p:nvPr/>
        </p:nvPicPr>
        <p:blipFill rotWithShape="1">
          <a:blip r:embed="rId3">
            <a:alphaModFix/>
          </a:blip>
          <a:srcRect b="0" l="0" r="0" t="0"/>
          <a:stretch/>
        </p:blipFill>
        <p:spPr>
          <a:xfrm>
            <a:off x="259184" y="3374566"/>
            <a:ext cx="6984334" cy="37473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idx="4294967295" type="body"/>
          </p:nvPr>
        </p:nvSpPr>
        <p:spPr>
          <a:xfrm>
            <a:off x="173100" y="1451750"/>
            <a:ext cx="9731100" cy="5375700"/>
          </a:xfrm>
          <a:prstGeom prst="rect">
            <a:avLst/>
          </a:prstGeom>
          <a:noFill/>
          <a:ln>
            <a:noFill/>
          </a:ln>
        </p:spPr>
        <p:txBody>
          <a:bodyPr anchorCtr="0" anchor="t" bIns="50375" lIns="100775" spcFirstLastPara="1" rIns="100775" wrap="square" tIns="50375">
            <a:normAutofit/>
          </a:bodyPr>
          <a:lstStyle/>
          <a:p>
            <a:pPr indent="-265430" lvl="0" marL="277495" marR="5080" rtl="0" algn="l">
              <a:lnSpc>
                <a:spcPct val="100000"/>
              </a:lnSpc>
              <a:spcBef>
                <a:spcPts val="0"/>
              </a:spcBef>
              <a:spcAft>
                <a:spcPts val="0"/>
              </a:spcAft>
              <a:buClr>
                <a:schemeClr val="dk1"/>
              </a:buClr>
              <a:buSzPts val="2400"/>
              <a:buChar char="•"/>
            </a:pPr>
            <a:r>
              <a:rPr lang="en-US" sz="2400">
                <a:latin typeface="Arial"/>
                <a:ea typeface="Arial"/>
                <a:cs typeface="Arial"/>
                <a:sym typeface="Arial"/>
              </a:rPr>
              <a:t>	In 1987, company develop and sold a software engineering process, based on Ericsson approach called Objectory</a:t>
            </a:r>
            <a:endParaRPr sz="2400">
              <a:latin typeface="Arial"/>
              <a:ea typeface="Arial"/>
              <a:cs typeface="Arial"/>
              <a:sym typeface="Arial"/>
            </a:endParaRPr>
          </a:p>
          <a:p>
            <a:pPr indent="-76200" lvl="0" marL="228600" rtl="0" algn="l">
              <a:lnSpc>
                <a:spcPct val="100000"/>
              </a:lnSpc>
              <a:spcBef>
                <a:spcPts val="125"/>
              </a:spcBef>
              <a:spcAft>
                <a:spcPts val="0"/>
              </a:spcAft>
              <a:buClr>
                <a:schemeClr val="dk1"/>
              </a:buClr>
              <a:buSzPts val="2400"/>
              <a:buFont typeface="Arial"/>
              <a:buNone/>
            </a:pPr>
            <a:r>
              <a:t/>
            </a:r>
            <a:endParaRPr sz="2400">
              <a:latin typeface="Arial"/>
              <a:ea typeface="Arial"/>
              <a:cs typeface="Arial"/>
              <a:sym typeface="Arial"/>
            </a:endParaRPr>
          </a:p>
          <a:p>
            <a:pPr indent="-265430" lvl="0" marL="277495" marR="235584" rtl="0" algn="l">
              <a:lnSpc>
                <a:spcPct val="100000"/>
              </a:lnSpc>
              <a:spcBef>
                <a:spcPts val="1000"/>
              </a:spcBef>
              <a:spcAft>
                <a:spcPts val="0"/>
              </a:spcAft>
              <a:buClr>
                <a:schemeClr val="dk1"/>
              </a:buClr>
              <a:buSzPts val="2400"/>
              <a:buChar char="•"/>
            </a:pPr>
            <a:r>
              <a:rPr lang="en-US" sz="2400">
                <a:latin typeface="Arial"/>
                <a:ea typeface="Arial"/>
                <a:cs typeface="Arial"/>
                <a:sym typeface="Arial"/>
              </a:rPr>
              <a:t>	It basically consist of Documentation and tools needed by objectory</a:t>
            </a:r>
            <a:endParaRPr sz="2400">
              <a:latin typeface="Arial"/>
              <a:ea typeface="Arial"/>
              <a:cs typeface="Arial"/>
              <a:sym typeface="Arial"/>
            </a:endParaRPr>
          </a:p>
        </p:txBody>
      </p:sp>
      <p:pic>
        <p:nvPicPr>
          <p:cNvPr id="163" name="Google Shape;163;p8"/>
          <p:cNvPicPr preferRelativeResize="0"/>
          <p:nvPr/>
        </p:nvPicPr>
        <p:blipFill rotWithShape="1">
          <a:blip r:embed="rId3">
            <a:alphaModFix/>
          </a:blip>
          <a:srcRect b="0" l="0" r="0" t="0"/>
          <a:stretch/>
        </p:blipFill>
        <p:spPr>
          <a:xfrm>
            <a:off x="173088" y="3468473"/>
            <a:ext cx="7799377" cy="36254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9"/>
          <p:cNvSpPr txBox="1"/>
          <p:nvPr>
            <p:ph idx="4294967295" type="body"/>
          </p:nvPr>
        </p:nvSpPr>
        <p:spPr>
          <a:xfrm>
            <a:off x="318225" y="1552200"/>
            <a:ext cx="9258300" cy="4704600"/>
          </a:xfrm>
          <a:prstGeom prst="rect">
            <a:avLst/>
          </a:prstGeom>
          <a:noFill/>
          <a:ln>
            <a:noFill/>
          </a:ln>
        </p:spPr>
        <p:txBody>
          <a:bodyPr anchorCtr="0" anchor="t" bIns="50375" lIns="100775" spcFirstLastPara="1" rIns="100775" wrap="square" tIns="50375">
            <a:normAutofit/>
          </a:bodyPr>
          <a:lstStyle/>
          <a:p>
            <a:pPr indent="-252730" lvl="0" marL="277495" marR="5080" rtl="0" algn="l">
              <a:lnSpc>
                <a:spcPct val="100000"/>
              </a:lnSpc>
              <a:spcBef>
                <a:spcPts val="0"/>
              </a:spcBef>
              <a:spcAft>
                <a:spcPts val="0"/>
              </a:spcAft>
              <a:buClr>
                <a:schemeClr val="dk1"/>
              </a:buClr>
              <a:buSzPts val="2600"/>
              <a:buChar char="•"/>
            </a:pPr>
            <a:r>
              <a:rPr lang="en-US" sz="2600">
                <a:latin typeface="Arial"/>
                <a:ea typeface="Arial"/>
                <a:cs typeface="Arial"/>
                <a:sym typeface="Arial"/>
              </a:rPr>
              <a:t>	Objectory acquired by Rational in 1995, objectory process with large amount of process related work that already been done by rational</a:t>
            </a:r>
            <a:endParaRPr sz="2600">
              <a:latin typeface="Arial"/>
              <a:ea typeface="Arial"/>
              <a:cs typeface="Arial"/>
              <a:sym typeface="Arial"/>
            </a:endParaRPr>
          </a:p>
          <a:p>
            <a:pPr indent="-274955" lvl="0" marL="300355" rtl="0" algn="l">
              <a:lnSpc>
                <a:spcPct val="100000"/>
              </a:lnSpc>
              <a:spcBef>
                <a:spcPts val="1000"/>
              </a:spcBef>
              <a:spcAft>
                <a:spcPts val="0"/>
              </a:spcAft>
              <a:buClr>
                <a:schemeClr val="dk1"/>
              </a:buClr>
              <a:buSzPts val="2600"/>
              <a:buChar char="•"/>
            </a:pPr>
            <a:r>
              <a:rPr lang="en-US" sz="2600">
                <a:latin typeface="Arial"/>
                <a:ea typeface="Arial"/>
                <a:cs typeface="Arial"/>
                <a:sym typeface="Arial"/>
              </a:rPr>
              <a:t>“4+1 view” was developed</a:t>
            </a:r>
            <a:endParaRPr sz="2600">
              <a:latin typeface="Arial"/>
              <a:ea typeface="Arial"/>
              <a:cs typeface="Arial"/>
              <a:sym typeface="Arial"/>
            </a:endParaRPr>
          </a:p>
        </p:txBody>
      </p:sp>
      <p:pic>
        <p:nvPicPr>
          <p:cNvPr id="169" name="Google Shape;169;p9"/>
          <p:cNvPicPr preferRelativeResize="0"/>
          <p:nvPr/>
        </p:nvPicPr>
        <p:blipFill rotWithShape="1">
          <a:blip r:embed="rId3">
            <a:alphaModFix/>
          </a:blip>
          <a:srcRect b="0" l="0" r="0" t="0"/>
          <a:stretch/>
        </p:blipFill>
        <p:spPr>
          <a:xfrm>
            <a:off x="192306" y="3335296"/>
            <a:ext cx="8608439" cy="38259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idx="4294967295" type="body"/>
          </p:nvPr>
        </p:nvSpPr>
        <p:spPr>
          <a:xfrm>
            <a:off x="193175" y="1669076"/>
            <a:ext cx="9072600" cy="4385400"/>
          </a:xfrm>
          <a:prstGeom prst="rect">
            <a:avLst/>
          </a:prstGeom>
          <a:noFill/>
          <a:ln>
            <a:noFill/>
          </a:ln>
        </p:spPr>
        <p:txBody>
          <a:bodyPr anchorCtr="0" anchor="t" bIns="50375" lIns="100775" spcFirstLastPara="1" rIns="100775" wrap="square" tIns="50375">
            <a:normAutofit/>
          </a:bodyPr>
          <a:lstStyle/>
          <a:p>
            <a:pPr indent="-265430" lvl="0" marL="277495" marR="5080" rtl="0" algn="l">
              <a:lnSpc>
                <a:spcPct val="100000"/>
              </a:lnSpc>
              <a:spcBef>
                <a:spcPts val="0"/>
              </a:spcBef>
              <a:spcAft>
                <a:spcPts val="0"/>
              </a:spcAft>
              <a:buClr>
                <a:schemeClr val="dk1"/>
              </a:buClr>
              <a:buSzPts val="2800"/>
              <a:buChar char="•"/>
            </a:pPr>
            <a:r>
              <a:rPr lang="en-US">
                <a:latin typeface="Arial"/>
                <a:ea typeface="Arial"/>
                <a:cs typeface="Arial"/>
                <a:sym typeface="Arial"/>
              </a:rPr>
              <a:t>	The Rational Objectory Process (ROP) was the result of the unification of Objectory with Rational’s process work</a:t>
            </a:r>
            <a:endParaRPr>
              <a:latin typeface="Arial"/>
              <a:ea typeface="Arial"/>
              <a:cs typeface="Arial"/>
              <a:sym typeface="Arial"/>
            </a:endParaRPr>
          </a:p>
        </p:txBody>
      </p:sp>
      <p:pic>
        <p:nvPicPr>
          <p:cNvPr id="175" name="Google Shape;175;p10"/>
          <p:cNvPicPr preferRelativeResize="0"/>
          <p:nvPr/>
        </p:nvPicPr>
        <p:blipFill rotWithShape="1">
          <a:blip r:embed="rId3">
            <a:alphaModFix/>
          </a:blip>
          <a:srcRect b="0" l="0" r="0" t="0"/>
          <a:stretch/>
        </p:blipFill>
        <p:spPr>
          <a:xfrm>
            <a:off x="193175" y="3025043"/>
            <a:ext cx="9252750" cy="4015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ph idx="4294967295" type="body"/>
          </p:nvPr>
        </p:nvSpPr>
        <p:spPr>
          <a:xfrm>
            <a:off x="284900" y="1591174"/>
            <a:ext cx="9072600" cy="4608300"/>
          </a:xfrm>
          <a:prstGeom prst="rect">
            <a:avLst/>
          </a:prstGeom>
          <a:noFill/>
          <a:ln>
            <a:noFill/>
          </a:ln>
        </p:spPr>
        <p:txBody>
          <a:bodyPr anchorCtr="0" anchor="t" bIns="50375" lIns="100775" spcFirstLastPara="1" rIns="100775" wrap="square" tIns="50375">
            <a:normAutofit/>
          </a:bodyPr>
          <a:lstStyle/>
          <a:p>
            <a:pPr indent="-246380" lvl="0" marL="277495" marR="5080" rtl="0" algn="l">
              <a:lnSpc>
                <a:spcPct val="100000"/>
              </a:lnSpc>
              <a:spcBef>
                <a:spcPts val="0"/>
              </a:spcBef>
              <a:spcAft>
                <a:spcPts val="0"/>
              </a:spcAft>
              <a:buClr>
                <a:schemeClr val="dk1"/>
              </a:buClr>
              <a:buSzPts val="2500"/>
              <a:buChar char="•"/>
            </a:pPr>
            <a:r>
              <a:rPr lang="en-US" sz="2500">
                <a:latin typeface="Arial"/>
                <a:ea typeface="Arial"/>
                <a:cs typeface="Arial"/>
                <a:sym typeface="Arial"/>
              </a:rPr>
              <a:t>	In 1997, Rational acquired many more companies bringing in expertise in requirements capture, configuration management, testing</a:t>
            </a:r>
            <a:endParaRPr sz="2500">
              <a:latin typeface="Arial"/>
              <a:ea typeface="Arial"/>
              <a:cs typeface="Arial"/>
              <a:sym typeface="Arial"/>
            </a:endParaRPr>
          </a:p>
          <a:p>
            <a:pPr indent="-246380" lvl="0" marL="277495" marR="219075" rtl="0" algn="l">
              <a:lnSpc>
                <a:spcPct val="100000"/>
              </a:lnSpc>
              <a:spcBef>
                <a:spcPts val="1000"/>
              </a:spcBef>
              <a:spcAft>
                <a:spcPts val="0"/>
              </a:spcAft>
              <a:buClr>
                <a:schemeClr val="dk1"/>
              </a:buClr>
              <a:buSzPts val="2500"/>
              <a:buChar char="•"/>
            </a:pPr>
            <a:r>
              <a:rPr lang="en-US" sz="2500">
                <a:latin typeface="Arial"/>
                <a:ea typeface="Arial"/>
                <a:cs typeface="Arial"/>
                <a:sym typeface="Arial"/>
              </a:rPr>
              <a:t>	This led to the release of Rational Unified Process (RUP) in 1998</a:t>
            </a:r>
            <a:endParaRPr sz="2500">
              <a:latin typeface="Arial"/>
              <a:ea typeface="Arial"/>
              <a:cs typeface="Arial"/>
              <a:sym typeface="Arial"/>
            </a:endParaRPr>
          </a:p>
        </p:txBody>
      </p:sp>
      <p:pic>
        <p:nvPicPr>
          <p:cNvPr id="181" name="Google Shape;181;p11"/>
          <p:cNvPicPr preferRelativeResize="0"/>
          <p:nvPr/>
        </p:nvPicPr>
        <p:blipFill rotWithShape="1">
          <a:blip r:embed="rId3">
            <a:alphaModFix/>
          </a:blip>
          <a:srcRect b="0" l="0" r="0" t="0"/>
          <a:stretch/>
        </p:blipFill>
        <p:spPr>
          <a:xfrm>
            <a:off x="284898" y="3604492"/>
            <a:ext cx="6631254" cy="352931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2"/>
          <p:cNvSpPr txBox="1"/>
          <p:nvPr>
            <p:ph idx="4294967295" type="body"/>
          </p:nvPr>
        </p:nvSpPr>
        <p:spPr>
          <a:xfrm>
            <a:off x="172806" y="1469290"/>
            <a:ext cx="9072600" cy="5375700"/>
          </a:xfrm>
          <a:prstGeom prst="rect">
            <a:avLst/>
          </a:prstGeom>
          <a:noFill/>
          <a:ln>
            <a:noFill/>
          </a:ln>
        </p:spPr>
        <p:txBody>
          <a:bodyPr anchorCtr="0" anchor="t" bIns="50375" lIns="100775" spcFirstLastPara="1" rIns="100775" wrap="square" tIns="50375">
            <a:normAutofit/>
          </a:bodyPr>
          <a:lstStyle/>
          <a:p>
            <a:pPr indent="-228600" lvl="0" marL="228600" rtl="0" algn="l">
              <a:lnSpc>
                <a:spcPct val="90000"/>
              </a:lnSpc>
              <a:spcBef>
                <a:spcPts val="0"/>
              </a:spcBef>
              <a:spcAft>
                <a:spcPts val="0"/>
              </a:spcAft>
              <a:buClr>
                <a:schemeClr val="dk1"/>
              </a:buClr>
              <a:buSzPts val="2800"/>
              <a:buChar char="•"/>
            </a:pPr>
            <a:r>
              <a:rPr lang="en-US"/>
              <a:t>In 1999,the Unified Software Development Process, which describe the Unified Process</a:t>
            </a:r>
            <a:endParaRPr/>
          </a:p>
        </p:txBody>
      </p:sp>
      <p:pic>
        <p:nvPicPr>
          <p:cNvPr id="187" name="Google Shape;187;p12"/>
          <p:cNvPicPr preferRelativeResize="0"/>
          <p:nvPr/>
        </p:nvPicPr>
        <p:blipFill rotWithShape="1">
          <a:blip r:embed="rId3">
            <a:alphaModFix/>
          </a:blip>
          <a:srcRect b="0" l="0" r="0" t="0"/>
          <a:stretch/>
        </p:blipFill>
        <p:spPr>
          <a:xfrm>
            <a:off x="274281" y="2665145"/>
            <a:ext cx="8166539" cy="43140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idx="4294967295" type="body"/>
          </p:nvPr>
        </p:nvSpPr>
        <p:spPr>
          <a:xfrm>
            <a:off x="370981" y="1449815"/>
            <a:ext cx="9072600" cy="5375700"/>
          </a:xfrm>
          <a:prstGeom prst="rect">
            <a:avLst/>
          </a:prstGeom>
          <a:noFill/>
          <a:ln>
            <a:noFill/>
          </a:ln>
        </p:spPr>
        <p:txBody>
          <a:bodyPr anchorCtr="0" anchor="t" bIns="50375" lIns="100775" spcFirstLastPara="1" rIns="100775" wrap="square" tIns="50375">
            <a:normAutofit/>
          </a:bodyPr>
          <a:lstStyle/>
          <a:p>
            <a:pPr indent="-158750" lvl="0" marL="12700" marR="5080" rtl="0" algn="l">
              <a:lnSpc>
                <a:spcPct val="100000"/>
              </a:lnSpc>
              <a:spcBef>
                <a:spcPts val="0"/>
              </a:spcBef>
              <a:spcAft>
                <a:spcPts val="0"/>
              </a:spcAft>
              <a:buClr>
                <a:schemeClr val="dk1"/>
              </a:buClr>
              <a:buSzPts val="2500"/>
              <a:buChar char="•"/>
            </a:pPr>
            <a:r>
              <a:rPr lang="en-US" sz="2500">
                <a:latin typeface="Arial"/>
                <a:ea typeface="Arial"/>
                <a:cs typeface="Arial"/>
                <a:sym typeface="Arial"/>
              </a:rPr>
              <a:t>RUP is Rational Process Product and UP is an open SEP Software Engineering Process</a:t>
            </a:r>
            <a:endParaRPr sz="2500"/>
          </a:p>
          <a:p>
            <a:pPr indent="-158750" lvl="0" marL="12700" rtl="0" algn="l">
              <a:lnSpc>
                <a:spcPct val="100000"/>
              </a:lnSpc>
              <a:spcBef>
                <a:spcPts val="1000"/>
              </a:spcBef>
              <a:spcAft>
                <a:spcPts val="0"/>
              </a:spcAft>
              <a:buClr>
                <a:schemeClr val="dk1"/>
              </a:buClr>
              <a:buSzPts val="2500"/>
              <a:buChar char="•"/>
            </a:pPr>
            <a:r>
              <a:rPr lang="en-US" sz="2500">
                <a:latin typeface="Arial"/>
                <a:ea typeface="Arial"/>
                <a:cs typeface="Arial"/>
                <a:sym typeface="Arial"/>
              </a:rPr>
              <a:t>Both are closely related</a:t>
            </a:r>
            <a:endParaRPr sz="2500"/>
          </a:p>
        </p:txBody>
      </p:sp>
      <p:pic>
        <p:nvPicPr>
          <p:cNvPr id="193" name="Google Shape;193;p13"/>
          <p:cNvPicPr preferRelativeResize="0"/>
          <p:nvPr/>
        </p:nvPicPr>
        <p:blipFill rotWithShape="1">
          <a:blip r:embed="rId3">
            <a:alphaModFix/>
          </a:blip>
          <a:srcRect b="0" l="0" r="0" t="0"/>
          <a:stretch/>
        </p:blipFill>
        <p:spPr>
          <a:xfrm>
            <a:off x="116459" y="2730600"/>
            <a:ext cx="9327085" cy="39113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4"/>
          <p:cNvSpPr txBox="1"/>
          <p:nvPr>
            <p:ph type="title"/>
          </p:nvPr>
        </p:nvSpPr>
        <p:spPr>
          <a:xfrm>
            <a:off x="504031" y="27619"/>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UP Axioms</a:t>
            </a:r>
            <a:endParaRPr/>
          </a:p>
        </p:txBody>
      </p:sp>
      <p:sp>
        <p:nvSpPr>
          <p:cNvPr id="199" name="Google Shape;199;p14"/>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lnSpcReduction="10000"/>
          </a:bodyPr>
          <a:lstStyle/>
          <a:p>
            <a:pPr indent="0" lvl="0" marL="0" rtl="0" algn="l">
              <a:lnSpc>
                <a:spcPct val="100000"/>
              </a:lnSpc>
              <a:spcBef>
                <a:spcPts val="0"/>
              </a:spcBef>
              <a:spcAft>
                <a:spcPts val="0"/>
              </a:spcAft>
              <a:buNone/>
            </a:pPr>
            <a:r>
              <a:rPr lang="en-US" sz="3200"/>
              <a:t>UP axioms are the fundamental principles or guiding rules of the Unified Process (UP).</a:t>
            </a:r>
            <a:endParaRPr sz="3200"/>
          </a:p>
          <a:p>
            <a:pPr indent="0" lvl="0" marL="0" rtl="0" algn="l">
              <a:lnSpc>
                <a:spcPct val="100000"/>
              </a:lnSpc>
              <a:spcBef>
                <a:spcPts val="0"/>
              </a:spcBef>
              <a:spcAft>
                <a:spcPts val="0"/>
              </a:spcAft>
              <a:buNone/>
            </a:pPr>
            <a:r>
              <a:t/>
            </a:r>
            <a:endParaRPr sz="3200"/>
          </a:p>
          <a:p>
            <a:pPr indent="-566420" lvl="0" marL="579120" rtl="0" algn="l">
              <a:lnSpc>
                <a:spcPct val="100000"/>
              </a:lnSpc>
              <a:spcBef>
                <a:spcPts val="0"/>
              </a:spcBef>
              <a:spcAft>
                <a:spcPts val="0"/>
              </a:spcAft>
              <a:buClr>
                <a:schemeClr val="dk1"/>
              </a:buClr>
              <a:buSzPts val="3200"/>
              <a:buAutoNum type="arabicPeriod"/>
            </a:pPr>
            <a:r>
              <a:rPr lang="en-US" sz="3200">
                <a:latin typeface="Arial"/>
                <a:ea typeface="Arial"/>
                <a:cs typeface="Arial"/>
                <a:sym typeface="Arial"/>
              </a:rPr>
              <a:t>Use-Case Driven</a:t>
            </a:r>
            <a:endParaRPr/>
          </a:p>
          <a:p>
            <a:pPr indent="-566420" lvl="0" marL="579120" rtl="0" algn="l">
              <a:lnSpc>
                <a:spcPct val="100000"/>
              </a:lnSpc>
              <a:spcBef>
                <a:spcPts val="1895"/>
              </a:spcBef>
              <a:spcAft>
                <a:spcPts val="0"/>
              </a:spcAft>
              <a:buClr>
                <a:schemeClr val="dk1"/>
              </a:buClr>
              <a:buSzPts val="3200"/>
              <a:buAutoNum type="arabicPeriod"/>
            </a:pPr>
            <a:r>
              <a:rPr lang="en-US" sz="3200">
                <a:latin typeface="Arial"/>
                <a:ea typeface="Arial"/>
                <a:cs typeface="Arial"/>
                <a:sym typeface="Arial"/>
              </a:rPr>
              <a:t>Architecture-Centric</a:t>
            </a:r>
            <a:endParaRPr/>
          </a:p>
          <a:p>
            <a:pPr indent="-566420" lvl="0" marL="579120" rtl="0" algn="l">
              <a:lnSpc>
                <a:spcPct val="100000"/>
              </a:lnSpc>
              <a:spcBef>
                <a:spcPts val="1895"/>
              </a:spcBef>
              <a:spcAft>
                <a:spcPts val="0"/>
              </a:spcAft>
              <a:buClr>
                <a:schemeClr val="dk1"/>
              </a:buClr>
              <a:buSzPts val="3200"/>
              <a:buAutoNum type="arabicPeriod"/>
            </a:pPr>
            <a:r>
              <a:rPr lang="en-US" sz="3200">
                <a:latin typeface="Arial"/>
                <a:ea typeface="Arial"/>
                <a:cs typeface="Arial"/>
                <a:sym typeface="Arial"/>
              </a:rPr>
              <a:t>Iterative and Incremental</a:t>
            </a:r>
            <a:endParaRPr/>
          </a:p>
          <a:p>
            <a:pPr indent="-566420" lvl="0" marL="579120" rtl="0" algn="l">
              <a:lnSpc>
                <a:spcPct val="100000"/>
              </a:lnSpc>
              <a:spcBef>
                <a:spcPts val="1895"/>
              </a:spcBef>
              <a:spcAft>
                <a:spcPts val="0"/>
              </a:spcAft>
              <a:buClr>
                <a:schemeClr val="dk1"/>
              </a:buClr>
              <a:buSzPts val="3200"/>
              <a:buAutoNum type="arabicPeriod"/>
            </a:pPr>
            <a:r>
              <a:rPr lang="en-US" sz="3200">
                <a:latin typeface="Arial"/>
                <a:ea typeface="Arial"/>
                <a:cs typeface="Arial"/>
                <a:sym typeface="Arial"/>
              </a:rPr>
              <a:t>Risk Focused</a:t>
            </a:r>
            <a:endParaRPr/>
          </a:p>
          <a:p>
            <a:pPr indent="-566420" lvl="0" marL="579120" rtl="0" algn="l">
              <a:lnSpc>
                <a:spcPct val="100000"/>
              </a:lnSpc>
              <a:spcBef>
                <a:spcPts val="1895"/>
              </a:spcBef>
              <a:spcAft>
                <a:spcPts val="0"/>
              </a:spcAft>
              <a:buClr>
                <a:schemeClr val="dk1"/>
              </a:buClr>
              <a:buSzPts val="3200"/>
              <a:buAutoNum type="arabicPeriod"/>
            </a:pPr>
            <a:r>
              <a:rPr lang="en-US" sz="3200">
                <a:latin typeface="Arial"/>
                <a:ea typeface="Arial"/>
                <a:cs typeface="Arial"/>
                <a:sym typeface="Arial"/>
              </a:rPr>
              <a:t>Model Driven </a:t>
            </a:r>
            <a:endParaRPr/>
          </a:p>
          <a:p>
            <a:pPr indent="-363219" lvl="0" marL="579120" rtl="0" algn="l">
              <a:lnSpc>
                <a:spcPct val="100000"/>
              </a:lnSpc>
              <a:spcBef>
                <a:spcPts val="1895"/>
              </a:spcBef>
              <a:spcAft>
                <a:spcPts val="0"/>
              </a:spcAft>
              <a:buClr>
                <a:schemeClr val="dk1"/>
              </a:buClr>
              <a:buSzPts val="3200"/>
              <a:buNone/>
            </a:pPr>
            <a:r>
              <a:t/>
            </a:r>
            <a:endParaRPr sz="32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5"/>
          <p:cNvSpPr txBox="1"/>
          <p:nvPr>
            <p:ph idx="4294967295" type="body"/>
          </p:nvPr>
        </p:nvSpPr>
        <p:spPr>
          <a:xfrm>
            <a:off x="504025" y="2000324"/>
            <a:ext cx="9072600" cy="5065500"/>
          </a:xfrm>
          <a:prstGeom prst="rect">
            <a:avLst/>
          </a:prstGeom>
          <a:noFill/>
          <a:ln>
            <a:noFill/>
          </a:ln>
        </p:spPr>
        <p:txBody>
          <a:bodyPr anchorCtr="0" anchor="t" bIns="50375" lIns="100775" spcFirstLastPara="1" rIns="100775" wrap="square" tIns="50375">
            <a:normAutofit/>
          </a:bodyPr>
          <a:lstStyle/>
          <a:p>
            <a:pPr indent="-514350" lvl="0" marL="514350" rtl="0" algn="l">
              <a:lnSpc>
                <a:spcPct val="90000"/>
              </a:lnSpc>
              <a:spcBef>
                <a:spcPts val="0"/>
              </a:spcBef>
              <a:spcAft>
                <a:spcPts val="0"/>
              </a:spcAft>
              <a:buClr>
                <a:schemeClr val="dk1"/>
              </a:buClr>
              <a:buSzPts val="2800"/>
              <a:buAutoNum type="arabicPeriod"/>
            </a:pPr>
            <a:r>
              <a:rPr b="1" lang="en-US"/>
              <a:t>Use-Case Driven –</a:t>
            </a:r>
            <a:endParaRPr/>
          </a:p>
          <a:p>
            <a:pPr indent="0" lvl="0" marL="0" rtl="0" algn="l">
              <a:lnSpc>
                <a:spcPct val="90000"/>
              </a:lnSpc>
              <a:spcBef>
                <a:spcPts val="0"/>
              </a:spcBef>
              <a:spcAft>
                <a:spcPts val="0"/>
              </a:spcAft>
              <a:buClr>
                <a:schemeClr val="dk1"/>
              </a:buClr>
              <a:buSzPts val="2800"/>
              <a:buNone/>
            </a:pPr>
            <a:r>
              <a:rPr lang="en-US"/>
              <a:t>Use cases help define system behavior and ensure that development focuses on fulfilling user needs.</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All development activities—from design to testing—are tied back to use cases.</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b="1" lang="en-US"/>
              <a:t>2. Architecture-Centric – </a:t>
            </a:r>
            <a:endParaRPr/>
          </a:p>
          <a:p>
            <a:pPr indent="0" lvl="0" marL="0" rtl="0" algn="l">
              <a:lnSpc>
                <a:spcPct val="90000"/>
              </a:lnSpc>
              <a:spcBef>
                <a:spcPts val="0"/>
              </a:spcBef>
              <a:spcAft>
                <a:spcPts val="0"/>
              </a:spcAft>
              <a:buClr>
                <a:schemeClr val="dk1"/>
              </a:buClr>
              <a:buSzPts val="2800"/>
              <a:buNone/>
            </a:pPr>
            <a:r>
              <a:rPr lang="en-US"/>
              <a:t>How system divided into components</a:t>
            </a:r>
            <a:endParaRPr/>
          </a:p>
          <a:p>
            <a:pPr indent="0" lvl="0" marL="0" rtl="0" algn="l">
              <a:lnSpc>
                <a:spcPct val="90000"/>
              </a:lnSpc>
              <a:spcBef>
                <a:spcPts val="0"/>
              </a:spcBef>
              <a:spcAft>
                <a:spcPts val="0"/>
              </a:spcAft>
              <a:buClr>
                <a:schemeClr val="dk1"/>
              </a:buClr>
              <a:buSzPts val="2800"/>
              <a:buNone/>
            </a:pPr>
            <a:r>
              <a:rPr lang="en-US"/>
              <a:t>How those components interact</a:t>
            </a:r>
            <a:endParaRPr/>
          </a:p>
          <a:p>
            <a:pPr indent="0" lvl="0" marL="0" rtl="0" algn="l">
              <a:lnSpc>
                <a:spcPct val="90000"/>
              </a:lnSpc>
              <a:spcBef>
                <a:spcPts val="0"/>
              </a:spcBef>
              <a:spcAft>
                <a:spcPts val="0"/>
              </a:spcAft>
              <a:buClr>
                <a:schemeClr val="dk1"/>
              </a:buClr>
              <a:buSzPts val="2800"/>
              <a:buNone/>
            </a:pPr>
            <a:r>
              <a:rPr lang="en-US"/>
              <a:t>How Deployed on hardware</a:t>
            </a:r>
            <a:endParaRPr/>
          </a:p>
          <a:p>
            <a:pPr indent="0" lvl="0" marL="0" rtl="0" algn="l">
              <a:lnSpc>
                <a:spcPct val="90000"/>
              </a:lnSpc>
              <a:spcBef>
                <a:spcPts val="0"/>
              </a:spcBef>
              <a:spcAft>
                <a:spcPts val="0"/>
              </a:spcAft>
              <a:buClr>
                <a:schemeClr val="dk1"/>
              </a:buClr>
              <a:buSzPts val="2800"/>
              <a:buNone/>
            </a:pPr>
            <a:r>
              <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6"/>
          <p:cNvSpPr txBox="1"/>
          <p:nvPr>
            <p:ph idx="4294967295" type="body"/>
          </p:nvPr>
        </p:nvSpPr>
        <p:spPr>
          <a:xfrm>
            <a:off x="220825" y="1513225"/>
            <a:ext cx="9522000" cy="5573400"/>
          </a:xfrm>
          <a:prstGeom prst="rect">
            <a:avLst/>
          </a:prstGeom>
          <a:noFill/>
          <a:ln>
            <a:noFill/>
          </a:ln>
        </p:spPr>
        <p:txBody>
          <a:bodyPr anchorCtr="0" anchor="t" bIns="50375" lIns="100775" spcFirstLastPara="1" rIns="100775" wrap="square" tIns="50375">
            <a:normAutofit fontScale="92500" lnSpcReduction="20000"/>
          </a:bodyPr>
          <a:lstStyle/>
          <a:p>
            <a:pPr indent="0" lvl="0" marL="0" rtl="0" algn="l">
              <a:lnSpc>
                <a:spcPct val="90000"/>
              </a:lnSpc>
              <a:spcBef>
                <a:spcPts val="0"/>
              </a:spcBef>
              <a:spcAft>
                <a:spcPts val="0"/>
              </a:spcAft>
              <a:buClr>
                <a:schemeClr val="dk1"/>
              </a:buClr>
              <a:buSzPct val="100000"/>
              <a:buNone/>
            </a:pPr>
            <a:r>
              <a:rPr b="1" lang="en-US"/>
              <a:t>3. Iterative and Incremental – </a:t>
            </a:r>
            <a:endParaRPr/>
          </a:p>
          <a:p>
            <a:pPr indent="0" lvl="0" marL="0" rtl="0" algn="l">
              <a:lnSpc>
                <a:spcPct val="90000"/>
              </a:lnSpc>
              <a:spcBef>
                <a:spcPts val="0"/>
              </a:spcBef>
              <a:spcAft>
                <a:spcPts val="0"/>
              </a:spcAft>
              <a:buClr>
                <a:schemeClr val="dk1"/>
              </a:buClr>
              <a:buSzPct val="100000"/>
              <a:buNone/>
            </a:pPr>
            <a:r>
              <a:rPr b="1" lang="en-US"/>
              <a:t> </a:t>
            </a:r>
            <a:r>
              <a:rPr lang="en-US"/>
              <a:t>Iterative, break the project into small subprojects that </a:t>
            </a:r>
            <a:endParaRPr/>
          </a:p>
          <a:p>
            <a:pPr indent="0" lvl="0" marL="0" rtl="0" algn="l">
              <a:lnSpc>
                <a:spcPct val="90000"/>
              </a:lnSpc>
              <a:spcBef>
                <a:spcPts val="0"/>
              </a:spcBef>
              <a:spcAft>
                <a:spcPts val="0"/>
              </a:spcAft>
              <a:buClr>
                <a:schemeClr val="dk1"/>
              </a:buClr>
              <a:buSzPct val="100000"/>
              <a:buNone/>
            </a:pPr>
            <a:r>
              <a:rPr lang="en-US"/>
              <a:t>deliver system functionality </a:t>
            </a:r>
            <a:endParaRPr/>
          </a:p>
          <a:p>
            <a:pPr indent="0" lvl="0" marL="0" rtl="0" algn="l">
              <a:lnSpc>
                <a:spcPct val="90000"/>
              </a:lnSpc>
              <a:spcBef>
                <a:spcPts val="0"/>
              </a:spcBef>
              <a:spcAft>
                <a:spcPts val="0"/>
              </a:spcAft>
              <a:buClr>
                <a:schemeClr val="dk1"/>
              </a:buClr>
              <a:buSzPct val="100000"/>
              <a:buNone/>
            </a:pPr>
            <a:r>
              <a:rPr lang="en-US"/>
              <a:t>- Increments, leading to a fully functional system or we </a:t>
            </a:r>
            <a:endParaRPr/>
          </a:p>
          <a:p>
            <a:pPr indent="0" lvl="0" marL="0" rtl="0" algn="l">
              <a:lnSpc>
                <a:spcPct val="90000"/>
              </a:lnSpc>
              <a:spcBef>
                <a:spcPts val="0"/>
              </a:spcBef>
              <a:spcAft>
                <a:spcPts val="0"/>
              </a:spcAft>
              <a:buClr>
                <a:schemeClr val="dk1"/>
              </a:buClr>
              <a:buSzPct val="100000"/>
              <a:buNone/>
            </a:pPr>
            <a:r>
              <a:rPr lang="en-US"/>
              <a:t>build software by a process of stepwise refinement to </a:t>
            </a:r>
            <a:endParaRPr/>
          </a:p>
          <a:p>
            <a:pPr indent="0" lvl="0" marL="0" rtl="0" algn="l">
              <a:lnSpc>
                <a:spcPct val="90000"/>
              </a:lnSpc>
              <a:spcBef>
                <a:spcPts val="0"/>
              </a:spcBef>
              <a:spcAft>
                <a:spcPts val="0"/>
              </a:spcAft>
              <a:buClr>
                <a:schemeClr val="dk1"/>
              </a:buClr>
              <a:buSzPct val="100000"/>
              <a:buNone/>
            </a:pPr>
            <a:r>
              <a:rPr lang="en-US"/>
              <a:t>our goal</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b="1" lang="en-US"/>
              <a:t>4. Risk-Focused – </a:t>
            </a:r>
            <a:endParaRPr/>
          </a:p>
          <a:p>
            <a:pPr indent="0" lvl="0" marL="0" rtl="0" algn="l">
              <a:lnSpc>
                <a:spcPct val="90000"/>
              </a:lnSpc>
              <a:spcBef>
                <a:spcPts val="0"/>
              </a:spcBef>
              <a:spcAft>
                <a:spcPts val="0"/>
              </a:spcAft>
              <a:buClr>
                <a:schemeClr val="dk1"/>
              </a:buClr>
              <a:buSzPct val="100000"/>
              <a:buNone/>
            </a:pPr>
            <a:r>
              <a:rPr lang="en-US"/>
              <a:t>Early identification and mitigation of risks are key to success.</a:t>
            </a:r>
            <a:endParaRPr/>
          </a:p>
          <a:p>
            <a:pPr indent="0" lvl="0" marL="0" rtl="0" algn="l">
              <a:lnSpc>
                <a:spcPct val="90000"/>
              </a:lnSpc>
              <a:spcBef>
                <a:spcPts val="0"/>
              </a:spcBef>
              <a:spcAft>
                <a:spcPts val="0"/>
              </a:spcAft>
              <a:buClr>
                <a:schemeClr val="dk1"/>
              </a:buClr>
              <a:buSzPct val="100000"/>
              <a:buNone/>
            </a:pPr>
            <a:r>
              <a:t/>
            </a:r>
            <a:endParaRPr/>
          </a:p>
          <a:p>
            <a:pPr indent="0" lvl="0" marL="0" rtl="0" algn="l">
              <a:lnSpc>
                <a:spcPct val="90000"/>
              </a:lnSpc>
              <a:spcBef>
                <a:spcPts val="0"/>
              </a:spcBef>
              <a:spcAft>
                <a:spcPts val="0"/>
              </a:spcAft>
              <a:buClr>
                <a:schemeClr val="dk1"/>
              </a:buClr>
              <a:buSzPct val="100000"/>
              <a:buNone/>
            </a:pPr>
            <a:r>
              <a:rPr b="1" lang="en-US"/>
              <a:t>5. Model Driven – </a:t>
            </a:r>
            <a:endParaRPr/>
          </a:p>
          <a:p>
            <a:pPr indent="0" lvl="0" marL="0" rtl="0" algn="l">
              <a:lnSpc>
                <a:spcPct val="90000"/>
              </a:lnSpc>
              <a:spcBef>
                <a:spcPts val="0"/>
              </a:spcBef>
              <a:spcAft>
                <a:spcPts val="0"/>
              </a:spcAft>
              <a:buClr>
                <a:schemeClr val="dk1"/>
              </a:buClr>
              <a:buSzPct val="116667"/>
              <a:buNone/>
            </a:pPr>
            <a:r>
              <a:rPr lang="en-US"/>
              <a:t>Models guide coding, documentation, and communication among team members.</a:t>
            </a:r>
            <a:endParaRPr sz="2400"/>
          </a:p>
          <a:p>
            <a:pPr indent="0" lvl="0" marL="0" rtl="0" algn="l">
              <a:lnSpc>
                <a:spcPct val="115000"/>
              </a:lnSpc>
              <a:spcBef>
                <a:spcPts val="0"/>
              </a:spcBef>
              <a:spcAft>
                <a:spcPts val="0"/>
              </a:spcAft>
              <a:buClr>
                <a:schemeClr val="dk1"/>
              </a:buClr>
              <a:buSzPct val="39286"/>
              <a:buFont typeface="Arial"/>
              <a:buNone/>
            </a:pPr>
            <a:r>
              <a:rPr lang="en-US">
                <a:highlight>
                  <a:srgbClr val="FFFFFF"/>
                </a:highlight>
              </a:rPr>
              <a:t>Emphasizes the use of visual models (e.g., UML diagrams) to represent system structure and behavior.</a:t>
            </a:r>
            <a:endParaRPr>
              <a:highlight>
                <a:srgbClr val="FFFFFF"/>
              </a:highlight>
            </a:endParaRPr>
          </a:p>
          <a:p>
            <a:pPr indent="0" lvl="0" marL="0" rtl="0" algn="l">
              <a:lnSpc>
                <a:spcPct val="90000"/>
              </a:lnSpc>
              <a:spcBef>
                <a:spcPts val="0"/>
              </a:spcBef>
              <a:spcAft>
                <a:spcPts val="0"/>
              </a:spcAft>
              <a:buClr>
                <a:schemeClr val="dk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UP Structure</a:t>
            </a:r>
            <a:endParaRPr/>
          </a:p>
        </p:txBody>
      </p:sp>
      <p:pic>
        <p:nvPicPr>
          <p:cNvPr id="215" name="Google Shape;215;p17"/>
          <p:cNvPicPr preferRelativeResize="0"/>
          <p:nvPr/>
        </p:nvPicPr>
        <p:blipFill rotWithShape="1">
          <a:blip r:embed="rId3">
            <a:alphaModFix/>
          </a:blip>
          <a:srcRect b="0" l="0" r="0" t="0"/>
          <a:stretch/>
        </p:blipFill>
        <p:spPr>
          <a:xfrm>
            <a:off x="361351" y="2052411"/>
            <a:ext cx="9357922" cy="420291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8"/>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UP Structure</a:t>
            </a:r>
            <a:endParaRPr/>
          </a:p>
        </p:txBody>
      </p:sp>
      <p:sp>
        <p:nvSpPr>
          <p:cNvPr id="221" name="Google Shape;221;p18"/>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lang="en-US"/>
              <a:t> The product life cycle is divided into four phases </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Inception, Elaboration, Construction and Transition - Each of which ends with major milestone</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 Each phase contains one or more iterations</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 Each iteration execute the five core workflows and any extra workflows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UP Structure</a:t>
            </a:r>
            <a:endParaRPr/>
          </a:p>
        </p:txBody>
      </p:sp>
      <p:sp>
        <p:nvSpPr>
          <p:cNvPr id="227" name="Google Shape;227;p19"/>
          <p:cNvSpPr txBox="1"/>
          <p:nvPr>
            <p:ph idx="4294967295" type="body"/>
          </p:nvPr>
        </p:nvSpPr>
        <p:spPr>
          <a:xfrm>
            <a:off x="504031" y="1763924"/>
            <a:ext cx="9072563" cy="5375769"/>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lang="en-US"/>
              <a:t> UP consists of a sequence of four phases, each of which  terminates with a major milestone:</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200000"/>
              </a:lnSpc>
              <a:spcBef>
                <a:spcPts val="0"/>
              </a:spcBef>
              <a:spcAft>
                <a:spcPts val="0"/>
              </a:spcAft>
              <a:buClr>
                <a:schemeClr val="dk1"/>
              </a:buClr>
              <a:buSzPts val="2800"/>
              <a:buNone/>
            </a:pPr>
            <a:r>
              <a:rPr b="1" lang="en-US"/>
              <a:t> 1. Inception – Life Cycle Objectives</a:t>
            </a:r>
            <a:endParaRPr/>
          </a:p>
          <a:p>
            <a:pPr indent="0" lvl="0" marL="0" rtl="0" algn="l">
              <a:lnSpc>
                <a:spcPct val="200000"/>
              </a:lnSpc>
              <a:spcBef>
                <a:spcPts val="0"/>
              </a:spcBef>
              <a:spcAft>
                <a:spcPts val="0"/>
              </a:spcAft>
              <a:buClr>
                <a:schemeClr val="dk1"/>
              </a:buClr>
              <a:buSzPts val="2800"/>
              <a:buNone/>
            </a:pPr>
            <a:r>
              <a:rPr b="1" lang="en-US"/>
              <a:t> 2. Elaboration – Life Cycle Architecture</a:t>
            </a:r>
            <a:endParaRPr/>
          </a:p>
          <a:p>
            <a:pPr indent="0" lvl="0" marL="0" rtl="0" algn="l">
              <a:lnSpc>
                <a:spcPct val="200000"/>
              </a:lnSpc>
              <a:spcBef>
                <a:spcPts val="0"/>
              </a:spcBef>
              <a:spcAft>
                <a:spcPts val="0"/>
              </a:spcAft>
              <a:buClr>
                <a:schemeClr val="dk1"/>
              </a:buClr>
              <a:buSzPts val="2800"/>
              <a:buNone/>
            </a:pPr>
            <a:r>
              <a:rPr b="1" lang="en-US"/>
              <a:t> 3. Construction – Initial Operational Capability </a:t>
            </a:r>
            <a:endParaRPr/>
          </a:p>
          <a:p>
            <a:pPr indent="0" lvl="0" marL="0" rtl="0" algn="l">
              <a:lnSpc>
                <a:spcPct val="200000"/>
              </a:lnSpc>
              <a:spcBef>
                <a:spcPts val="0"/>
              </a:spcBef>
              <a:spcAft>
                <a:spcPts val="0"/>
              </a:spcAft>
              <a:buClr>
                <a:schemeClr val="dk1"/>
              </a:buClr>
              <a:buSzPts val="2800"/>
              <a:buNone/>
            </a:pPr>
            <a:r>
              <a:rPr b="1" lang="en-US"/>
              <a:t>4. Transition – Product release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20"/>
          <p:cNvPicPr preferRelativeResize="0"/>
          <p:nvPr/>
        </p:nvPicPr>
        <p:blipFill rotWithShape="1">
          <a:blip r:embed="rId3">
            <a:alphaModFix/>
          </a:blip>
          <a:srcRect b="0" l="0" r="0" t="0"/>
          <a:stretch/>
        </p:blipFill>
        <p:spPr>
          <a:xfrm>
            <a:off x="309553" y="3937492"/>
            <a:ext cx="9461519" cy="3125460"/>
          </a:xfrm>
          <a:prstGeom prst="rect">
            <a:avLst/>
          </a:prstGeom>
          <a:noFill/>
          <a:ln>
            <a:noFill/>
          </a:ln>
        </p:spPr>
      </p:pic>
      <p:sp>
        <p:nvSpPr>
          <p:cNvPr id="233" name="Google Shape;233;p20"/>
          <p:cNvSpPr txBox="1"/>
          <p:nvPr/>
        </p:nvSpPr>
        <p:spPr>
          <a:xfrm>
            <a:off x="1947041" y="54847"/>
            <a:ext cx="506073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Core Workflows (R-A-D-I-T) :</a:t>
            </a:r>
            <a:endParaRPr b="0" i="0" sz="1400" u="none" cap="none" strike="noStrike">
              <a:solidFill>
                <a:srgbClr val="000000"/>
              </a:solidFill>
              <a:latin typeface="Arial"/>
              <a:ea typeface="Arial"/>
              <a:cs typeface="Arial"/>
              <a:sym typeface="Arial"/>
            </a:endParaRPr>
          </a:p>
        </p:txBody>
      </p:sp>
      <p:pic>
        <p:nvPicPr>
          <p:cNvPr id="234" name="Google Shape;234;p20"/>
          <p:cNvPicPr preferRelativeResize="0"/>
          <p:nvPr/>
        </p:nvPicPr>
        <p:blipFill rotWithShape="1">
          <a:blip r:embed="rId4">
            <a:alphaModFix/>
          </a:blip>
          <a:srcRect b="0" l="0" r="0" t="0"/>
          <a:stretch/>
        </p:blipFill>
        <p:spPr>
          <a:xfrm>
            <a:off x="725592" y="720671"/>
            <a:ext cx="9045480" cy="305916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1"/>
          <p:cNvSpPr txBox="1"/>
          <p:nvPr>
            <p:ph type="title"/>
          </p:nvPr>
        </p:nvSpPr>
        <p:spPr>
          <a:xfrm>
            <a:off x="504031" y="390226"/>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Workload Variation by Phase </a:t>
            </a:r>
            <a:endParaRPr/>
          </a:p>
        </p:txBody>
      </p:sp>
      <p:pic>
        <p:nvPicPr>
          <p:cNvPr id="240" name="Google Shape;240;p21"/>
          <p:cNvPicPr preferRelativeResize="0"/>
          <p:nvPr/>
        </p:nvPicPr>
        <p:blipFill rotWithShape="1">
          <a:blip r:embed="rId3">
            <a:alphaModFix/>
          </a:blip>
          <a:srcRect b="0" l="0" r="0" t="0"/>
          <a:stretch/>
        </p:blipFill>
        <p:spPr>
          <a:xfrm>
            <a:off x="282504" y="1649146"/>
            <a:ext cx="9515615" cy="419362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type="title"/>
          </p:nvPr>
        </p:nvSpPr>
        <p:spPr>
          <a:xfrm>
            <a:off x="504031" y="0"/>
            <a:ext cx="8482314" cy="125892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UP Phases</a:t>
            </a:r>
            <a:endParaRPr/>
          </a:p>
        </p:txBody>
      </p:sp>
      <p:sp>
        <p:nvSpPr>
          <p:cNvPr id="246" name="Google Shape;246;p22"/>
          <p:cNvSpPr txBox="1"/>
          <p:nvPr>
            <p:ph idx="4294967295" type="body"/>
          </p:nvPr>
        </p:nvSpPr>
        <p:spPr>
          <a:xfrm>
            <a:off x="331077" y="1432342"/>
            <a:ext cx="9371642" cy="5662142"/>
          </a:xfrm>
          <a:prstGeom prst="rect">
            <a:avLst/>
          </a:prstGeom>
          <a:noFill/>
          <a:ln>
            <a:noFill/>
          </a:ln>
        </p:spPr>
        <p:txBody>
          <a:bodyPr anchorCtr="0" anchor="t" bIns="50375" lIns="100775" spcFirstLastPara="1" rIns="100775" wrap="square" tIns="50375">
            <a:normAutofit lnSpcReduction="10000"/>
          </a:bodyPr>
          <a:lstStyle/>
          <a:p>
            <a:pPr indent="-514350" lvl="0" marL="514350" rtl="0" algn="l">
              <a:lnSpc>
                <a:spcPct val="100000"/>
              </a:lnSpc>
              <a:spcBef>
                <a:spcPts val="0"/>
              </a:spcBef>
              <a:spcAft>
                <a:spcPts val="0"/>
              </a:spcAft>
              <a:buClr>
                <a:schemeClr val="dk1"/>
              </a:buClr>
              <a:buSzPts val="2800"/>
              <a:buAutoNum type="arabicPeriod"/>
            </a:pPr>
            <a:r>
              <a:rPr b="1" lang="en-US"/>
              <a:t>Inception Phase </a:t>
            </a:r>
            <a:r>
              <a:rPr lang="en-US"/>
              <a:t>– Inception is all about initiating the project </a:t>
            </a:r>
            <a:endParaRPr/>
          </a:p>
          <a:p>
            <a:pPr indent="-228600" lvl="1" marL="685800" rtl="0" algn="l">
              <a:lnSpc>
                <a:spcPct val="200000"/>
              </a:lnSpc>
              <a:spcBef>
                <a:spcPts val="0"/>
              </a:spcBef>
              <a:spcAft>
                <a:spcPts val="0"/>
              </a:spcAft>
              <a:buClr>
                <a:schemeClr val="dk1"/>
              </a:buClr>
              <a:buSzPts val="2800"/>
              <a:buChar char="•"/>
            </a:pPr>
            <a:r>
              <a:rPr lang="en-US" sz="2800"/>
              <a:t>Initiation involves establishing feasibility, creating  a business case, capturing requirement and identifying critical risks</a:t>
            </a:r>
            <a:endParaRPr/>
          </a:p>
          <a:p>
            <a:pPr indent="-228600" lvl="1" marL="685800" rtl="0" algn="l">
              <a:lnSpc>
                <a:spcPct val="200000"/>
              </a:lnSpc>
              <a:spcBef>
                <a:spcPts val="0"/>
              </a:spcBef>
              <a:spcAft>
                <a:spcPts val="0"/>
              </a:spcAft>
              <a:buClr>
                <a:schemeClr val="dk1"/>
              </a:buClr>
              <a:buSzPts val="2800"/>
              <a:buChar char="•"/>
            </a:pPr>
            <a:r>
              <a:rPr lang="en-US" sz="2800"/>
              <a:t>Primary workers - project manager and system architect</a:t>
            </a:r>
            <a:endParaRPr/>
          </a:p>
          <a:p>
            <a:pPr indent="-228600" lvl="1" marL="685800" rtl="0" algn="l">
              <a:lnSpc>
                <a:spcPct val="200000"/>
              </a:lnSpc>
              <a:spcBef>
                <a:spcPts val="0"/>
              </a:spcBef>
              <a:spcAft>
                <a:spcPts val="0"/>
              </a:spcAft>
              <a:buClr>
                <a:schemeClr val="dk1"/>
              </a:buClr>
              <a:buSzPts val="2800"/>
              <a:buChar char="•"/>
            </a:pPr>
            <a:r>
              <a:rPr lang="en-US" sz="2800"/>
              <a:t> Focus on requirement and analysis workflow</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3"/>
          <p:cNvSpPr txBox="1"/>
          <p:nvPr>
            <p:ph idx="4294967295" type="body"/>
          </p:nvPr>
        </p:nvSpPr>
        <p:spPr>
          <a:xfrm>
            <a:off x="311725" y="1727549"/>
            <a:ext cx="9072600" cy="48861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b="1" lang="en-US"/>
              <a:t>2. Elaboration Phase – </a:t>
            </a:r>
            <a:endParaRPr/>
          </a:p>
          <a:p>
            <a:pPr indent="0" lvl="0" marL="0" rtl="0" algn="l">
              <a:lnSpc>
                <a:spcPct val="90000"/>
              </a:lnSpc>
              <a:spcBef>
                <a:spcPts val="0"/>
              </a:spcBef>
              <a:spcAft>
                <a:spcPts val="0"/>
              </a:spcAft>
              <a:buClr>
                <a:schemeClr val="dk1"/>
              </a:buClr>
              <a:buSzPts val="2800"/>
              <a:buNone/>
            </a:pPr>
            <a:r>
              <a:rPr lang="en-US"/>
              <a:t> Elaboration is about creating a partial but working version of the system – an</a:t>
            </a:r>
            <a:r>
              <a:rPr b="1" lang="en-US"/>
              <a:t> executable architecture baseline</a:t>
            </a:r>
            <a:endParaRPr b="1"/>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 Main goals </a:t>
            </a:r>
            <a:endParaRPr/>
          </a:p>
          <a:p>
            <a:pPr indent="-228600" lvl="0" marL="228600" rtl="0" algn="l">
              <a:lnSpc>
                <a:spcPct val="90000"/>
              </a:lnSpc>
              <a:spcBef>
                <a:spcPts val="0"/>
              </a:spcBef>
              <a:spcAft>
                <a:spcPts val="0"/>
              </a:spcAft>
              <a:buClr>
                <a:schemeClr val="dk1"/>
              </a:buClr>
              <a:buSzPts val="2800"/>
              <a:buFont typeface="Arial"/>
              <a:buChar char="-"/>
            </a:pPr>
            <a:r>
              <a:rPr lang="en-US"/>
              <a:t>Create an executable architecture baseline</a:t>
            </a:r>
            <a:endParaRPr/>
          </a:p>
          <a:p>
            <a:pPr indent="-228600" lvl="0" marL="228600" rtl="0" algn="l">
              <a:lnSpc>
                <a:spcPct val="90000"/>
              </a:lnSpc>
              <a:spcBef>
                <a:spcPts val="0"/>
              </a:spcBef>
              <a:spcAft>
                <a:spcPts val="0"/>
              </a:spcAft>
              <a:buClr>
                <a:schemeClr val="dk1"/>
              </a:buClr>
              <a:buSzPts val="2800"/>
              <a:buFont typeface="Arial"/>
              <a:buChar char="-"/>
            </a:pPr>
            <a:r>
              <a:rPr lang="en-US"/>
              <a:t>Create a detailed plan for the construction phase</a:t>
            </a:r>
            <a:endParaRPr/>
          </a:p>
          <a:p>
            <a:pPr indent="-228600" lvl="0" marL="228600" rtl="0" algn="l">
              <a:lnSpc>
                <a:spcPct val="90000"/>
              </a:lnSpc>
              <a:spcBef>
                <a:spcPts val="0"/>
              </a:spcBef>
              <a:spcAft>
                <a:spcPts val="0"/>
              </a:spcAft>
              <a:buClr>
                <a:schemeClr val="dk1"/>
              </a:buClr>
              <a:buSzPts val="2800"/>
              <a:buFont typeface="Arial"/>
              <a:buChar char="-"/>
            </a:pPr>
            <a:r>
              <a:rPr lang="en-US"/>
              <a:t>Formulate resources, time, equipment, staff and cost</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•Main Focus on Design workflow and other also refer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txBox="1"/>
          <p:nvPr>
            <p:ph idx="4294967295" type="body"/>
          </p:nvPr>
        </p:nvSpPr>
        <p:spPr>
          <a:xfrm>
            <a:off x="211750" y="1584274"/>
            <a:ext cx="9072600" cy="48000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b="1" lang="en-US"/>
              <a:t>3. Construction Phase – </a:t>
            </a:r>
            <a:endParaRPr/>
          </a:p>
          <a:p>
            <a:pPr indent="0" lvl="0" marL="0" rtl="0" algn="l">
              <a:lnSpc>
                <a:spcPct val="90000"/>
              </a:lnSpc>
              <a:spcBef>
                <a:spcPts val="0"/>
              </a:spcBef>
              <a:spcAft>
                <a:spcPts val="0"/>
              </a:spcAft>
              <a:buClr>
                <a:schemeClr val="dk1"/>
              </a:buClr>
              <a:buSzPts val="2800"/>
              <a:buNone/>
            </a:pPr>
            <a:r>
              <a:rPr lang="en-US"/>
              <a:t>  Construction evolves the executable architectural baseline into a complete, working system</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Goal of construction is to complete all requirement, analysis, and design and to evolve the architectural baseline generated in Elaboration into the final system</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Main focus on the implementation workflow</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System is ready for testing at user site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ph idx="4294967295" type="body"/>
          </p:nvPr>
        </p:nvSpPr>
        <p:spPr>
          <a:xfrm>
            <a:off x="348150" y="1623249"/>
            <a:ext cx="9072600" cy="4877700"/>
          </a:xfrm>
          <a:prstGeom prst="rect">
            <a:avLst/>
          </a:prstGeom>
          <a:noFill/>
          <a:ln>
            <a:noFill/>
          </a:ln>
        </p:spPr>
        <p:txBody>
          <a:bodyPr anchorCtr="0" anchor="t" bIns="50375" lIns="100775" spcFirstLastPara="1" rIns="100775" wrap="square" tIns="50375">
            <a:normAutofit/>
          </a:bodyPr>
          <a:lstStyle/>
          <a:p>
            <a:pPr indent="0" lvl="0" marL="0" rtl="0" algn="l">
              <a:lnSpc>
                <a:spcPct val="90000"/>
              </a:lnSpc>
              <a:spcBef>
                <a:spcPts val="0"/>
              </a:spcBef>
              <a:spcAft>
                <a:spcPts val="0"/>
              </a:spcAft>
              <a:buClr>
                <a:schemeClr val="dk1"/>
              </a:buClr>
              <a:buSzPts val="2800"/>
              <a:buNone/>
            </a:pPr>
            <a:r>
              <a:rPr b="1" lang="en-US"/>
              <a:t>4. Transition Phase – </a:t>
            </a:r>
            <a:endParaRPr/>
          </a:p>
          <a:p>
            <a:pPr indent="0" lvl="0" marL="0" rtl="0" algn="l">
              <a:lnSpc>
                <a:spcPct val="90000"/>
              </a:lnSpc>
              <a:spcBef>
                <a:spcPts val="0"/>
              </a:spcBef>
              <a:spcAft>
                <a:spcPts val="0"/>
              </a:spcAft>
              <a:buClr>
                <a:schemeClr val="dk1"/>
              </a:buClr>
              <a:buSzPts val="2800"/>
              <a:buNone/>
            </a:pPr>
            <a:r>
              <a:rPr lang="en-US"/>
              <a:t>  Transition is about deploying the completed system into the user community</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This phase starts when testing is completed and the system is finally deployed </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Goals of this phase – prepare the user sites for the new software, modify the software, create user manuals and other documentation</a:t>
            </a:r>
            <a:endParaRPr/>
          </a:p>
          <a:p>
            <a:pPr indent="0" lvl="0" marL="0" rtl="0" algn="l">
              <a:lnSpc>
                <a:spcPct val="90000"/>
              </a:lnSpc>
              <a:spcBef>
                <a:spcPts val="0"/>
              </a:spcBef>
              <a:spcAft>
                <a:spcPts val="0"/>
              </a:spcAft>
              <a:buClr>
                <a:schemeClr val="dk1"/>
              </a:buClr>
              <a:buSzPts val="2800"/>
              <a:buNone/>
            </a:pPr>
            <a:r>
              <a:t/>
            </a:r>
            <a:endParaRPr/>
          </a:p>
          <a:p>
            <a:pPr indent="0" lvl="0" marL="0" rtl="0" algn="l">
              <a:lnSpc>
                <a:spcPct val="90000"/>
              </a:lnSpc>
              <a:spcBef>
                <a:spcPts val="0"/>
              </a:spcBef>
              <a:spcAft>
                <a:spcPts val="0"/>
              </a:spcAft>
              <a:buClr>
                <a:schemeClr val="dk1"/>
              </a:buClr>
              <a:buSzPts val="2800"/>
              <a:buNone/>
            </a:pPr>
            <a:r>
              <a:rPr lang="en-US"/>
              <a:t>• Main focus on test workflow</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6"/>
          <p:cNvSpPr txBox="1"/>
          <p:nvPr>
            <p:ph type="title"/>
          </p:nvPr>
        </p:nvSpPr>
        <p:spPr>
          <a:xfrm>
            <a:off x="504031" y="1"/>
            <a:ext cx="84822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Arial"/>
              <a:buNone/>
            </a:pPr>
            <a:r>
              <a:rPr lang="en-US"/>
              <a:t>iterative and incremental process</a:t>
            </a:r>
            <a:endParaRPr/>
          </a:p>
        </p:txBody>
      </p:sp>
      <p:sp>
        <p:nvSpPr>
          <p:cNvPr id="267" name="Google Shape;267;p26"/>
          <p:cNvSpPr txBox="1"/>
          <p:nvPr>
            <p:ph idx="4294967295" type="body"/>
          </p:nvPr>
        </p:nvSpPr>
        <p:spPr>
          <a:xfrm>
            <a:off x="504025" y="1883425"/>
            <a:ext cx="9072600" cy="5256300"/>
          </a:xfrm>
          <a:prstGeom prst="rect">
            <a:avLst/>
          </a:prstGeom>
          <a:noFill/>
          <a:ln>
            <a:noFill/>
          </a:ln>
        </p:spPr>
        <p:txBody>
          <a:bodyPr anchorCtr="0" anchor="t" bIns="50375" lIns="100775" spcFirstLastPara="1" rIns="100775" wrap="square" tIns="50375">
            <a:normAutofit/>
          </a:bodyPr>
          <a:lstStyle/>
          <a:p>
            <a:pPr indent="0" lvl="0" marL="0" rtl="0" algn="l">
              <a:lnSpc>
                <a:spcPct val="70000"/>
              </a:lnSpc>
              <a:spcBef>
                <a:spcPts val="0"/>
              </a:spcBef>
              <a:spcAft>
                <a:spcPts val="0"/>
              </a:spcAft>
              <a:buClr>
                <a:schemeClr val="dk1"/>
              </a:buClr>
              <a:buSzPts val="2800"/>
              <a:buNone/>
            </a:pPr>
            <a:r>
              <a:rPr lang="en-US" sz="2600"/>
              <a:t>The Unified Process (UP) is fundamentally an iterative and incremental software development framework designed to tackle complex projects by breaking them into manageable parts and evolving the system step by step.</a:t>
            </a:r>
            <a:endParaRPr sz="2600"/>
          </a:p>
          <a:p>
            <a:pPr indent="0" lvl="0" marL="0" rtl="0" algn="l">
              <a:lnSpc>
                <a:spcPct val="70000"/>
              </a:lnSpc>
              <a:spcBef>
                <a:spcPts val="0"/>
              </a:spcBef>
              <a:spcAft>
                <a:spcPts val="0"/>
              </a:spcAft>
              <a:buClr>
                <a:schemeClr val="dk1"/>
              </a:buClr>
              <a:buSzPts val="2800"/>
              <a:buNone/>
            </a:pPr>
            <a:r>
              <a:t/>
            </a:r>
            <a:endParaRPr sz="2600"/>
          </a:p>
          <a:p>
            <a:pPr indent="0" lvl="0" marL="0" rtl="0" algn="l">
              <a:lnSpc>
                <a:spcPct val="70000"/>
              </a:lnSpc>
              <a:spcBef>
                <a:spcPts val="0"/>
              </a:spcBef>
              <a:spcAft>
                <a:spcPts val="0"/>
              </a:spcAft>
              <a:buClr>
                <a:schemeClr val="dk1"/>
              </a:buClr>
              <a:buSzPts val="2800"/>
              <a:buNone/>
            </a:pPr>
            <a:r>
              <a:rPr b="1" lang="en-US" sz="3000"/>
              <a:t>Iterative </a:t>
            </a:r>
            <a:r>
              <a:rPr lang="en-US" sz="2600"/>
              <a:t>-</a:t>
            </a:r>
            <a:endParaRPr sz="2600"/>
          </a:p>
          <a:p>
            <a:pPr indent="0" lvl="0" marL="0" rtl="0" algn="l">
              <a:lnSpc>
                <a:spcPct val="70000"/>
              </a:lnSpc>
              <a:spcBef>
                <a:spcPts val="0"/>
              </a:spcBef>
              <a:spcAft>
                <a:spcPts val="0"/>
              </a:spcAft>
              <a:buClr>
                <a:schemeClr val="dk1"/>
              </a:buClr>
              <a:buSzPts val="1100"/>
              <a:buFont typeface="Arial"/>
              <a:buNone/>
            </a:pPr>
            <a:r>
              <a:rPr lang="en-US" sz="2600"/>
              <a:t>development in repeatable cycles (iterations).</a:t>
            </a:r>
            <a:endParaRPr sz="2600"/>
          </a:p>
          <a:p>
            <a:pPr indent="0" lvl="0" marL="0" rtl="0" algn="l">
              <a:lnSpc>
                <a:spcPct val="70000"/>
              </a:lnSpc>
              <a:spcBef>
                <a:spcPts val="0"/>
              </a:spcBef>
              <a:spcAft>
                <a:spcPts val="0"/>
              </a:spcAft>
              <a:buClr>
                <a:schemeClr val="dk1"/>
              </a:buClr>
              <a:buSzPts val="1100"/>
              <a:buFont typeface="Arial"/>
              <a:buNone/>
            </a:pPr>
            <a:r>
              <a:t/>
            </a:r>
            <a:endParaRPr sz="2600"/>
          </a:p>
          <a:p>
            <a:pPr indent="0" lvl="0" marL="0" rtl="0" algn="l">
              <a:lnSpc>
                <a:spcPct val="70000"/>
              </a:lnSpc>
              <a:spcBef>
                <a:spcPts val="0"/>
              </a:spcBef>
              <a:spcAft>
                <a:spcPts val="0"/>
              </a:spcAft>
              <a:buClr>
                <a:schemeClr val="dk1"/>
              </a:buClr>
              <a:buSzPts val="1100"/>
              <a:buFont typeface="Arial"/>
              <a:buNone/>
            </a:pPr>
            <a:r>
              <a:rPr lang="en-US" sz="2600"/>
              <a:t>Each cycle encompasses </a:t>
            </a:r>
            <a:r>
              <a:rPr b="1" lang="en-US" sz="2600"/>
              <a:t>planning, analysis, design, implementation, integration, test, and often a release.</a:t>
            </a:r>
            <a:endParaRPr b="1" sz="2600"/>
          </a:p>
          <a:p>
            <a:pPr indent="0" lvl="0" marL="0" rtl="0" algn="l">
              <a:lnSpc>
                <a:spcPct val="70000"/>
              </a:lnSpc>
              <a:spcBef>
                <a:spcPts val="0"/>
              </a:spcBef>
              <a:spcAft>
                <a:spcPts val="0"/>
              </a:spcAft>
              <a:buClr>
                <a:schemeClr val="dk1"/>
              </a:buClr>
              <a:buSzPts val="1100"/>
              <a:buFont typeface="Arial"/>
              <a:buNone/>
            </a:pPr>
            <a:r>
              <a:t/>
            </a:r>
            <a:endParaRPr sz="2600"/>
          </a:p>
          <a:p>
            <a:pPr indent="0" lvl="0" marL="0" rtl="0" algn="l">
              <a:lnSpc>
                <a:spcPct val="70000"/>
              </a:lnSpc>
              <a:spcBef>
                <a:spcPts val="0"/>
              </a:spcBef>
              <a:spcAft>
                <a:spcPts val="0"/>
              </a:spcAft>
              <a:buClr>
                <a:schemeClr val="dk1"/>
              </a:buClr>
              <a:buSzPts val="1100"/>
              <a:buFont typeface="Arial"/>
              <a:buNone/>
            </a:pPr>
            <a:r>
              <a:rPr lang="en-US" sz="2600"/>
              <a:t>After each cycle, you review, refine, and improve the work.</a:t>
            </a:r>
            <a:endParaRPr sz="2600"/>
          </a:p>
          <a:p>
            <a:pPr indent="0" lvl="0" marL="0" rtl="0" algn="l">
              <a:lnSpc>
                <a:spcPct val="70000"/>
              </a:lnSpc>
              <a:spcBef>
                <a:spcPts val="0"/>
              </a:spcBef>
              <a:spcAft>
                <a:spcPts val="0"/>
              </a:spcAft>
              <a:buClr>
                <a:schemeClr val="dk1"/>
              </a:buClr>
              <a:buSzPts val="1100"/>
              <a:buFont typeface="Arial"/>
              <a:buNone/>
            </a:pPr>
            <a:r>
              <a:t/>
            </a:r>
            <a:endParaRPr sz="2600"/>
          </a:p>
          <a:p>
            <a:pPr indent="0" lvl="0" marL="0" rtl="0" algn="l">
              <a:lnSpc>
                <a:spcPct val="70000"/>
              </a:lnSpc>
              <a:spcBef>
                <a:spcPts val="0"/>
              </a:spcBef>
              <a:spcAft>
                <a:spcPts val="0"/>
              </a:spcAft>
              <a:buClr>
                <a:schemeClr val="dk1"/>
              </a:buClr>
              <a:buSzPts val="1100"/>
              <a:buFont typeface="Arial"/>
              <a:buNone/>
            </a:pPr>
            <a:r>
              <a:rPr lang="en-US" sz="2600"/>
              <a:t>Ex- drafting multiple versions of an essay—refine at each version.</a:t>
            </a:r>
            <a:endParaRPr sz="2600"/>
          </a:p>
          <a:p>
            <a:pPr indent="0" lvl="0" marL="0" rtl="0" algn="l">
              <a:lnSpc>
                <a:spcPct val="70000"/>
              </a:lnSpc>
              <a:spcBef>
                <a:spcPts val="0"/>
              </a:spcBef>
              <a:spcAft>
                <a:spcPts val="0"/>
              </a:spcAft>
              <a:buClr>
                <a:schemeClr val="dk1"/>
              </a:buClr>
              <a:buSzPts val="2800"/>
              <a:buNone/>
            </a:pPr>
            <a:r>
              <a:t/>
            </a:r>
            <a:endParaRPr sz="26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370fa1691c3_0_0"/>
          <p:cNvSpPr txBox="1"/>
          <p:nvPr>
            <p:ph idx="1" type="body"/>
          </p:nvPr>
        </p:nvSpPr>
        <p:spPr>
          <a:xfrm>
            <a:off x="252325" y="2097749"/>
            <a:ext cx="9576000" cy="47676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1000"/>
              </a:spcBef>
              <a:spcAft>
                <a:spcPts val="0"/>
              </a:spcAft>
              <a:buClr>
                <a:schemeClr val="dk1"/>
              </a:buClr>
              <a:buSzPts val="1100"/>
              <a:buFont typeface="Arial"/>
              <a:buNone/>
            </a:pPr>
            <a:r>
              <a:rPr b="1" lang="en-US"/>
              <a:t>Baseline - </a:t>
            </a:r>
            <a:endParaRPr b="1"/>
          </a:p>
          <a:p>
            <a:pPr indent="0" lvl="0" marL="0" rtl="0" algn="l">
              <a:lnSpc>
                <a:spcPct val="90000"/>
              </a:lnSpc>
              <a:spcBef>
                <a:spcPts val="1000"/>
              </a:spcBef>
              <a:spcAft>
                <a:spcPts val="0"/>
              </a:spcAft>
              <a:buClr>
                <a:schemeClr val="dk1"/>
              </a:buClr>
              <a:buSzPts val="1100"/>
              <a:buFont typeface="Arial"/>
              <a:buNone/>
            </a:pPr>
            <a:r>
              <a:rPr lang="en-US"/>
              <a:t>• Each iteration generates a baseline</a:t>
            </a:r>
            <a:endParaRPr/>
          </a:p>
          <a:p>
            <a:pPr indent="0" lvl="0" marL="0" rtl="0" algn="l">
              <a:lnSpc>
                <a:spcPct val="90000"/>
              </a:lnSpc>
              <a:spcBef>
                <a:spcPts val="1000"/>
              </a:spcBef>
              <a:spcAft>
                <a:spcPts val="0"/>
              </a:spcAft>
              <a:buClr>
                <a:schemeClr val="dk1"/>
              </a:buClr>
              <a:buSzPts val="1100"/>
              <a:buFont typeface="Arial"/>
              <a:buNone/>
            </a:pPr>
            <a:r>
              <a:rPr lang="en-US"/>
              <a:t>• That Comprises a partially complete version of the final</a:t>
            </a:r>
            <a:endParaRPr/>
          </a:p>
          <a:p>
            <a:pPr indent="0" lvl="0" marL="0" rtl="0" algn="l">
              <a:lnSpc>
                <a:spcPct val="90000"/>
              </a:lnSpc>
              <a:spcBef>
                <a:spcPts val="1000"/>
              </a:spcBef>
              <a:spcAft>
                <a:spcPts val="0"/>
              </a:spcAft>
              <a:buClr>
                <a:schemeClr val="dk1"/>
              </a:buClr>
              <a:buSzPts val="1100"/>
              <a:buFont typeface="Arial"/>
              <a:buNone/>
            </a:pPr>
            <a:r>
              <a:rPr lang="en-US"/>
              <a:t>system and any associated project documentation</a:t>
            </a:r>
            <a:endParaRPr/>
          </a:p>
          <a:p>
            <a:pPr indent="0" lvl="0" marL="0" rtl="0" algn="l">
              <a:lnSpc>
                <a:spcPct val="90000"/>
              </a:lnSpc>
              <a:spcBef>
                <a:spcPts val="1000"/>
              </a:spcBef>
              <a:spcAft>
                <a:spcPts val="0"/>
              </a:spcAft>
              <a:buClr>
                <a:schemeClr val="dk1"/>
              </a:buClr>
              <a:buSzPts val="1100"/>
              <a:buFont typeface="Arial"/>
              <a:buNone/>
            </a:pPr>
            <a:r>
              <a:rPr lang="en-US"/>
              <a:t>• Baselines build on each other over successive iterations until the final finished system is achieved</a:t>
            </a:r>
            <a:endParaRPr/>
          </a:p>
          <a:p>
            <a:pPr indent="0" lvl="0" marL="0" rtl="0" algn="l">
              <a:lnSpc>
                <a:spcPct val="90000"/>
              </a:lnSpc>
              <a:spcBef>
                <a:spcPts val="1000"/>
              </a:spcBef>
              <a:spcAft>
                <a:spcPts val="0"/>
              </a:spcAft>
              <a:buSzPts val="1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idx="4294967295" type="body"/>
          </p:nvPr>
        </p:nvSpPr>
        <p:spPr>
          <a:xfrm>
            <a:off x="582900" y="1883425"/>
            <a:ext cx="9072600" cy="4309500"/>
          </a:xfrm>
          <a:prstGeom prst="rect">
            <a:avLst/>
          </a:prstGeom>
          <a:noFill/>
          <a:ln>
            <a:noFill/>
          </a:ln>
        </p:spPr>
        <p:txBody>
          <a:bodyPr anchorCtr="0" anchor="t" bIns="50375" lIns="100775" spcFirstLastPara="1" rIns="100775" wrap="square" tIns="50375">
            <a:normAutofit lnSpcReduction="20000"/>
          </a:bodyPr>
          <a:lstStyle/>
          <a:p>
            <a:pPr indent="0" lvl="0" marL="0" rtl="0" algn="l">
              <a:lnSpc>
                <a:spcPct val="90000"/>
              </a:lnSpc>
              <a:spcBef>
                <a:spcPts val="0"/>
              </a:spcBef>
              <a:spcAft>
                <a:spcPts val="0"/>
              </a:spcAft>
              <a:buClr>
                <a:schemeClr val="dk1"/>
              </a:buClr>
              <a:buSzPts val="1100"/>
              <a:buNone/>
            </a:pPr>
            <a:r>
              <a:rPr b="1" lang="en-US"/>
              <a:t>Incremental</a:t>
            </a:r>
            <a:r>
              <a:rPr lang="en-US"/>
              <a:t> -</a:t>
            </a:r>
            <a:endParaRPr/>
          </a:p>
          <a:p>
            <a:pPr indent="0" lvl="0" marL="0" rtl="0" algn="l">
              <a:lnSpc>
                <a:spcPct val="90000"/>
              </a:lnSpc>
              <a:spcBef>
                <a:spcPts val="0"/>
              </a:spcBef>
              <a:spcAft>
                <a:spcPts val="0"/>
              </a:spcAft>
              <a:buClr>
                <a:schemeClr val="dk1"/>
              </a:buClr>
              <a:buSzPts val="1100"/>
              <a:buFont typeface="Arial"/>
              <a:buNone/>
            </a:pPr>
            <a:r>
              <a:rPr lang="en-US"/>
              <a:t>building the system piece by piece.</a:t>
            </a:r>
            <a:br>
              <a:rPr lang="en-US"/>
            </a:br>
            <a:endParaRPr/>
          </a:p>
          <a:p>
            <a:pPr indent="0" lvl="0" marL="0" rtl="0" algn="l">
              <a:lnSpc>
                <a:spcPct val="90000"/>
              </a:lnSpc>
              <a:spcBef>
                <a:spcPts val="0"/>
              </a:spcBef>
              <a:spcAft>
                <a:spcPts val="0"/>
              </a:spcAft>
              <a:buClr>
                <a:schemeClr val="dk1"/>
              </a:buClr>
              <a:buSzPts val="1100"/>
              <a:buFont typeface="Arial"/>
              <a:buNone/>
            </a:pPr>
            <a:r>
              <a:rPr lang="en-US"/>
              <a:t>Each new “increment” adds new functionality to the previous baseline.</a:t>
            </a:r>
            <a:br>
              <a:rPr lang="en-US"/>
            </a:br>
            <a:endParaRPr/>
          </a:p>
          <a:p>
            <a:pPr indent="0" lvl="0" marL="0" rtl="0" algn="l">
              <a:lnSpc>
                <a:spcPct val="90000"/>
              </a:lnSpc>
              <a:spcBef>
                <a:spcPts val="0"/>
              </a:spcBef>
              <a:spcAft>
                <a:spcPts val="0"/>
              </a:spcAft>
              <a:buClr>
                <a:schemeClr val="dk1"/>
              </a:buClr>
              <a:buSzPts val="1100"/>
              <a:buNone/>
            </a:pPr>
            <a:r>
              <a:rPr lang="en-US"/>
              <a:t>Over time, these increments sum up to a complete system.</a:t>
            </a:r>
            <a:endParaRPr/>
          </a:p>
          <a:p>
            <a:pPr indent="0" lvl="0" marL="0" rtl="0" algn="l">
              <a:lnSpc>
                <a:spcPct val="90000"/>
              </a:lnSpc>
              <a:spcBef>
                <a:spcPts val="0"/>
              </a:spcBef>
              <a:spcAft>
                <a:spcPts val="0"/>
              </a:spcAft>
              <a:buClr>
                <a:schemeClr val="dk1"/>
              </a:buClr>
              <a:buSzPts val="1100"/>
              <a:buNone/>
            </a:pPr>
            <a:r>
              <a:t/>
            </a:r>
            <a:endParaRPr/>
          </a:p>
          <a:p>
            <a:pPr indent="0" lvl="0" marL="0" rtl="0" algn="l">
              <a:lnSpc>
                <a:spcPct val="90000"/>
              </a:lnSpc>
              <a:spcBef>
                <a:spcPts val="0"/>
              </a:spcBef>
              <a:spcAft>
                <a:spcPts val="0"/>
              </a:spcAft>
              <a:buClr>
                <a:schemeClr val="dk1"/>
              </a:buClr>
              <a:buSzPts val="1100"/>
              <a:buNone/>
            </a:pPr>
            <a:r>
              <a:rPr lang="en-US"/>
              <a:t>The difference between two consecutive baselines is known as an increment</a:t>
            </a:r>
            <a:endParaRPr/>
          </a:p>
          <a:p>
            <a:pPr indent="0" lvl="0" marL="0" rtl="0" algn="l">
              <a:lnSpc>
                <a:spcPct val="90000"/>
              </a:lnSpc>
              <a:spcBef>
                <a:spcPts val="0"/>
              </a:spcBef>
              <a:spcAft>
                <a:spcPts val="0"/>
              </a:spcAft>
              <a:buClr>
                <a:schemeClr val="dk1"/>
              </a:buClr>
              <a:buSzPts val="1100"/>
              <a:buNone/>
            </a:pPr>
            <a:r>
              <a:t/>
            </a:r>
            <a:endParaRPr/>
          </a:p>
          <a:p>
            <a:pPr indent="0" lvl="0" marL="0" rtl="0" algn="l">
              <a:lnSpc>
                <a:spcPct val="90000"/>
              </a:lnSpc>
              <a:spcBef>
                <a:spcPts val="0"/>
              </a:spcBef>
              <a:spcAft>
                <a:spcPts val="0"/>
              </a:spcAft>
              <a:buClr>
                <a:schemeClr val="dk1"/>
              </a:buClr>
              <a:buSzPts val="11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g370fa1691c3_0_9"/>
          <p:cNvSpPr txBox="1"/>
          <p:nvPr>
            <p:ph idx="1" type="body"/>
          </p:nvPr>
        </p:nvSpPr>
        <p:spPr>
          <a:xfrm>
            <a:off x="252313" y="1501640"/>
            <a:ext cx="9576000" cy="54957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1000"/>
              </a:spcBef>
              <a:spcAft>
                <a:spcPts val="0"/>
              </a:spcAft>
              <a:buSzPts val="1800"/>
              <a:buNone/>
            </a:pPr>
            <a:r>
              <a:rPr b="1" lang="en-US"/>
              <a:t>Iteration Workflows - </a:t>
            </a:r>
            <a:endParaRPr b="1"/>
          </a:p>
        </p:txBody>
      </p:sp>
      <p:pic>
        <p:nvPicPr>
          <p:cNvPr id="285" name="Google Shape;285;g370fa1691c3_0_9"/>
          <p:cNvPicPr preferRelativeResize="0"/>
          <p:nvPr/>
        </p:nvPicPr>
        <p:blipFill rotWithShape="1">
          <a:blip r:embed="rId3">
            <a:alphaModFix/>
          </a:blip>
          <a:srcRect b="0" l="0" r="0" t="0"/>
          <a:stretch/>
        </p:blipFill>
        <p:spPr>
          <a:xfrm>
            <a:off x="596626" y="2149251"/>
            <a:ext cx="8929150" cy="4632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8"/>
          <p:cNvSpPr txBox="1"/>
          <p:nvPr>
            <p:ph idx="4294967295" type="body"/>
          </p:nvPr>
        </p:nvSpPr>
        <p:spPr>
          <a:xfrm>
            <a:off x="284575" y="1572000"/>
            <a:ext cx="9199800" cy="5375700"/>
          </a:xfrm>
          <a:prstGeom prst="rect">
            <a:avLst/>
          </a:prstGeom>
          <a:noFill/>
          <a:ln>
            <a:noFill/>
          </a:ln>
        </p:spPr>
        <p:txBody>
          <a:bodyPr anchorCtr="0" anchor="t" bIns="50375" lIns="100775" spcFirstLastPara="1" rIns="100775" wrap="square" tIns="50375">
            <a:noAutofit/>
          </a:bodyPr>
          <a:lstStyle/>
          <a:p>
            <a:pPr indent="0" lvl="0" marL="0" rtl="0" algn="l">
              <a:lnSpc>
                <a:spcPct val="95000"/>
              </a:lnSpc>
              <a:spcBef>
                <a:spcPts val="1400"/>
              </a:spcBef>
              <a:spcAft>
                <a:spcPts val="0"/>
              </a:spcAft>
              <a:buClr>
                <a:schemeClr val="dk1"/>
              </a:buClr>
              <a:buSzPts val="852"/>
              <a:buFont typeface="Arial"/>
              <a:buNone/>
            </a:pPr>
            <a:r>
              <a:rPr b="1" lang="en-US" sz="2870"/>
              <a:t>Iterations &amp; Baselines - </a:t>
            </a:r>
            <a:endParaRPr b="1" sz="2870"/>
          </a:p>
          <a:p>
            <a:pPr indent="-385445" lvl="0" marL="457200" rtl="0" algn="l">
              <a:lnSpc>
                <a:spcPct val="95000"/>
              </a:lnSpc>
              <a:spcBef>
                <a:spcPts val="1200"/>
              </a:spcBef>
              <a:spcAft>
                <a:spcPts val="0"/>
              </a:spcAft>
              <a:buSzPts val="2470"/>
              <a:buChar char="●"/>
            </a:pPr>
            <a:r>
              <a:rPr lang="en-US" sz="2470"/>
              <a:t>Each iteration produces a baseline—a partially complete version of the system, along with documentation.</a:t>
            </a:r>
            <a:endParaRPr sz="2470"/>
          </a:p>
          <a:p>
            <a:pPr indent="-385445" lvl="0" marL="457200" rtl="0" algn="l">
              <a:lnSpc>
                <a:spcPct val="95000"/>
              </a:lnSpc>
              <a:spcBef>
                <a:spcPts val="0"/>
              </a:spcBef>
              <a:spcAft>
                <a:spcPts val="0"/>
              </a:spcAft>
              <a:buSzPts val="2470"/>
              <a:buChar char="●"/>
            </a:pPr>
            <a:r>
              <a:rPr lang="en-US" sz="2470"/>
              <a:t>Each baseline provides an agreed basis for further review</a:t>
            </a:r>
            <a:endParaRPr sz="2470"/>
          </a:p>
          <a:p>
            <a:pPr indent="0" lvl="0" marL="457200" rtl="0" algn="l">
              <a:lnSpc>
                <a:spcPct val="95000"/>
              </a:lnSpc>
              <a:spcBef>
                <a:spcPts val="1200"/>
              </a:spcBef>
              <a:spcAft>
                <a:spcPts val="0"/>
              </a:spcAft>
              <a:buSzPts val="852"/>
              <a:buNone/>
            </a:pPr>
            <a:r>
              <a:rPr lang="en-US" sz="2470"/>
              <a:t>and development</a:t>
            </a:r>
            <a:endParaRPr sz="2470"/>
          </a:p>
          <a:p>
            <a:pPr indent="-385445" lvl="0" marL="457200" rtl="0" algn="l">
              <a:lnSpc>
                <a:spcPct val="95000"/>
              </a:lnSpc>
              <a:spcBef>
                <a:spcPts val="1200"/>
              </a:spcBef>
              <a:spcAft>
                <a:spcPts val="0"/>
              </a:spcAft>
              <a:buSzPts val="2470"/>
              <a:buChar char="●"/>
            </a:pPr>
            <a:r>
              <a:rPr lang="en-US" sz="2470"/>
              <a:t>Can be changed only through formal procedures of configuration and change management</a:t>
            </a:r>
            <a:endParaRPr sz="2470"/>
          </a:p>
          <a:p>
            <a:pPr indent="-385445" lvl="0" marL="457200" rtl="0" algn="l">
              <a:lnSpc>
                <a:spcPct val="95000"/>
              </a:lnSpc>
              <a:spcBef>
                <a:spcPts val="0"/>
              </a:spcBef>
              <a:spcAft>
                <a:spcPts val="0"/>
              </a:spcAft>
              <a:buSzPts val="2470"/>
              <a:buChar char="●"/>
            </a:pPr>
            <a:r>
              <a:rPr lang="en-US" sz="2470"/>
              <a:t> Increments are just the difference between one baseline and</a:t>
            </a:r>
            <a:endParaRPr sz="2470"/>
          </a:p>
          <a:p>
            <a:pPr indent="0" lvl="0" marL="0" rtl="0" algn="l">
              <a:lnSpc>
                <a:spcPct val="95000"/>
              </a:lnSpc>
              <a:spcBef>
                <a:spcPts val="1200"/>
              </a:spcBef>
              <a:spcAft>
                <a:spcPts val="0"/>
              </a:spcAft>
              <a:buSzPts val="852"/>
              <a:buNone/>
            </a:pPr>
            <a:r>
              <a:rPr lang="en-US" sz="2470"/>
              <a:t>the next</a:t>
            </a:r>
            <a:endParaRPr sz="2470"/>
          </a:p>
          <a:p>
            <a:pPr indent="0" lvl="0" marL="0" rtl="0" algn="l">
              <a:lnSpc>
                <a:spcPct val="90000"/>
              </a:lnSpc>
              <a:spcBef>
                <a:spcPts val="1200"/>
              </a:spcBef>
              <a:spcAft>
                <a:spcPts val="0"/>
              </a:spcAft>
              <a:buClr>
                <a:schemeClr val="dk1"/>
              </a:buClr>
              <a:buSzPts val="1100"/>
              <a:buFont typeface="Arial"/>
              <a:buNone/>
            </a:pPr>
            <a:r>
              <a:rPr b="1" lang="en-US"/>
              <a:t>Think of baseline as a saved game. If something goes wrong, you can reload it. And incremental means you keep upgrading your game level by level, without restarting.</a:t>
            </a:r>
            <a:endParaRPr b="1" sz="2270"/>
          </a:p>
          <a:p>
            <a:pPr indent="0" lvl="0" marL="0" rtl="0" algn="l">
              <a:lnSpc>
                <a:spcPct val="95000"/>
              </a:lnSpc>
              <a:spcBef>
                <a:spcPts val="1200"/>
              </a:spcBef>
              <a:spcAft>
                <a:spcPts val="0"/>
              </a:spcAft>
              <a:buSzPts val="852"/>
              <a:buNone/>
            </a:pPr>
            <a:r>
              <a:t/>
            </a:r>
            <a:endParaRPr sz="2270"/>
          </a:p>
          <a:p>
            <a:pPr indent="0" lvl="0" marL="0" rtl="0" algn="l">
              <a:lnSpc>
                <a:spcPct val="70000"/>
              </a:lnSpc>
              <a:spcBef>
                <a:spcPts val="1200"/>
              </a:spcBef>
              <a:spcAft>
                <a:spcPts val="0"/>
              </a:spcAft>
              <a:buClr>
                <a:schemeClr val="dk1"/>
              </a:buClr>
              <a:buSzPts val="2170"/>
              <a:buNone/>
            </a:pPr>
            <a:r>
              <a:t/>
            </a:r>
            <a:endParaRPr sz="227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70fa1691c3_0_17"/>
          <p:cNvSpPr txBox="1"/>
          <p:nvPr>
            <p:ph type="title"/>
          </p:nvPr>
        </p:nvSpPr>
        <p:spPr>
          <a:xfrm>
            <a:off x="719280" y="301320"/>
            <a:ext cx="88518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1800"/>
              <a:buNone/>
            </a:pPr>
            <a:r>
              <a:rPr lang="en-US"/>
              <a:t>MCQs</a:t>
            </a:r>
            <a:endParaRPr/>
          </a:p>
        </p:txBody>
      </p:sp>
      <p:sp>
        <p:nvSpPr>
          <p:cNvPr id="297" name="Google Shape;297;g370fa1691c3_0_17"/>
          <p:cNvSpPr txBox="1"/>
          <p:nvPr>
            <p:ph idx="1" type="body"/>
          </p:nvPr>
        </p:nvSpPr>
        <p:spPr>
          <a:xfrm>
            <a:off x="216000" y="1560242"/>
            <a:ext cx="9576000" cy="951000"/>
          </a:xfrm>
          <a:prstGeom prst="rect">
            <a:avLst/>
          </a:prstGeom>
          <a:noFill/>
          <a:ln>
            <a:noFill/>
          </a:ln>
        </p:spPr>
        <p:txBody>
          <a:bodyPr anchorCtr="0" anchor="t" bIns="0" lIns="0" spcFirstLastPara="1" rIns="0" wrap="square" tIns="0">
            <a:normAutofit lnSpcReduction="20000"/>
          </a:bodyPr>
          <a:lstStyle/>
          <a:p>
            <a:pPr indent="0" lvl="0" marL="0" rtl="0" algn="l">
              <a:lnSpc>
                <a:spcPct val="90000"/>
              </a:lnSpc>
              <a:spcBef>
                <a:spcPts val="1000"/>
              </a:spcBef>
              <a:spcAft>
                <a:spcPts val="0"/>
              </a:spcAft>
              <a:buSzPts val="1800"/>
              <a:buNone/>
            </a:pPr>
            <a:r>
              <a:rPr lang="en-US"/>
              <a:t>1.Which phase of UP defines the system architecture?        a) Inception                        b) Elaboration                             c) Construction                   d) Transition</a:t>
            </a:r>
            <a:endParaRPr/>
          </a:p>
        </p:txBody>
      </p:sp>
      <p:sp>
        <p:nvSpPr>
          <p:cNvPr id="298" name="Google Shape;298;g370fa1691c3_0_17"/>
          <p:cNvSpPr txBox="1"/>
          <p:nvPr/>
        </p:nvSpPr>
        <p:spPr>
          <a:xfrm>
            <a:off x="307650" y="2607775"/>
            <a:ext cx="6009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Answer: b) Elaboration</a:t>
            </a:r>
            <a:endParaRPr b="0" i="0" sz="2800" u="none" cap="none" strike="noStrike">
              <a:solidFill>
                <a:srgbClr val="000000"/>
              </a:solidFill>
              <a:latin typeface="Arial"/>
              <a:ea typeface="Arial"/>
              <a:cs typeface="Arial"/>
              <a:sym typeface="Arial"/>
            </a:endParaRPr>
          </a:p>
        </p:txBody>
      </p:sp>
      <p:sp>
        <p:nvSpPr>
          <p:cNvPr id="299" name="Google Shape;299;g370fa1691c3_0_17"/>
          <p:cNvSpPr txBox="1"/>
          <p:nvPr/>
        </p:nvSpPr>
        <p:spPr>
          <a:xfrm>
            <a:off x="307650" y="3715488"/>
            <a:ext cx="9134100" cy="2339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2. The main goal of the Inception phase is:                     a) To deliver the final product                                          b) To capture 100% of requirements                               c) To check feasibility and define scope                         d) To write complete code</a:t>
            </a:r>
            <a:endParaRPr b="0" i="0" sz="2800" u="none" cap="none" strike="noStrike">
              <a:solidFill>
                <a:srgbClr val="000000"/>
              </a:solidFill>
              <a:latin typeface="Arial"/>
              <a:ea typeface="Arial"/>
              <a:cs typeface="Arial"/>
              <a:sym typeface="Arial"/>
            </a:endParaRPr>
          </a:p>
        </p:txBody>
      </p:sp>
      <p:sp>
        <p:nvSpPr>
          <p:cNvPr id="300" name="Google Shape;300;g370fa1691c3_0_17"/>
          <p:cNvSpPr txBox="1"/>
          <p:nvPr/>
        </p:nvSpPr>
        <p:spPr>
          <a:xfrm>
            <a:off x="307650" y="6116200"/>
            <a:ext cx="88518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Answer: c) To check feasibility and define scope</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g370fa1691c3_0_33"/>
          <p:cNvSpPr txBox="1"/>
          <p:nvPr>
            <p:ph type="title"/>
          </p:nvPr>
        </p:nvSpPr>
        <p:spPr>
          <a:xfrm>
            <a:off x="719280" y="301320"/>
            <a:ext cx="88518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1800"/>
              <a:buNone/>
            </a:pPr>
            <a:r>
              <a:rPr lang="en-US"/>
              <a:t>MCQs</a:t>
            </a:r>
            <a:endParaRPr/>
          </a:p>
        </p:txBody>
      </p:sp>
      <p:sp>
        <p:nvSpPr>
          <p:cNvPr id="307" name="Google Shape;307;g370fa1691c3_0_33"/>
          <p:cNvSpPr txBox="1"/>
          <p:nvPr>
            <p:ph idx="1" type="body"/>
          </p:nvPr>
        </p:nvSpPr>
        <p:spPr>
          <a:xfrm>
            <a:off x="216000" y="1560242"/>
            <a:ext cx="9576000" cy="951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1800"/>
              <a:buNone/>
            </a:pPr>
            <a:r>
              <a:rPr lang="en-US"/>
              <a:t>3. In which UP phase is the software deployed to the user environment?																</a:t>
            </a:r>
            <a:endParaRPr/>
          </a:p>
          <a:p>
            <a:pPr indent="0" lvl="0" marL="0" rtl="0" algn="l">
              <a:lnSpc>
                <a:spcPct val="90000"/>
              </a:lnSpc>
              <a:spcBef>
                <a:spcPts val="1000"/>
              </a:spcBef>
              <a:spcAft>
                <a:spcPts val="0"/>
              </a:spcAft>
              <a:buClr>
                <a:schemeClr val="dk1"/>
              </a:buClr>
              <a:buSzPts val="1100"/>
              <a:buFont typeface="Arial"/>
              <a:buNone/>
            </a:pPr>
            <a:r>
              <a:rPr lang="en-US"/>
              <a:t>a) Construction                         b) Transition                             c) Inception                               d) Elaboration</a:t>
            </a:r>
            <a:endParaRPr/>
          </a:p>
          <a:p>
            <a:pPr indent="0" lvl="0" marL="0" rtl="0" algn="l">
              <a:lnSpc>
                <a:spcPct val="90000"/>
              </a:lnSpc>
              <a:spcBef>
                <a:spcPts val="1000"/>
              </a:spcBef>
              <a:spcAft>
                <a:spcPts val="0"/>
              </a:spcAft>
              <a:buClr>
                <a:schemeClr val="dk1"/>
              </a:buClr>
              <a:buSzPts val="1100"/>
              <a:buFont typeface="Arial"/>
              <a:buNone/>
            </a:pPr>
            <a:r>
              <a:t/>
            </a:r>
            <a:endParaRPr/>
          </a:p>
          <a:p>
            <a:pPr indent="0" lvl="0" marL="0" rtl="0" algn="l">
              <a:lnSpc>
                <a:spcPct val="90000"/>
              </a:lnSpc>
              <a:spcBef>
                <a:spcPts val="1000"/>
              </a:spcBef>
              <a:spcAft>
                <a:spcPts val="0"/>
              </a:spcAft>
              <a:buSzPts val="1800"/>
              <a:buNone/>
            </a:pPr>
            <a:r>
              <a:t/>
            </a:r>
            <a:endParaRPr/>
          </a:p>
        </p:txBody>
      </p:sp>
      <p:sp>
        <p:nvSpPr>
          <p:cNvPr id="308" name="Google Shape;308;g370fa1691c3_0_33"/>
          <p:cNvSpPr txBox="1"/>
          <p:nvPr/>
        </p:nvSpPr>
        <p:spPr>
          <a:xfrm>
            <a:off x="216000" y="3333000"/>
            <a:ext cx="6009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Answer: b) Transition</a:t>
            </a:r>
            <a:endParaRPr b="0" i="0" sz="2800" u="none" cap="none" strike="noStrike">
              <a:solidFill>
                <a:srgbClr val="000000"/>
              </a:solidFill>
              <a:latin typeface="Arial"/>
              <a:ea typeface="Arial"/>
              <a:cs typeface="Arial"/>
              <a:sym typeface="Arial"/>
            </a:endParaRPr>
          </a:p>
        </p:txBody>
      </p:sp>
      <p:sp>
        <p:nvSpPr>
          <p:cNvPr id="309" name="Google Shape;309;g370fa1691c3_0_33"/>
          <p:cNvSpPr txBox="1"/>
          <p:nvPr/>
        </p:nvSpPr>
        <p:spPr>
          <a:xfrm>
            <a:off x="307650" y="4173275"/>
            <a:ext cx="9134100" cy="1908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4. Which of the following is a milestone of the Construction phase?                                                       a) Product Release                     b) Life Cycle Objectives          c) Initial Operational Capability    d) Risk Resolution</a:t>
            </a:r>
            <a:endParaRPr b="0" i="0" sz="2800" u="none" cap="none" strike="noStrike">
              <a:solidFill>
                <a:srgbClr val="000000"/>
              </a:solidFill>
              <a:latin typeface="Arial"/>
              <a:ea typeface="Arial"/>
              <a:cs typeface="Arial"/>
              <a:sym typeface="Arial"/>
            </a:endParaRPr>
          </a:p>
        </p:txBody>
      </p:sp>
      <p:sp>
        <p:nvSpPr>
          <p:cNvPr id="310" name="Google Shape;310;g370fa1691c3_0_33"/>
          <p:cNvSpPr txBox="1"/>
          <p:nvPr/>
        </p:nvSpPr>
        <p:spPr>
          <a:xfrm>
            <a:off x="216000" y="6306550"/>
            <a:ext cx="8851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Answer: c) Initial Operational Capability</a:t>
            </a:r>
            <a:endParaRPr b="0" i="0" sz="2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70fa1691c3_0_42"/>
          <p:cNvSpPr txBox="1"/>
          <p:nvPr>
            <p:ph type="title"/>
          </p:nvPr>
        </p:nvSpPr>
        <p:spPr>
          <a:xfrm>
            <a:off x="719280" y="301320"/>
            <a:ext cx="88518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SzPts val="1800"/>
              <a:buNone/>
            </a:pPr>
            <a:r>
              <a:rPr lang="en-US"/>
              <a:t>MCQs</a:t>
            </a:r>
            <a:endParaRPr/>
          </a:p>
        </p:txBody>
      </p:sp>
      <p:sp>
        <p:nvSpPr>
          <p:cNvPr id="317" name="Google Shape;317;g370fa1691c3_0_42"/>
          <p:cNvSpPr txBox="1"/>
          <p:nvPr>
            <p:ph idx="1" type="body"/>
          </p:nvPr>
        </p:nvSpPr>
        <p:spPr>
          <a:xfrm>
            <a:off x="216000" y="1560250"/>
            <a:ext cx="9764100" cy="951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1800"/>
              <a:buNone/>
            </a:pPr>
            <a:r>
              <a:rPr lang="en-US" sz="2700"/>
              <a:t>5.What is the main workflow focus in the Construction phase?  a) Requirement Gathering                           b) System Design     c) Implementation &amp; Testing                         d) Deployment</a:t>
            </a:r>
            <a:endParaRPr sz="2700"/>
          </a:p>
          <a:p>
            <a:pPr indent="0" lvl="0" marL="0" rtl="0" algn="l">
              <a:lnSpc>
                <a:spcPct val="90000"/>
              </a:lnSpc>
              <a:spcBef>
                <a:spcPts val="1000"/>
              </a:spcBef>
              <a:spcAft>
                <a:spcPts val="0"/>
              </a:spcAft>
              <a:buClr>
                <a:schemeClr val="dk1"/>
              </a:buClr>
              <a:buSzPts val="1100"/>
              <a:buFont typeface="Arial"/>
              <a:buNone/>
            </a:pPr>
            <a:r>
              <a:t/>
            </a:r>
            <a:endParaRPr sz="2700"/>
          </a:p>
          <a:p>
            <a:pPr indent="0" lvl="0" marL="0" rtl="0" algn="l">
              <a:lnSpc>
                <a:spcPct val="90000"/>
              </a:lnSpc>
              <a:spcBef>
                <a:spcPts val="1000"/>
              </a:spcBef>
              <a:spcAft>
                <a:spcPts val="0"/>
              </a:spcAft>
              <a:buSzPts val="1800"/>
              <a:buNone/>
            </a:pPr>
            <a:r>
              <a:t/>
            </a:r>
            <a:endParaRPr sz="2700"/>
          </a:p>
        </p:txBody>
      </p:sp>
      <p:sp>
        <p:nvSpPr>
          <p:cNvPr id="318" name="Google Shape;318;g370fa1691c3_0_42"/>
          <p:cNvSpPr txBox="1"/>
          <p:nvPr/>
        </p:nvSpPr>
        <p:spPr>
          <a:xfrm>
            <a:off x="307650" y="2805575"/>
            <a:ext cx="60096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Answer: c) Implementation &amp; Testing</a:t>
            </a:r>
            <a:endParaRPr b="0" i="0" sz="2800" u="none" cap="none" strike="noStrike">
              <a:solidFill>
                <a:srgbClr val="000000"/>
              </a:solidFill>
              <a:latin typeface="Arial"/>
              <a:ea typeface="Arial"/>
              <a:cs typeface="Arial"/>
              <a:sym typeface="Arial"/>
            </a:endParaRPr>
          </a:p>
        </p:txBody>
      </p:sp>
      <p:sp>
        <p:nvSpPr>
          <p:cNvPr id="319" name="Google Shape;319;g370fa1691c3_0_42"/>
          <p:cNvSpPr txBox="1"/>
          <p:nvPr/>
        </p:nvSpPr>
        <p:spPr>
          <a:xfrm>
            <a:off x="307650" y="4228263"/>
            <a:ext cx="91341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6.The final milestone of the Unified Process is:              a) Life Cycle Architecture                b) Product Release</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c) Initial Operational Capability       d) Vision Statement</a:t>
            </a:r>
            <a:endParaRPr b="0" i="0" sz="2800" u="none" cap="none" strike="noStrike">
              <a:solidFill>
                <a:srgbClr val="000000"/>
              </a:solidFill>
              <a:latin typeface="Arial"/>
              <a:ea typeface="Arial"/>
              <a:cs typeface="Arial"/>
              <a:sym typeface="Arial"/>
            </a:endParaRPr>
          </a:p>
        </p:txBody>
      </p:sp>
      <p:sp>
        <p:nvSpPr>
          <p:cNvPr id="320" name="Google Shape;320;g370fa1691c3_0_42"/>
          <p:cNvSpPr txBox="1"/>
          <p:nvPr/>
        </p:nvSpPr>
        <p:spPr>
          <a:xfrm>
            <a:off x="307650" y="5793900"/>
            <a:ext cx="8851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Answer: b) Product Release</a:t>
            </a:r>
            <a:endParaRPr b="0" i="0" sz="2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70fa1691c3_0_60"/>
          <p:cNvSpPr txBox="1"/>
          <p:nvPr>
            <p:ph idx="1" type="body"/>
          </p:nvPr>
        </p:nvSpPr>
        <p:spPr>
          <a:xfrm>
            <a:off x="621825" y="1599975"/>
            <a:ext cx="9285000" cy="819000"/>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1000"/>
              </a:spcBef>
              <a:spcAft>
                <a:spcPts val="0"/>
              </a:spcAft>
              <a:buSzPts val="1800"/>
              <a:buNone/>
            </a:pPr>
            <a:r>
              <a:rPr b="1" lang="en-US" sz="2400"/>
              <a:t>The Unified Process has three phases: Inception, Construction, and Deployment.</a:t>
            </a:r>
            <a:endParaRPr b="1" sz="2400"/>
          </a:p>
        </p:txBody>
      </p:sp>
      <p:sp>
        <p:nvSpPr>
          <p:cNvPr id="327" name="Google Shape;327;g370fa1691c3_0_60"/>
          <p:cNvSpPr txBox="1"/>
          <p:nvPr/>
        </p:nvSpPr>
        <p:spPr>
          <a:xfrm>
            <a:off x="688600" y="23947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False</a:t>
            </a:r>
            <a:endParaRPr b="1" i="0" sz="2400" u="none" cap="none" strike="noStrike">
              <a:solidFill>
                <a:srgbClr val="000000"/>
              </a:solidFill>
              <a:latin typeface="Arial"/>
              <a:ea typeface="Arial"/>
              <a:cs typeface="Arial"/>
              <a:sym typeface="Arial"/>
            </a:endParaRPr>
          </a:p>
        </p:txBody>
      </p:sp>
      <p:sp>
        <p:nvSpPr>
          <p:cNvPr id="328" name="Google Shape;328;g370fa1691c3_0_60"/>
          <p:cNvSpPr txBox="1"/>
          <p:nvPr/>
        </p:nvSpPr>
        <p:spPr>
          <a:xfrm>
            <a:off x="560025" y="3177663"/>
            <a:ext cx="94086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Elaboration phase ends with the milestone called "Life Cycle Architecture".</a:t>
            </a:r>
            <a:endParaRPr b="1" i="0" sz="2400" u="none" cap="none" strike="noStrike">
              <a:solidFill>
                <a:srgbClr val="000000"/>
              </a:solidFill>
              <a:latin typeface="Arial"/>
              <a:ea typeface="Arial"/>
              <a:cs typeface="Arial"/>
              <a:sym typeface="Arial"/>
            </a:endParaRPr>
          </a:p>
        </p:txBody>
      </p:sp>
      <p:sp>
        <p:nvSpPr>
          <p:cNvPr id="329" name="Google Shape;329;g370fa1691c3_0_60"/>
          <p:cNvSpPr txBox="1"/>
          <p:nvPr/>
        </p:nvSpPr>
        <p:spPr>
          <a:xfrm>
            <a:off x="621825" y="3806738"/>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True</a:t>
            </a:r>
            <a:endParaRPr b="1" i="0" sz="2400" u="none" cap="none" strike="noStrike">
              <a:solidFill>
                <a:srgbClr val="000000"/>
              </a:solidFill>
              <a:latin typeface="Arial"/>
              <a:ea typeface="Arial"/>
              <a:cs typeface="Arial"/>
              <a:sym typeface="Arial"/>
            </a:endParaRPr>
          </a:p>
        </p:txBody>
      </p:sp>
      <p:sp>
        <p:nvSpPr>
          <p:cNvPr id="330" name="Google Shape;330;g370fa1691c3_0_60"/>
          <p:cNvSpPr txBox="1"/>
          <p:nvPr/>
        </p:nvSpPr>
        <p:spPr>
          <a:xfrm>
            <a:off x="498125" y="4336575"/>
            <a:ext cx="8851800" cy="4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Requirements are completely frozen after the Inception phase.</a:t>
            </a:r>
            <a:endParaRPr b="1" i="0" sz="2400" u="none" cap="none" strike="noStrike">
              <a:solidFill>
                <a:srgbClr val="000000"/>
              </a:solidFill>
              <a:latin typeface="Arial"/>
              <a:ea typeface="Arial"/>
              <a:cs typeface="Arial"/>
              <a:sym typeface="Arial"/>
            </a:endParaRPr>
          </a:p>
        </p:txBody>
      </p:sp>
      <p:sp>
        <p:nvSpPr>
          <p:cNvPr id="331" name="Google Shape;331;g370fa1691c3_0_60"/>
          <p:cNvSpPr txBox="1"/>
          <p:nvPr/>
        </p:nvSpPr>
        <p:spPr>
          <a:xfrm>
            <a:off x="688600" y="5203575"/>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False</a:t>
            </a:r>
            <a:endParaRPr b="1" i="0" sz="2400" u="none" cap="none" strike="noStrike">
              <a:solidFill>
                <a:srgbClr val="000000"/>
              </a:solidFill>
              <a:latin typeface="Arial"/>
              <a:ea typeface="Arial"/>
              <a:cs typeface="Arial"/>
              <a:sym typeface="Arial"/>
            </a:endParaRPr>
          </a:p>
        </p:txBody>
      </p:sp>
      <p:sp>
        <p:nvSpPr>
          <p:cNvPr id="332" name="Google Shape;332;g370fa1691c3_0_60"/>
          <p:cNvSpPr txBox="1"/>
          <p:nvPr/>
        </p:nvSpPr>
        <p:spPr>
          <a:xfrm>
            <a:off x="498125" y="5757675"/>
            <a:ext cx="81486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The Transition phase involves testing and bug fixing.</a:t>
            </a:r>
            <a:endParaRPr b="1" i="0" sz="2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Arial"/>
              <a:ea typeface="Arial"/>
              <a:cs typeface="Arial"/>
              <a:sym typeface="Arial"/>
            </a:endParaRPr>
          </a:p>
        </p:txBody>
      </p:sp>
      <p:sp>
        <p:nvSpPr>
          <p:cNvPr id="333" name="Google Shape;333;g370fa1691c3_0_60"/>
          <p:cNvSpPr txBox="1"/>
          <p:nvPr/>
        </p:nvSpPr>
        <p:spPr>
          <a:xfrm>
            <a:off x="621825" y="62855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True</a:t>
            </a:r>
            <a:endParaRPr b="1"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70fa1691c3_0_88"/>
          <p:cNvSpPr txBox="1"/>
          <p:nvPr>
            <p:ph idx="1" type="body"/>
          </p:nvPr>
        </p:nvSpPr>
        <p:spPr>
          <a:xfrm>
            <a:off x="720175" y="1606925"/>
            <a:ext cx="8640300" cy="525900"/>
          </a:xfrm>
          <a:prstGeom prst="rect">
            <a:avLst/>
          </a:prstGeom>
          <a:noFill/>
          <a:ln>
            <a:noFill/>
          </a:ln>
        </p:spPr>
        <p:txBody>
          <a:bodyPr anchorCtr="0" anchor="t" bIns="0" lIns="0" spcFirstLastPara="1" rIns="0" wrap="square" tIns="0">
            <a:noAutofit/>
          </a:bodyPr>
          <a:lstStyle/>
          <a:p>
            <a:pPr indent="-381000" lvl="0" marL="457200" rtl="0" algn="l">
              <a:lnSpc>
                <a:spcPct val="90000"/>
              </a:lnSpc>
              <a:spcBef>
                <a:spcPts val="1000"/>
              </a:spcBef>
              <a:spcAft>
                <a:spcPts val="0"/>
              </a:spcAft>
              <a:buSzPts val="2400"/>
              <a:buAutoNum type="arabicPeriod"/>
            </a:pPr>
            <a:r>
              <a:rPr b="1" lang="en-US" sz="2400"/>
              <a:t>Who is known as the father of the Unified Process?</a:t>
            </a:r>
            <a:endParaRPr b="1" sz="2400"/>
          </a:p>
        </p:txBody>
      </p:sp>
      <p:sp>
        <p:nvSpPr>
          <p:cNvPr id="340" name="Google Shape;340;g370fa1691c3_0_88"/>
          <p:cNvSpPr txBox="1"/>
          <p:nvPr/>
        </p:nvSpPr>
        <p:spPr>
          <a:xfrm>
            <a:off x="621825" y="2132825"/>
            <a:ext cx="5036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 Answer : Ivar Jacobson</a:t>
            </a:r>
            <a:endParaRPr b="1" i="0" sz="2400" u="none" cap="none" strike="noStrike">
              <a:solidFill>
                <a:srgbClr val="000000"/>
              </a:solidFill>
              <a:latin typeface="Arial"/>
              <a:ea typeface="Arial"/>
              <a:cs typeface="Arial"/>
              <a:sym typeface="Arial"/>
            </a:endParaRPr>
          </a:p>
        </p:txBody>
      </p:sp>
      <p:sp>
        <p:nvSpPr>
          <p:cNvPr id="341" name="Google Shape;341;g370fa1691c3_0_88"/>
          <p:cNvSpPr txBox="1"/>
          <p:nvPr/>
        </p:nvSpPr>
        <p:spPr>
          <a:xfrm>
            <a:off x="621825" y="3049038"/>
            <a:ext cx="81192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2. Which phase includes most of the coding and testing?</a:t>
            </a:r>
            <a:endParaRPr b="1" i="0" sz="2400" u="none" cap="none" strike="noStrike">
              <a:solidFill>
                <a:srgbClr val="000000"/>
              </a:solidFill>
              <a:latin typeface="Arial"/>
              <a:ea typeface="Arial"/>
              <a:cs typeface="Arial"/>
              <a:sym typeface="Arial"/>
            </a:endParaRPr>
          </a:p>
        </p:txBody>
      </p:sp>
      <p:sp>
        <p:nvSpPr>
          <p:cNvPr id="342" name="Google Shape;342;g370fa1691c3_0_88"/>
          <p:cNvSpPr txBox="1"/>
          <p:nvPr/>
        </p:nvSpPr>
        <p:spPr>
          <a:xfrm>
            <a:off x="772550" y="3823500"/>
            <a:ext cx="53649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Answer: Construction</a:t>
            </a:r>
            <a:endParaRPr b="1" i="0" sz="2400" u="none" cap="none" strike="noStrike">
              <a:solidFill>
                <a:srgbClr val="000000"/>
              </a:solidFill>
              <a:latin typeface="Arial"/>
              <a:ea typeface="Arial"/>
              <a:cs typeface="Arial"/>
              <a:sym typeface="Arial"/>
            </a:endParaRPr>
          </a:p>
        </p:txBody>
      </p:sp>
      <p:sp>
        <p:nvSpPr>
          <p:cNvPr id="343" name="Google Shape;343;g370fa1691c3_0_88"/>
          <p:cNvSpPr txBox="1"/>
          <p:nvPr/>
        </p:nvSpPr>
        <p:spPr>
          <a:xfrm>
            <a:off x="856250" y="5967150"/>
            <a:ext cx="67944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4. Final milestone of the UP?</a:t>
            </a:r>
            <a:endParaRPr b="1" i="0" sz="2400" u="none" cap="none" strike="noStrike">
              <a:solidFill>
                <a:srgbClr val="000000"/>
              </a:solidFill>
              <a:latin typeface="Arial"/>
              <a:ea typeface="Arial"/>
              <a:cs typeface="Arial"/>
              <a:sym typeface="Arial"/>
            </a:endParaRPr>
          </a:p>
        </p:txBody>
      </p:sp>
      <p:sp>
        <p:nvSpPr>
          <p:cNvPr id="344" name="Google Shape;344;g370fa1691c3_0_88"/>
          <p:cNvSpPr txBox="1"/>
          <p:nvPr/>
        </p:nvSpPr>
        <p:spPr>
          <a:xfrm>
            <a:off x="856250" y="6521250"/>
            <a:ext cx="51975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 Answer: Product Release</a:t>
            </a:r>
            <a:endParaRPr b="1" i="0" sz="2400" u="none" cap="none" strike="noStrike">
              <a:solidFill>
                <a:srgbClr val="000000"/>
              </a:solidFill>
              <a:latin typeface="Arial"/>
              <a:ea typeface="Arial"/>
              <a:cs typeface="Arial"/>
              <a:sym typeface="Arial"/>
            </a:endParaRPr>
          </a:p>
        </p:txBody>
      </p:sp>
      <p:sp>
        <p:nvSpPr>
          <p:cNvPr id="345" name="Google Shape;345;g370fa1691c3_0_88"/>
          <p:cNvSpPr txBox="1"/>
          <p:nvPr/>
        </p:nvSpPr>
        <p:spPr>
          <a:xfrm>
            <a:off x="621825" y="4586388"/>
            <a:ext cx="87135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3.Milestone achieved at the end of Elaboration?</a:t>
            </a:r>
            <a:endParaRPr b="1" i="0" sz="2400" u="none" cap="none" strike="noStrike">
              <a:solidFill>
                <a:srgbClr val="000000"/>
              </a:solidFill>
              <a:latin typeface="Arial"/>
              <a:ea typeface="Arial"/>
              <a:cs typeface="Arial"/>
              <a:sym typeface="Arial"/>
            </a:endParaRPr>
          </a:p>
        </p:txBody>
      </p:sp>
      <p:sp>
        <p:nvSpPr>
          <p:cNvPr id="346" name="Google Shape;346;g370fa1691c3_0_88"/>
          <p:cNvSpPr txBox="1"/>
          <p:nvPr/>
        </p:nvSpPr>
        <p:spPr>
          <a:xfrm>
            <a:off x="621825" y="5172363"/>
            <a:ext cx="5036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Arial"/>
                <a:ea typeface="Arial"/>
                <a:cs typeface="Arial"/>
                <a:sym typeface="Arial"/>
              </a:rPr>
              <a:t>Answer: Life Cycle Architecture</a:t>
            </a:r>
            <a:endParaRPr b="1" i="0" sz="2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370fa1691c3_0_116"/>
          <p:cNvSpPr txBox="1"/>
          <p:nvPr>
            <p:ph type="title"/>
          </p:nvPr>
        </p:nvSpPr>
        <p:spPr>
          <a:xfrm>
            <a:off x="306780" y="-5"/>
            <a:ext cx="8851800" cy="125880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1000"/>
              </a:spcBef>
              <a:spcAft>
                <a:spcPts val="0"/>
              </a:spcAft>
              <a:buClr>
                <a:schemeClr val="dk1"/>
              </a:buClr>
              <a:buSzPts val="1100"/>
              <a:buFont typeface="Arial"/>
              <a:buNone/>
            </a:pPr>
            <a:r>
              <a:rPr b="1" lang="en-US" sz="4000"/>
              <a:t>Real-World Analogy Exercise </a:t>
            </a:r>
            <a:endParaRPr sz="4000"/>
          </a:p>
        </p:txBody>
      </p:sp>
      <p:sp>
        <p:nvSpPr>
          <p:cNvPr id="353" name="Google Shape;353;g370fa1691c3_0_116"/>
          <p:cNvSpPr txBox="1"/>
          <p:nvPr>
            <p:ph idx="1" type="body"/>
          </p:nvPr>
        </p:nvSpPr>
        <p:spPr>
          <a:xfrm>
            <a:off x="614425" y="1032001"/>
            <a:ext cx="9576000" cy="6006000"/>
          </a:xfrm>
          <a:prstGeom prst="rect">
            <a:avLst/>
          </a:prstGeom>
          <a:noFill/>
          <a:ln>
            <a:noFill/>
          </a:ln>
        </p:spPr>
        <p:txBody>
          <a:bodyPr anchorCtr="0" anchor="t" bIns="0" lIns="0" spcFirstLastPara="1" rIns="0" wrap="square" tIns="0">
            <a:noAutofit/>
          </a:bodyPr>
          <a:lstStyle/>
          <a:p>
            <a:pPr indent="0" lvl="0" marL="0" rtl="0" algn="l">
              <a:lnSpc>
                <a:spcPct val="90000"/>
              </a:lnSpc>
              <a:spcBef>
                <a:spcPts val="1000"/>
              </a:spcBef>
              <a:spcAft>
                <a:spcPts val="0"/>
              </a:spcAft>
              <a:buSzPts val="1800"/>
              <a:buNone/>
            </a:pPr>
            <a:r>
              <a:t/>
            </a:r>
            <a:endParaRPr b="1" sz="2400"/>
          </a:p>
          <a:p>
            <a:pPr indent="0" lvl="0" marL="0" rtl="0" algn="l">
              <a:lnSpc>
                <a:spcPct val="100000"/>
              </a:lnSpc>
              <a:spcBef>
                <a:spcPts val="0"/>
              </a:spcBef>
              <a:spcAft>
                <a:spcPts val="0"/>
              </a:spcAft>
              <a:buSzPts val="1800"/>
              <a:buNone/>
            </a:pPr>
            <a:r>
              <a:rPr b="1" lang="en-US" sz="2000"/>
              <a:t>Question:</a:t>
            </a:r>
            <a:endParaRPr b="1" sz="2000"/>
          </a:p>
          <a:p>
            <a:pPr indent="0" lvl="0" marL="0" marR="381000" rtl="0" algn="l">
              <a:lnSpc>
                <a:spcPct val="100000"/>
              </a:lnSpc>
              <a:spcBef>
                <a:spcPts val="0"/>
              </a:spcBef>
              <a:spcAft>
                <a:spcPts val="0"/>
              </a:spcAft>
              <a:buSzPts val="1800"/>
              <a:buNone/>
            </a:pPr>
            <a:r>
              <a:rPr lang="en-US" sz="2000"/>
              <a:t>Imagine you are someone responsible for the organizing of a college fest at your own campus or in the planning of a birthday party for one friend. Software development, likewise to the two events, needs planning, also coordination, plus execution.</a:t>
            </a:r>
            <a:endParaRPr sz="2000"/>
          </a:p>
          <a:p>
            <a:pPr indent="0" lvl="0" marL="457200" marR="381000" rtl="0" algn="l">
              <a:lnSpc>
                <a:spcPct val="100000"/>
              </a:lnSpc>
              <a:spcBef>
                <a:spcPts val="0"/>
              </a:spcBef>
              <a:spcAft>
                <a:spcPts val="0"/>
              </a:spcAft>
              <a:buSzPts val="1800"/>
              <a:buNone/>
            </a:pPr>
            <a:r>
              <a:t/>
            </a:r>
            <a:endParaRPr sz="2000"/>
          </a:p>
          <a:p>
            <a:pPr indent="0" lvl="0" marL="0" marR="381000" rtl="0" algn="l">
              <a:lnSpc>
                <a:spcPct val="100000"/>
              </a:lnSpc>
              <a:spcBef>
                <a:spcPts val="0"/>
              </a:spcBef>
              <a:spcAft>
                <a:spcPts val="0"/>
              </a:spcAft>
              <a:buSzPts val="1800"/>
              <a:buNone/>
            </a:pPr>
            <a:r>
              <a:rPr lang="en-US" sz="2000"/>
              <a:t>Use your Unified Process understanding to explain how you would manage each of its four phases when you organize the event: Inception, Elaboration, Construction, Transition.</a:t>
            </a:r>
            <a:endParaRPr sz="2000"/>
          </a:p>
          <a:p>
            <a:pPr indent="0" lvl="0" marL="0" marR="381000" rtl="0" algn="l">
              <a:lnSpc>
                <a:spcPct val="100000"/>
              </a:lnSpc>
              <a:spcBef>
                <a:spcPts val="0"/>
              </a:spcBef>
              <a:spcAft>
                <a:spcPts val="0"/>
              </a:spcAft>
              <a:buSzPts val="1800"/>
              <a:buNone/>
            </a:pPr>
            <a:r>
              <a:t/>
            </a:r>
            <a:endParaRPr sz="2000"/>
          </a:p>
          <a:p>
            <a:pPr indent="0" lvl="0" marL="0" marR="381000" rtl="0" algn="l">
              <a:lnSpc>
                <a:spcPct val="100000"/>
              </a:lnSpc>
              <a:spcBef>
                <a:spcPts val="0"/>
              </a:spcBef>
              <a:spcAft>
                <a:spcPts val="0"/>
              </a:spcAft>
              <a:buSzPts val="1800"/>
              <a:buNone/>
            </a:pPr>
            <a:r>
              <a:rPr lang="en-US" sz="2000"/>
              <a:t>In your answer, describe:</a:t>
            </a:r>
            <a:endParaRPr sz="2000"/>
          </a:p>
          <a:p>
            <a:pPr indent="-330200" lvl="0" marL="457200" marR="381000" rtl="0" algn="l">
              <a:lnSpc>
                <a:spcPct val="100000"/>
              </a:lnSpc>
              <a:spcBef>
                <a:spcPts val="0"/>
              </a:spcBef>
              <a:spcAft>
                <a:spcPts val="0"/>
              </a:spcAft>
              <a:buSzPts val="1600"/>
              <a:buChar char="●"/>
            </a:pPr>
            <a:r>
              <a:rPr lang="en-US" sz="2000"/>
              <a:t>In each phase, what activities or decisions take place then?</a:t>
            </a:r>
            <a:endParaRPr sz="2000"/>
          </a:p>
          <a:p>
            <a:pPr indent="-330200" lvl="0" marL="457200" marR="381000" rtl="0" algn="l">
              <a:lnSpc>
                <a:spcPct val="100000"/>
              </a:lnSpc>
              <a:spcBef>
                <a:spcPts val="0"/>
              </a:spcBef>
              <a:spcAft>
                <a:spcPts val="0"/>
              </a:spcAft>
              <a:buSzPts val="1600"/>
              <a:buChar char="●"/>
            </a:pPr>
            <a:r>
              <a:rPr lang="en-US" sz="2000"/>
              <a:t>What type of information would you want to collect?</a:t>
            </a:r>
            <a:endParaRPr sz="2000"/>
          </a:p>
          <a:p>
            <a:pPr indent="-330200" lvl="0" marL="457200" marR="381000" rtl="0" algn="l">
              <a:lnSpc>
                <a:spcPct val="100000"/>
              </a:lnSpc>
              <a:spcBef>
                <a:spcPts val="0"/>
              </a:spcBef>
              <a:spcAft>
                <a:spcPts val="0"/>
              </a:spcAft>
              <a:buSzPts val="1600"/>
              <a:buChar char="●"/>
            </a:pPr>
            <a:r>
              <a:rPr lang="en-US" sz="2000"/>
              <a:t>What are some problems you might anticipate and also how you make plans in order to deal with them</a:t>
            </a:r>
            <a:endParaRPr sz="2000"/>
          </a:p>
          <a:p>
            <a:pPr indent="-330200" lvl="0" marL="457200" marR="381000" rtl="0" algn="l">
              <a:lnSpc>
                <a:spcPct val="100000"/>
              </a:lnSpc>
              <a:spcBef>
                <a:spcPts val="0"/>
              </a:spcBef>
              <a:spcAft>
                <a:spcPts val="0"/>
              </a:spcAft>
              <a:buSzPts val="1600"/>
              <a:buChar char="●"/>
            </a:pPr>
            <a:r>
              <a:rPr lang="en-US" sz="2000"/>
              <a:t>Each phase prepares you. That groundwork is what the following stage develops.</a:t>
            </a:r>
            <a:endParaRPr sz="2000"/>
          </a:p>
          <a:p>
            <a:pPr indent="0" lvl="0" marL="0" marR="381000" rtl="0" algn="l">
              <a:lnSpc>
                <a:spcPct val="100000"/>
              </a:lnSpc>
              <a:spcBef>
                <a:spcPts val="0"/>
              </a:spcBef>
              <a:spcAft>
                <a:spcPts val="0"/>
              </a:spcAft>
              <a:buSzPts val="1800"/>
              <a:buNone/>
            </a:pPr>
            <a:r>
              <a:t/>
            </a:r>
            <a:endParaRPr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6f6a566c33_0_1"/>
          <p:cNvSpPr txBox="1"/>
          <p:nvPr>
            <p:ph type="title"/>
          </p:nvPr>
        </p:nvSpPr>
        <p:spPr>
          <a:xfrm>
            <a:off x="719280" y="301320"/>
            <a:ext cx="8851800" cy="12588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4000"/>
              <a:t>Opening a New Restaurant – Understanding UP Phases</a:t>
            </a:r>
            <a:endParaRPr b="1" sz="4000"/>
          </a:p>
        </p:txBody>
      </p:sp>
      <p:sp>
        <p:nvSpPr>
          <p:cNvPr id="360" name="Google Shape;360;g36f6a566c33_0_1"/>
          <p:cNvSpPr txBox="1"/>
          <p:nvPr>
            <p:ph idx="1" type="body"/>
          </p:nvPr>
        </p:nvSpPr>
        <p:spPr>
          <a:xfrm>
            <a:off x="216000" y="1702025"/>
            <a:ext cx="9576000" cy="5353800"/>
          </a:xfrm>
          <a:prstGeom prst="rect">
            <a:avLst/>
          </a:prstGeom>
          <a:noFill/>
          <a:ln>
            <a:noFill/>
          </a:ln>
        </p:spPr>
        <p:txBody>
          <a:bodyPr anchorCtr="0" anchor="t" bIns="0" lIns="0" spcFirstLastPara="1" rIns="0" wrap="square" tIns="0">
            <a:normAutofit lnSpcReduction="10000"/>
          </a:bodyPr>
          <a:lstStyle/>
          <a:p>
            <a:pPr indent="0" lvl="0" marL="0" rtl="0" algn="l">
              <a:lnSpc>
                <a:spcPct val="90000"/>
              </a:lnSpc>
              <a:spcBef>
                <a:spcPts val="1000"/>
              </a:spcBef>
              <a:spcAft>
                <a:spcPts val="0"/>
              </a:spcAft>
              <a:buClr>
                <a:schemeClr val="dk1"/>
              </a:buClr>
              <a:buSzPts val="1100"/>
              <a:buFont typeface="Arial"/>
              <a:buNone/>
            </a:pPr>
            <a:r>
              <a:rPr b="1" lang="en-US"/>
              <a:t>Phase 1: Inception = Initial Idea &amp; Business Plan</a:t>
            </a:r>
            <a:endParaRPr b="1"/>
          </a:p>
          <a:p>
            <a:pPr indent="0" lvl="0" marL="0" rtl="0" algn="l">
              <a:lnSpc>
                <a:spcPct val="90000"/>
              </a:lnSpc>
              <a:spcBef>
                <a:spcPts val="1000"/>
              </a:spcBef>
              <a:spcAft>
                <a:spcPts val="0"/>
              </a:spcAft>
              <a:buClr>
                <a:schemeClr val="dk1"/>
              </a:buClr>
              <a:buSzPts val="1100"/>
              <a:buFont typeface="Arial"/>
              <a:buNone/>
            </a:pPr>
            <a:r>
              <a:rPr lang="en-US"/>
              <a:t>What type of restaurant? (fast food, fine dining, cafe?)</a:t>
            </a:r>
            <a:endParaRPr/>
          </a:p>
          <a:p>
            <a:pPr indent="0" lvl="0" marL="0" rtl="0" algn="l">
              <a:lnSpc>
                <a:spcPct val="90000"/>
              </a:lnSpc>
              <a:spcBef>
                <a:spcPts val="1000"/>
              </a:spcBef>
              <a:spcAft>
                <a:spcPts val="0"/>
              </a:spcAft>
              <a:buClr>
                <a:schemeClr val="dk1"/>
              </a:buClr>
              <a:buSzPts val="1100"/>
              <a:buFont typeface="Arial"/>
              <a:buNone/>
            </a:pPr>
            <a:r>
              <a:rPr lang="en-US"/>
              <a:t>Who are your customers?</a:t>
            </a:r>
            <a:endParaRPr/>
          </a:p>
          <a:p>
            <a:pPr indent="0" lvl="0" marL="0" rtl="0" algn="l">
              <a:lnSpc>
                <a:spcPct val="90000"/>
              </a:lnSpc>
              <a:spcBef>
                <a:spcPts val="1000"/>
              </a:spcBef>
              <a:spcAft>
                <a:spcPts val="0"/>
              </a:spcAft>
              <a:buClr>
                <a:schemeClr val="dk1"/>
              </a:buClr>
              <a:buSzPts val="1100"/>
              <a:buFont typeface="Arial"/>
              <a:buNone/>
            </a:pPr>
            <a:r>
              <a:rPr lang="en-US"/>
              <a:t>What’s your budget?</a:t>
            </a:r>
            <a:endParaRPr/>
          </a:p>
          <a:p>
            <a:pPr indent="0" lvl="0" marL="0" rtl="0" algn="l">
              <a:lnSpc>
                <a:spcPct val="90000"/>
              </a:lnSpc>
              <a:spcBef>
                <a:spcPts val="1000"/>
              </a:spcBef>
              <a:spcAft>
                <a:spcPts val="0"/>
              </a:spcAft>
              <a:buClr>
                <a:schemeClr val="dk1"/>
              </a:buClr>
              <a:buSzPts val="1100"/>
              <a:buFont typeface="Arial"/>
              <a:buNone/>
            </a:pPr>
            <a:r>
              <a:rPr lang="en-US"/>
              <a:t>What’s your vision?</a:t>
            </a:r>
            <a:endParaRPr/>
          </a:p>
          <a:p>
            <a:pPr indent="0" lvl="0" marL="0" rtl="0" algn="l">
              <a:lnSpc>
                <a:spcPct val="90000"/>
              </a:lnSpc>
              <a:spcBef>
                <a:spcPts val="1000"/>
              </a:spcBef>
              <a:spcAft>
                <a:spcPts val="0"/>
              </a:spcAft>
              <a:buClr>
                <a:schemeClr val="dk1"/>
              </a:buClr>
              <a:buSzPts val="1100"/>
              <a:buFont typeface="Arial"/>
              <a:buNone/>
            </a:pPr>
            <a:r>
              <a:t/>
            </a:r>
            <a:endParaRPr/>
          </a:p>
          <a:p>
            <a:pPr indent="0" lvl="0" marL="0" rtl="0" algn="l">
              <a:lnSpc>
                <a:spcPct val="90000"/>
              </a:lnSpc>
              <a:spcBef>
                <a:spcPts val="1000"/>
              </a:spcBef>
              <a:spcAft>
                <a:spcPts val="0"/>
              </a:spcAft>
              <a:buClr>
                <a:schemeClr val="dk1"/>
              </a:buClr>
              <a:buSzPts val="1100"/>
              <a:buFont typeface="Arial"/>
              <a:buNone/>
            </a:pPr>
            <a:r>
              <a:rPr b="1" lang="en-US"/>
              <a:t>Phase 2: Elaboration = Designing &amp; Planning</a:t>
            </a:r>
            <a:endParaRPr b="1"/>
          </a:p>
          <a:p>
            <a:pPr indent="0" lvl="0" marL="0" rtl="0" algn="l">
              <a:lnSpc>
                <a:spcPct val="90000"/>
              </a:lnSpc>
              <a:spcBef>
                <a:spcPts val="1000"/>
              </a:spcBef>
              <a:spcAft>
                <a:spcPts val="0"/>
              </a:spcAft>
              <a:buClr>
                <a:schemeClr val="dk1"/>
              </a:buClr>
              <a:buSzPts val="1100"/>
              <a:buFont typeface="Arial"/>
              <a:buNone/>
            </a:pPr>
            <a:r>
              <a:rPr lang="en-US"/>
              <a:t>Finalize the menu</a:t>
            </a:r>
            <a:endParaRPr/>
          </a:p>
          <a:p>
            <a:pPr indent="0" lvl="0" marL="0" rtl="0" algn="l">
              <a:lnSpc>
                <a:spcPct val="90000"/>
              </a:lnSpc>
              <a:spcBef>
                <a:spcPts val="1000"/>
              </a:spcBef>
              <a:spcAft>
                <a:spcPts val="0"/>
              </a:spcAft>
              <a:buClr>
                <a:schemeClr val="dk1"/>
              </a:buClr>
              <a:buSzPts val="1100"/>
              <a:buFont typeface="Arial"/>
              <a:buNone/>
            </a:pPr>
            <a:r>
              <a:rPr lang="en-US"/>
              <a:t>Design the kitchen and dining area</a:t>
            </a:r>
            <a:endParaRPr/>
          </a:p>
          <a:p>
            <a:pPr indent="0" lvl="0" marL="0" rtl="0" algn="l">
              <a:lnSpc>
                <a:spcPct val="90000"/>
              </a:lnSpc>
              <a:spcBef>
                <a:spcPts val="1000"/>
              </a:spcBef>
              <a:spcAft>
                <a:spcPts val="0"/>
              </a:spcAft>
              <a:buClr>
                <a:schemeClr val="dk1"/>
              </a:buClr>
              <a:buSzPts val="1100"/>
              <a:buFont typeface="Arial"/>
              <a:buNone/>
            </a:pPr>
            <a:r>
              <a:rPr lang="en-US"/>
              <a:t>Plan staff and equipment</a:t>
            </a:r>
            <a:endParaRPr/>
          </a:p>
          <a:p>
            <a:pPr indent="0" lvl="0" marL="0" rtl="0" algn="l">
              <a:lnSpc>
                <a:spcPct val="90000"/>
              </a:lnSpc>
              <a:spcBef>
                <a:spcPts val="1000"/>
              </a:spcBef>
              <a:spcAft>
                <a:spcPts val="0"/>
              </a:spcAft>
              <a:buSzPts val="1800"/>
              <a:buNone/>
            </a:pPr>
            <a:r>
              <a:rPr lang="en-US"/>
              <a:t>Handle safety and legal risks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6f6a566c33_0_11"/>
          <p:cNvSpPr txBox="1"/>
          <p:nvPr>
            <p:ph type="title"/>
          </p:nvPr>
        </p:nvSpPr>
        <p:spPr>
          <a:xfrm>
            <a:off x="719280" y="301320"/>
            <a:ext cx="8851800" cy="12588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800"/>
              <a:buNone/>
            </a:pPr>
            <a:r>
              <a:rPr b="1" lang="en-US" sz="4000"/>
              <a:t>Opening a New Restaurant – Understanding UP Phases</a:t>
            </a:r>
            <a:endParaRPr b="1" sz="4000"/>
          </a:p>
        </p:txBody>
      </p:sp>
      <p:sp>
        <p:nvSpPr>
          <p:cNvPr id="367" name="Google Shape;367;g36f6a566c33_0_11"/>
          <p:cNvSpPr txBox="1"/>
          <p:nvPr>
            <p:ph idx="1" type="body"/>
          </p:nvPr>
        </p:nvSpPr>
        <p:spPr>
          <a:xfrm>
            <a:off x="216000" y="2011499"/>
            <a:ext cx="9576000" cy="5044500"/>
          </a:xfrm>
          <a:prstGeom prst="rect">
            <a:avLst/>
          </a:prstGeom>
          <a:noFill/>
          <a:ln>
            <a:noFill/>
          </a:ln>
        </p:spPr>
        <p:txBody>
          <a:bodyPr anchorCtr="0" anchor="t" bIns="0" lIns="0" spcFirstLastPara="1" rIns="0" wrap="square" tIns="0">
            <a:noAutofit/>
          </a:bodyPr>
          <a:lstStyle/>
          <a:p>
            <a:pPr indent="0" lvl="0" marL="0" rtl="0" algn="l">
              <a:lnSpc>
                <a:spcPct val="70000"/>
              </a:lnSpc>
              <a:spcBef>
                <a:spcPts val="1000"/>
              </a:spcBef>
              <a:spcAft>
                <a:spcPts val="0"/>
              </a:spcAft>
              <a:buClr>
                <a:schemeClr val="dk1"/>
              </a:buClr>
              <a:buSzPts val="935"/>
              <a:buFont typeface="Arial"/>
              <a:buNone/>
            </a:pPr>
            <a:r>
              <a:rPr b="1" lang="en-US" sz="2880"/>
              <a:t>Phase 3: Construction = Building the Restaurant</a:t>
            </a:r>
            <a:endParaRPr b="1" sz="2880"/>
          </a:p>
          <a:p>
            <a:pPr indent="0" lvl="0" marL="0" rtl="0" algn="l">
              <a:lnSpc>
                <a:spcPct val="70000"/>
              </a:lnSpc>
              <a:spcBef>
                <a:spcPts val="1000"/>
              </a:spcBef>
              <a:spcAft>
                <a:spcPts val="0"/>
              </a:spcAft>
              <a:buClr>
                <a:schemeClr val="dk1"/>
              </a:buClr>
              <a:buSzPts val="935"/>
              <a:buFont typeface="Arial"/>
              <a:buNone/>
            </a:pPr>
            <a:r>
              <a:rPr lang="en-US" sz="2880"/>
              <a:t>Hire chefs and staff</a:t>
            </a:r>
            <a:endParaRPr sz="2880"/>
          </a:p>
          <a:p>
            <a:pPr indent="0" lvl="0" marL="0" rtl="0" algn="l">
              <a:lnSpc>
                <a:spcPct val="70000"/>
              </a:lnSpc>
              <a:spcBef>
                <a:spcPts val="1000"/>
              </a:spcBef>
              <a:spcAft>
                <a:spcPts val="0"/>
              </a:spcAft>
              <a:buClr>
                <a:schemeClr val="dk1"/>
              </a:buClr>
              <a:buSzPts val="935"/>
              <a:buFont typeface="Arial"/>
              <a:buNone/>
            </a:pPr>
            <a:r>
              <a:rPr lang="en-US" sz="2880"/>
              <a:t>Purchase equipment</a:t>
            </a:r>
            <a:endParaRPr sz="2880"/>
          </a:p>
          <a:p>
            <a:pPr indent="0" lvl="0" marL="0" rtl="0" algn="l">
              <a:lnSpc>
                <a:spcPct val="70000"/>
              </a:lnSpc>
              <a:spcBef>
                <a:spcPts val="1000"/>
              </a:spcBef>
              <a:spcAft>
                <a:spcPts val="0"/>
              </a:spcAft>
              <a:buClr>
                <a:schemeClr val="dk1"/>
              </a:buClr>
              <a:buSzPts val="935"/>
              <a:buFont typeface="Arial"/>
              <a:buNone/>
            </a:pPr>
            <a:r>
              <a:rPr lang="en-US" sz="2880"/>
              <a:t>Decorate the space</a:t>
            </a:r>
            <a:endParaRPr sz="2880"/>
          </a:p>
          <a:p>
            <a:pPr indent="0" lvl="0" marL="0" rtl="0" algn="l">
              <a:lnSpc>
                <a:spcPct val="70000"/>
              </a:lnSpc>
              <a:spcBef>
                <a:spcPts val="1000"/>
              </a:spcBef>
              <a:spcAft>
                <a:spcPts val="0"/>
              </a:spcAft>
              <a:buClr>
                <a:schemeClr val="dk1"/>
              </a:buClr>
              <a:buSzPts val="935"/>
              <a:buFont typeface="Arial"/>
              <a:buNone/>
            </a:pPr>
            <a:r>
              <a:rPr lang="en-US" sz="2880"/>
              <a:t>Test kitchen equipment and sample dishes</a:t>
            </a:r>
            <a:endParaRPr sz="2880"/>
          </a:p>
          <a:p>
            <a:pPr indent="0" lvl="0" marL="0" rtl="0" algn="l">
              <a:lnSpc>
                <a:spcPct val="70000"/>
              </a:lnSpc>
              <a:spcBef>
                <a:spcPts val="1000"/>
              </a:spcBef>
              <a:spcAft>
                <a:spcPts val="0"/>
              </a:spcAft>
              <a:buClr>
                <a:schemeClr val="dk1"/>
              </a:buClr>
              <a:buSzPts val="935"/>
              <a:buFont typeface="Arial"/>
              <a:buNone/>
            </a:pPr>
            <a:r>
              <a:t/>
            </a:r>
            <a:endParaRPr sz="2880"/>
          </a:p>
          <a:p>
            <a:pPr indent="0" lvl="0" marL="0" rtl="0" algn="l">
              <a:lnSpc>
                <a:spcPct val="70000"/>
              </a:lnSpc>
              <a:spcBef>
                <a:spcPts val="1000"/>
              </a:spcBef>
              <a:spcAft>
                <a:spcPts val="0"/>
              </a:spcAft>
              <a:buClr>
                <a:schemeClr val="dk1"/>
              </a:buClr>
              <a:buSzPts val="935"/>
              <a:buFont typeface="Arial"/>
              <a:buNone/>
            </a:pPr>
            <a:r>
              <a:rPr b="1" lang="en-US" sz="2880"/>
              <a:t>Phase 4: Transition = Opening &amp; Feedback</a:t>
            </a:r>
            <a:endParaRPr b="1" sz="2880"/>
          </a:p>
          <a:p>
            <a:pPr indent="0" lvl="0" marL="0" rtl="0" algn="l">
              <a:lnSpc>
                <a:spcPct val="70000"/>
              </a:lnSpc>
              <a:spcBef>
                <a:spcPts val="1000"/>
              </a:spcBef>
              <a:spcAft>
                <a:spcPts val="0"/>
              </a:spcAft>
              <a:buClr>
                <a:schemeClr val="dk1"/>
              </a:buClr>
              <a:buSzPts val="935"/>
              <a:buFont typeface="Arial"/>
              <a:buNone/>
            </a:pPr>
            <a:r>
              <a:rPr lang="en-US" sz="2880"/>
              <a:t>Grand opening</a:t>
            </a:r>
            <a:endParaRPr sz="2880"/>
          </a:p>
          <a:p>
            <a:pPr indent="0" lvl="0" marL="0" rtl="0" algn="l">
              <a:lnSpc>
                <a:spcPct val="70000"/>
              </a:lnSpc>
              <a:spcBef>
                <a:spcPts val="1000"/>
              </a:spcBef>
              <a:spcAft>
                <a:spcPts val="0"/>
              </a:spcAft>
              <a:buClr>
                <a:schemeClr val="dk1"/>
              </a:buClr>
              <a:buSzPts val="935"/>
              <a:buFont typeface="Arial"/>
              <a:buNone/>
            </a:pPr>
            <a:r>
              <a:rPr lang="en-US" sz="2880"/>
              <a:t>Gather customer feedback</a:t>
            </a:r>
            <a:endParaRPr sz="2880"/>
          </a:p>
          <a:p>
            <a:pPr indent="0" lvl="0" marL="0" rtl="0" algn="l">
              <a:lnSpc>
                <a:spcPct val="70000"/>
              </a:lnSpc>
              <a:spcBef>
                <a:spcPts val="1000"/>
              </a:spcBef>
              <a:spcAft>
                <a:spcPts val="0"/>
              </a:spcAft>
              <a:buClr>
                <a:schemeClr val="dk1"/>
              </a:buClr>
              <a:buSzPts val="935"/>
              <a:buFont typeface="Arial"/>
              <a:buNone/>
            </a:pPr>
            <a:r>
              <a:rPr lang="en-US" sz="2880"/>
              <a:t>Fix service issues</a:t>
            </a:r>
            <a:endParaRPr sz="2880"/>
          </a:p>
          <a:p>
            <a:pPr indent="0" lvl="0" marL="0" rtl="0" algn="l">
              <a:lnSpc>
                <a:spcPct val="70000"/>
              </a:lnSpc>
              <a:spcBef>
                <a:spcPts val="1000"/>
              </a:spcBef>
              <a:spcAft>
                <a:spcPts val="0"/>
              </a:spcAft>
              <a:buClr>
                <a:schemeClr val="dk1"/>
              </a:buClr>
              <a:buSzPts val="935"/>
              <a:buFont typeface="Arial"/>
              <a:buNone/>
            </a:pPr>
            <a:r>
              <a:rPr lang="en-US" sz="2880"/>
              <a:t>Launch advertising</a:t>
            </a:r>
            <a:endParaRPr sz="2880"/>
          </a:p>
          <a:p>
            <a:pPr indent="0" lvl="0" marL="0" rtl="0" algn="l">
              <a:lnSpc>
                <a:spcPct val="70000"/>
              </a:lnSpc>
              <a:spcBef>
                <a:spcPts val="1000"/>
              </a:spcBef>
              <a:spcAft>
                <a:spcPts val="0"/>
              </a:spcAft>
              <a:buClr>
                <a:schemeClr val="dk1"/>
              </a:buClr>
              <a:buSzPts val="935"/>
              <a:buFont typeface="Arial"/>
              <a:buNone/>
            </a:pPr>
            <a:r>
              <a:t/>
            </a:r>
            <a:endParaRPr sz="2880"/>
          </a:p>
          <a:p>
            <a:pPr indent="0" lvl="0" marL="0" rtl="0" algn="l">
              <a:lnSpc>
                <a:spcPct val="70000"/>
              </a:lnSpc>
              <a:spcBef>
                <a:spcPts val="1000"/>
              </a:spcBef>
              <a:spcAft>
                <a:spcPts val="0"/>
              </a:spcAft>
              <a:buSzPts val="935"/>
              <a:buNone/>
            </a:pPr>
            <a:r>
              <a:t/>
            </a:r>
            <a:endParaRPr sz="288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5"/>
          <p:cNvSpPr txBox="1"/>
          <p:nvPr>
            <p:ph type="title"/>
          </p:nvPr>
        </p:nvSpPr>
        <p:spPr>
          <a:xfrm>
            <a:off x="724831" y="2766067"/>
            <a:ext cx="8851680" cy="1258920"/>
          </a:xfrm>
          <a:prstGeom prst="rect">
            <a:avLst/>
          </a:prstGeom>
          <a:noFill/>
          <a:ln>
            <a:noFill/>
          </a:ln>
        </p:spPr>
        <p:txBody>
          <a:bodyPr anchorCtr="0" anchor="ctr" bIns="0" lIns="0" spcFirstLastPara="1" rIns="0" wrap="square" tIns="0">
            <a:noAutofit/>
          </a:bodyPr>
          <a:lstStyle/>
          <a:p>
            <a:pPr indent="0" lvl="0" marL="0" rtl="0" algn="ctr">
              <a:lnSpc>
                <a:spcPct val="57812"/>
              </a:lnSpc>
              <a:spcBef>
                <a:spcPts val="0"/>
              </a:spcBef>
              <a:spcAft>
                <a:spcPts val="0"/>
              </a:spcAft>
              <a:buClr>
                <a:srgbClr val="161613"/>
              </a:buClr>
              <a:buSzPts val="9600"/>
              <a:buFont typeface="Arial"/>
              <a:buNone/>
            </a:pPr>
            <a:r>
              <a:rPr lang="en-US" sz="9600"/>
              <a:t>THANK YOU</a:t>
            </a:r>
            <a:endParaRPr sz="96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2020-04-27T17:43:41Z</dcterms:created>
</cp:coreProperties>
</file>