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7562850" cx="10083800"/>
  <p:notesSz cx="10083800" cy="7562850"/>
  <p:embeddedFontLst>
    <p:embeddedFont>
      <p:font typeface="Helvetica Neue"/>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0" roundtripDataSignature="AMtx7mgVxNA9asoqIOTAlt/qO3/kuNUl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8F58EF-B54E-409E-BED0-3518CB416746}">
  <a:tblStyle styleId="{DF8F58EF-B54E-409E-BED0-3518CB416746}"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HelveticaNeue-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HelveticaNeue-italic.fntdata"/><Relationship Id="rId47" Type="http://schemas.openxmlformats.org/officeDocument/2006/relationships/font" Target="fonts/HelveticaNeue-bold.fntdata"/><Relationship Id="rId49"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70388" cy="37941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711825" y="0"/>
            <a:ext cx="4370388" cy="379413"/>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7183438"/>
            <a:ext cx="4370388" cy="37941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711825" y="7183438"/>
            <a:ext cx="4370388" cy="3794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2: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4: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5: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6: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7: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8: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9: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10: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2: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3: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4: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5: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6: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7: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8: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19: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20: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21: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22: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3: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24: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5: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25: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5ce7fcc5c_0_4:notes"/>
          <p:cNvSpPr txBox="1"/>
          <p:nvPr>
            <p:ph idx="1" type="body"/>
          </p:nvPr>
        </p:nvSpPr>
        <p:spPr>
          <a:xfrm>
            <a:off x="1008063" y="3640138"/>
            <a:ext cx="8067600" cy="297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75ce7fcc5c_0_4:notes"/>
          <p:cNvSpPr/>
          <p:nvPr>
            <p:ph idx="2" type="sldImg"/>
          </p:nvPr>
        </p:nvSpPr>
        <p:spPr>
          <a:xfrm>
            <a:off x="3341688" y="946150"/>
            <a:ext cx="3400500" cy="2551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26: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7: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27: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8: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28: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9: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9: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30: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31: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32: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3: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33: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889c9bdd3_0_0:notes"/>
          <p:cNvSpPr txBox="1"/>
          <p:nvPr>
            <p:ph idx="1" type="body"/>
          </p:nvPr>
        </p:nvSpPr>
        <p:spPr>
          <a:xfrm>
            <a:off x="1008063" y="3640138"/>
            <a:ext cx="8067600" cy="297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8889c9bdd3_0_0:notes"/>
          <p:cNvSpPr/>
          <p:nvPr>
            <p:ph idx="2" type="sldImg"/>
          </p:nvPr>
        </p:nvSpPr>
        <p:spPr>
          <a:xfrm>
            <a:off x="3341688" y="946150"/>
            <a:ext cx="3400500" cy="2551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8889c9bdd3_0_17:notes"/>
          <p:cNvSpPr txBox="1"/>
          <p:nvPr>
            <p:ph idx="1" type="body"/>
          </p:nvPr>
        </p:nvSpPr>
        <p:spPr>
          <a:xfrm>
            <a:off x="1008063" y="3640138"/>
            <a:ext cx="8067600" cy="297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g38889c9bdd3_0_17:notes"/>
          <p:cNvSpPr/>
          <p:nvPr>
            <p:ph idx="2" type="sldImg"/>
          </p:nvPr>
        </p:nvSpPr>
        <p:spPr>
          <a:xfrm>
            <a:off x="3341688" y="946150"/>
            <a:ext cx="3400500" cy="2551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aa4c9145b_0_0:notes"/>
          <p:cNvSpPr/>
          <p:nvPr>
            <p:ph idx="2" type="sldImg"/>
          </p:nvPr>
        </p:nvSpPr>
        <p:spPr>
          <a:xfrm>
            <a:off x="3341688" y="946150"/>
            <a:ext cx="3400500" cy="25512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aa4c9145b_0_0:notes"/>
          <p:cNvSpPr txBox="1"/>
          <p:nvPr>
            <p:ph idx="1" type="body"/>
          </p:nvPr>
        </p:nvSpPr>
        <p:spPr>
          <a:xfrm>
            <a:off x="1008063" y="3640138"/>
            <a:ext cx="8067600" cy="2978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faa4c9145b_0_0:notes"/>
          <p:cNvSpPr txBox="1"/>
          <p:nvPr>
            <p:ph idx="12" type="sldNum"/>
          </p:nvPr>
        </p:nvSpPr>
        <p:spPr>
          <a:xfrm>
            <a:off x="5711825" y="7183438"/>
            <a:ext cx="4370400" cy="379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aa4c9145b_0_7:notes"/>
          <p:cNvSpPr/>
          <p:nvPr>
            <p:ph idx="2" type="sldImg"/>
          </p:nvPr>
        </p:nvSpPr>
        <p:spPr>
          <a:xfrm>
            <a:off x="3341688" y="946150"/>
            <a:ext cx="3400500" cy="25512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faa4c9145b_0_7:notes"/>
          <p:cNvSpPr txBox="1"/>
          <p:nvPr>
            <p:ph idx="1" type="body"/>
          </p:nvPr>
        </p:nvSpPr>
        <p:spPr>
          <a:xfrm>
            <a:off x="1008063" y="3640138"/>
            <a:ext cx="8067600" cy="2978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g3faa4c9145b_0_7:notes"/>
          <p:cNvSpPr txBox="1"/>
          <p:nvPr>
            <p:ph idx="12" type="sldNum"/>
          </p:nvPr>
        </p:nvSpPr>
        <p:spPr>
          <a:xfrm>
            <a:off x="5711825" y="7183438"/>
            <a:ext cx="4370400" cy="379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txBox="1"/>
          <p:nvPr>
            <p:ph idx="1" type="body"/>
          </p:nvPr>
        </p:nvSpPr>
        <p:spPr>
          <a:xfrm>
            <a:off x="1008063" y="3640138"/>
            <a:ext cx="8067675" cy="29781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34:notes"/>
          <p:cNvSpPr/>
          <p:nvPr>
            <p:ph idx="2" type="sldImg"/>
          </p:nvPr>
        </p:nvSpPr>
        <p:spPr>
          <a:xfrm>
            <a:off x="3341688" y="946150"/>
            <a:ext cx="3400425"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6"/>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 type="body"/>
          </p:nvPr>
        </p:nvSpPr>
        <p:spPr>
          <a:xfrm>
            <a:off x="216068" y="1560895"/>
            <a:ext cx="9579016"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3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7"/>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 name="Shape 25"/>
        <p:cNvGrpSpPr/>
        <p:nvPr/>
      </p:nvGrpSpPr>
      <p:grpSpPr>
        <a:xfrm>
          <a:off x="0" y="0"/>
          <a:ext cx="0" cy="0"/>
          <a:chOff x="0" y="0"/>
          <a:chExt cx="0" cy="0"/>
        </a:xfrm>
      </p:grpSpPr>
      <p:sp>
        <p:nvSpPr>
          <p:cNvPr id="26" name="Google Shape;26;p38"/>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 name="Google Shape;27;p38"/>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38"/>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9" name="Shape 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0" name="Shape 30"/>
        <p:cNvGrpSpPr/>
        <p:nvPr/>
      </p:nvGrpSpPr>
      <p:grpSpPr>
        <a:xfrm>
          <a:off x="0" y="0"/>
          <a:ext cx="0" cy="0"/>
          <a:chOff x="0" y="0"/>
          <a:chExt cx="0" cy="0"/>
        </a:xfrm>
      </p:grpSpPr>
      <p:sp>
        <p:nvSpPr>
          <p:cNvPr id="31" name="Google Shape;31;p40"/>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0"/>
          <p:cNvSpPr txBox="1"/>
          <p:nvPr>
            <p:ph idx="1" type="subTitle"/>
          </p:nvPr>
        </p:nvSpPr>
        <p:spPr>
          <a:xfrm>
            <a:off x="216068" y="1560895"/>
            <a:ext cx="9579016" cy="5498068"/>
          </a:xfrm>
          <a:prstGeom prst="rect">
            <a:avLst/>
          </a:prstGeom>
          <a:noFill/>
          <a:ln>
            <a:noFill/>
          </a:ln>
        </p:spPr>
        <p:txBody>
          <a:bodyPr anchorCtr="0" anchor="ctr" bIns="0" lIns="0" spcFirstLastPara="1" rIns="0" wrap="square" tIns="0">
            <a:normAutofit/>
          </a:bodyPr>
          <a:lstStyle>
            <a:lvl1pPr lvl="0" algn="ctr">
              <a:lnSpc>
                <a:spcPct val="90000"/>
              </a:lnSpc>
              <a:spcBef>
                <a:spcPts val="1423"/>
              </a:spcBef>
              <a:spcAft>
                <a:spcPts val="0"/>
              </a:spcAft>
              <a:buClr>
                <a:schemeClr val="dk1"/>
              </a:buClr>
              <a:buSzPts val="2801"/>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p:cSld name="Title, Content">
    <p:spTree>
      <p:nvGrpSpPr>
        <p:cNvPr id="33" name="Shape 33"/>
        <p:cNvGrpSpPr/>
        <p:nvPr/>
      </p:nvGrpSpPr>
      <p:grpSpPr>
        <a:xfrm>
          <a:off x="0" y="0"/>
          <a:ext cx="0" cy="0"/>
          <a:chOff x="0" y="0"/>
          <a:chExt cx="0" cy="0"/>
        </a:xfrm>
      </p:grpSpPr>
      <p:sp>
        <p:nvSpPr>
          <p:cNvPr id="34" name="Google Shape;34;p41"/>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1"/>
          <p:cNvSpPr txBox="1"/>
          <p:nvPr>
            <p:ph idx="1" type="body"/>
          </p:nvPr>
        </p:nvSpPr>
        <p:spPr>
          <a:xfrm>
            <a:off x="216068" y="1560895"/>
            <a:ext cx="9579016"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6" name="Shape 36"/>
        <p:cNvGrpSpPr/>
        <p:nvPr/>
      </p:nvGrpSpPr>
      <p:grpSpPr>
        <a:xfrm>
          <a:off x="0" y="0"/>
          <a:ext cx="0" cy="0"/>
          <a:chOff x="0" y="0"/>
          <a:chExt cx="0" cy="0"/>
        </a:xfrm>
      </p:grpSpPr>
      <p:sp>
        <p:nvSpPr>
          <p:cNvPr id="37" name="Google Shape;37;p42"/>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2"/>
          <p:cNvSpPr txBox="1"/>
          <p:nvPr>
            <p:ph idx="1" type="body"/>
          </p:nvPr>
        </p:nvSpPr>
        <p:spPr>
          <a:xfrm>
            <a:off x="216068" y="1560895"/>
            <a:ext cx="4674272"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2"/>
          <p:cNvSpPr txBox="1"/>
          <p:nvPr>
            <p:ph idx="2" type="body"/>
          </p:nvPr>
        </p:nvSpPr>
        <p:spPr>
          <a:xfrm>
            <a:off x="5124413" y="1560895"/>
            <a:ext cx="4674272"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0" name="Shape 40"/>
        <p:cNvGrpSpPr/>
        <p:nvPr/>
      </p:nvGrpSpPr>
      <p:grpSpPr>
        <a:xfrm>
          <a:off x="0" y="0"/>
          <a:ext cx="0" cy="0"/>
          <a:chOff x="0" y="0"/>
          <a:chExt cx="0" cy="0"/>
        </a:xfrm>
      </p:grpSpPr>
      <p:sp>
        <p:nvSpPr>
          <p:cNvPr id="41" name="Google Shape;41;p43"/>
          <p:cNvSpPr txBox="1"/>
          <p:nvPr>
            <p:ph idx="1" type="subTitle"/>
          </p:nvPr>
        </p:nvSpPr>
        <p:spPr>
          <a:xfrm>
            <a:off x="719507" y="301446"/>
            <a:ext cx="8854468" cy="5839492"/>
          </a:xfrm>
          <a:prstGeom prst="rect">
            <a:avLst/>
          </a:prstGeom>
          <a:noFill/>
          <a:ln>
            <a:noFill/>
          </a:ln>
        </p:spPr>
        <p:txBody>
          <a:bodyPr anchorCtr="0" anchor="ctr" bIns="0" lIns="0" spcFirstLastPara="1" rIns="0" wrap="square" tIns="0">
            <a:normAutofit/>
          </a:bodyPr>
          <a:lstStyle>
            <a:lvl1pPr lvl="0" algn="ctr">
              <a:lnSpc>
                <a:spcPct val="90000"/>
              </a:lnSpc>
              <a:spcBef>
                <a:spcPts val="1423"/>
              </a:spcBef>
              <a:spcAft>
                <a:spcPts val="0"/>
              </a:spcAft>
              <a:buClr>
                <a:schemeClr val="dk1"/>
              </a:buClr>
              <a:buSzPts val="2801"/>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2" name="Shape 42"/>
        <p:cNvGrpSpPr/>
        <p:nvPr/>
      </p:nvGrpSpPr>
      <p:grpSpPr>
        <a:xfrm>
          <a:off x="0" y="0"/>
          <a:ext cx="0" cy="0"/>
          <a:chOff x="0" y="0"/>
          <a:chExt cx="0" cy="0"/>
        </a:xfrm>
      </p:grpSpPr>
      <p:sp>
        <p:nvSpPr>
          <p:cNvPr id="43" name="Google Shape;43;p44"/>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4"/>
          <p:cNvSpPr txBox="1"/>
          <p:nvPr>
            <p:ph idx="1" type="body"/>
          </p:nvPr>
        </p:nvSpPr>
        <p:spPr>
          <a:xfrm>
            <a:off x="216068"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4"/>
          <p:cNvSpPr txBox="1"/>
          <p:nvPr>
            <p:ph idx="2" type="body"/>
          </p:nvPr>
        </p:nvSpPr>
        <p:spPr>
          <a:xfrm>
            <a:off x="5124413" y="1560895"/>
            <a:ext cx="4674272"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4"/>
          <p:cNvSpPr txBox="1"/>
          <p:nvPr>
            <p:ph idx="3" type="body"/>
          </p:nvPr>
        </p:nvSpPr>
        <p:spPr>
          <a:xfrm>
            <a:off x="216068" y="4432741"/>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7" name="Shape 47"/>
        <p:cNvGrpSpPr/>
        <p:nvPr/>
      </p:nvGrpSpPr>
      <p:grpSpPr>
        <a:xfrm>
          <a:off x="0" y="0"/>
          <a:ext cx="0" cy="0"/>
          <a:chOff x="0" y="0"/>
          <a:chExt cx="0" cy="0"/>
        </a:xfrm>
      </p:grpSpPr>
      <p:sp>
        <p:nvSpPr>
          <p:cNvPr id="48" name="Google Shape;48;p45"/>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5"/>
          <p:cNvSpPr txBox="1"/>
          <p:nvPr>
            <p:ph idx="1" type="body"/>
          </p:nvPr>
        </p:nvSpPr>
        <p:spPr>
          <a:xfrm>
            <a:off x="216068" y="1560895"/>
            <a:ext cx="4674272" cy="549806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5"/>
          <p:cNvSpPr txBox="1"/>
          <p:nvPr>
            <p:ph idx="2" type="body"/>
          </p:nvPr>
        </p:nvSpPr>
        <p:spPr>
          <a:xfrm>
            <a:off x="5124413"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5"/>
          <p:cNvSpPr txBox="1"/>
          <p:nvPr>
            <p:ph idx="3" type="body"/>
          </p:nvPr>
        </p:nvSpPr>
        <p:spPr>
          <a:xfrm>
            <a:off x="5124413" y="4432741"/>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2" name="Shape 52"/>
        <p:cNvGrpSpPr/>
        <p:nvPr/>
      </p:nvGrpSpPr>
      <p:grpSpPr>
        <a:xfrm>
          <a:off x="0" y="0"/>
          <a:ext cx="0" cy="0"/>
          <a:chOff x="0" y="0"/>
          <a:chExt cx="0" cy="0"/>
        </a:xfrm>
      </p:grpSpPr>
      <p:sp>
        <p:nvSpPr>
          <p:cNvPr id="53" name="Google Shape;53;p46"/>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6"/>
          <p:cNvSpPr txBox="1"/>
          <p:nvPr>
            <p:ph idx="1" type="body"/>
          </p:nvPr>
        </p:nvSpPr>
        <p:spPr>
          <a:xfrm>
            <a:off x="216068"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46"/>
          <p:cNvSpPr txBox="1"/>
          <p:nvPr>
            <p:ph idx="2" type="body"/>
          </p:nvPr>
        </p:nvSpPr>
        <p:spPr>
          <a:xfrm>
            <a:off x="5124413"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6"/>
          <p:cNvSpPr txBox="1"/>
          <p:nvPr>
            <p:ph idx="3" type="body"/>
          </p:nvPr>
        </p:nvSpPr>
        <p:spPr>
          <a:xfrm>
            <a:off x="216068" y="4432741"/>
            <a:ext cx="9579016"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7" name="Shape 57"/>
        <p:cNvGrpSpPr/>
        <p:nvPr/>
      </p:nvGrpSpPr>
      <p:grpSpPr>
        <a:xfrm>
          <a:off x="0" y="0"/>
          <a:ext cx="0" cy="0"/>
          <a:chOff x="0" y="0"/>
          <a:chExt cx="0" cy="0"/>
        </a:xfrm>
      </p:grpSpPr>
      <p:sp>
        <p:nvSpPr>
          <p:cNvPr id="58" name="Google Shape;58;p47"/>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7"/>
          <p:cNvSpPr txBox="1"/>
          <p:nvPr>
            <p:ph idx="1" type="body"/>
          </p:nvPr>
        </p:nvSpPr>
        <p:spPr>
          <a:xfrm>
            <a:off x="216068" y="1560895"/>
            <a:ext cx="9579016"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47"/>
          <p:cNvSpPr txBox="1"/>
          <p:nvPr>
            <p:ph idx="2" type="body"/>
          </p:nvPr>
        </p:nvSpPr>
        <p:spPr>
          <a:xfrm>
            <a:off x="216068" y="4432741"/>
            <a:ext cx="9579016"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1" name="Shape 61"/>
        <p:cNvGrpSpPr/>
        <p:nvPr/>
      </p:nvGrpSpPr>
      <p:grpSpPr>
        <a:xfrm>
          <a:off x="0" y="0"/>
          <a:ext cx="0" cy="0"/>
          <a:chOff x="0" y="0"/>
          <a:chExt cx="0" cy="0"/>
        </a:xfrm>
      </p:grpSpPr>
      <p:sp>
        <p:nvSpPr>
          <p:cNvPr id="62" name="Google Shape;62;p48"/>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 type="body"/>
          </p:nvPr>
        </p:nvSpPr>
        <p:spPr>
          <a:xfrm>
            <a:off x="216068"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8"/>
          <p:cNvSpPr txBox="1"/>
          <p:nvPr>
            <p:ph idx="2" type="body"/>
          </p:nvPr>
        </p:nvSpPr>
        <p:spPr>
          <a:xfrm>
            <a:off x="5124413" y="1560895"/>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8"/>
          <p:cNvSpPr txBox="1"/>
          <p:nvPr>
            <p:ph idx="3" type="body"/>
          </p:nvPr>
        </p:nvSpPr>
        <p:spPr>
          <a:xfrm>
            <a:off x="216068" y="4432741"/>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48"/>
          <p:cNvSpPr txBox="1"/>
          <p:nvPr>
            <p:ph idx="4" type="body"/>
          </p:nvPr>
        </p:nvSpPr>
        <p:spPr>
          <a:xfrm>
            <a:off x="5124413" y="4432741"/>
            <a:ext cx="4674272"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67" name="Shape 67"/>
        <p:cNvGrpSpPr/>
        <p:nvPr/>
      </p:nvGrpSpPr>
      <p:grpSpPr>
        <a:xfrm>
          <a:off x="0" y="0"/>
          <a:ext cx="0" cy="0"/>
          <a:chOff x="0" y="0"/>
          <a:chExt cx="0" cy="0"/>
        </a:xfrm>
      </p:grpSpPr>
      <p:sp>
        <p:nvSpPr>
          <p:cNvPr id="68" name="Google Shape;68;p49"/>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9"/>
          <p:cNvSpPr txBox="1"/>
          <p:nvPr>
            <p:ph idx="1" type="body"/>
          </p:nvPr>
        </p:nvSpPr>
        <p:spPr>
          <a:xfrm>
            <a:off x="216068" y="1560895"/>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49"/>
          <p:cNvSpPr txBox="1"/>
          <p:nvPr>
            <p:ph idx="2" type="body"/>
          </p:nvPr>
        </p:nvSpPr>
        <p:spPr>
          <a:xfrm>
            <a:off x="3454928" y="1560895"/>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9"/>
          <p:cNvSpPr txBox="1"/>
          <p:nvPr>
            <p:ph idx="3" type="body"/>
          </p:nvPr>
        </p:nvSpPr>
        <p:spPr>
          <a:xfrm>
            <a:off x="6694148" y="1560895"/>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49"/>
          <p:cNvSpPr txBox="1"/>
          <p:nvPr>
            <p:ph idx="4" type="body"/>
          </p:nvPr>
        </p:nvSpPr>
        <p:spPr>
          <a:xfrm>
            <a:off x="216068" y="4432741"/>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49"/>
          <p:cNvSpPr txBox="1"/>
          <p:nvPr>
            <p:ph idx="5" type="body"/>
          </p:nvPr>
        </p:nvSpPr>
        <p:spPr>
          <a:xfrm>
            <a:off x="3454928" y="4432741"/>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49"/>
          <p:cNvSpPr txBox="1"/>
          <p:nvPr>
            <p:ph idx="6" type="body"/>
          </p:nvPr>
        </p:nvSpPr>
        <p:spPr>
          <a:xfrm>
            <a:off x="6694148" y="4432741"/>
            <a:ext cx="3084371" cy="2622261"/>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423"/>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0.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2.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35"/>
          <p:cNvPicPr preferRelativeResize="0"/>
          <p:nvPr/>
        </p:nvPicPr>
        <p:blipFill rotWithShape="1">
          <a:blip r:embed="rId1">
            <a:alphaModFix/>
          </a:blip>
          <a:srcRect b="0" l="0" r="0" t="0"/>
          <a:stretch/>
        </p:blipFill>
        <p:spPr>
          <a:xfrm>
            <a:off x="2279878" y="1778427"/>
            <a:ext cx="4706322" cy="3839932"/>
          </a:xfrm>
          <a:prstGeom prst="rect">
            <a:avLst/>
          </a:prstGeom>
          <a:noFill/>
          <a:ln>
            <a:noFill/>
          </a:ln>
        </p:spPr>
      </p:pic>
      <p:sp>
        <p:nvSpPr>
          <p:cNvPr id="11" name="Google Shape;11;p35"/>
          <p:cNvSpPr/>
          <p:nvPr/>
        </p:nvSpPr>
        <p:spPr>
          <a:xfrm>
            <a:off x="0" y="287400"/>
            <a:ext cx="501638" cy="1078293"/>
          </a:xfrm>
          <a:prstGeom prst="rect">
            <a:avLst/>
          </a:prstGeom>
          <a:solidFill>
            <a:srgbClr val="EF29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5"/>
          <p:cNvSpPr/>
          <p:nvPr/>
        </p:nvSpPr>
        <p:spPr>
          <a:xfrm>
            <a:off x="-19455" y="-12599"/>
            <a:ext cx="4706400" cy="257100"/>
          </a:xfrm>
          <a:prstGeom prst="rect">
            <a:avLst/>
          </a:prstGeom>
          <a:noFill/>
          <a:ln>
            <a:noFill/>
          </a:ln>
        </p:spPr>
        <p:txBody>
          <a:bodyPr anchorCtr="0" anchor="t" bIns="45000" lIns="90025" spcFirstLastPara="1" rIns="90025" wrap="square" tIns="450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FCAIT – MSc (IT) Programme</a:t>
            </a:r>
            <a:endParaRPr b="0" i="0" sz="1400" u="none" cap="none" strike="noStrike">
              <a:solidFill>
                <a:srgbClr val="000000"/>
              </a:solidFill>
              <a:latin typeface="Arial"/>
              <a:ea typeface="Arial"/>
              <a:cs typeface="Arial"/>
              <a:sym typeface="Arial"/>
            </a:endParaRPr>
          </a:p>
        </p:txBody>
      </p:sp>
      <p:sp>
        <p:nvSpPr>
          <p:cNvPr id="13" name="Google Shape;13;p35"/>
          <p:cNvSpPr/>
          <p:nvPr/>
        </p:nvSpPr>
        <p:spPr>
          <a:xfrm>
            <a:off x="5270501" y="7254165"/>
            <a:ext cx="4534476" cy="18799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Subject : object oriented analysis and design</a:t>
            </a:r>
            <a:endParaRPr b="0" i="0" sz="1400" u="none" cap="none" strike="noStrike">
              <a:solidFill>
                <a:srgbClr val="000000"/>
              </a:solidFill>
              <a:latin typeface="Arial"/>
              <a:ea typeface="Arial"/>
              <a:cs typeface="Arial"/>
              <a:sym typeface="Arial"/>
            </a:endParaRPr>
          </a:p>
        </p:txBody>
      </p:sp>
      <p:sp>
        <p:nvSpPr>
          <p:cNvPr id="14" name="Google Shape;14;p35"/>
          <p:cNvSpPr txBox="1"/>
          <p:nvPr>
            <p:ph type="title"/>
          </p:nvPr>
        </p:nvSpPr>
        <p:spPr>
          <a:xfrm>
            <a:off x="719507" y="301446"/>
            <a:ext cx="8854468" cy="1259449"/>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CC0000"/>
              </a:buClr>
              <a:buSzPts val="4401"/>
              <a:buFont typeface="Arial"/>
              <a:buNone/>
              <a:defRPr b="0" i="0" sz="4401" u="none" cap="none" strike="noStrike">
                <a:solidFill>
                  <a:srgbClr val="CC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35"/>
          <p:cNvSpPr txBox="1"/>
          <p:nvPr>
            <p:ph idx="1" type="body"/>
          </p:nvPr>
        </p:nvSpPr>
        <p:spPr>
          <a:xfrm>
            <a:off x="216068" y="1560895"/>
            <a:ext cx="9579016" cy="5498068"/>
          </a:xfrm>
          <a:prstGeom prst="rect">
            <a:avLst/>
          </a:prstGeom>
          <a:noFill/>
          <a:ln>
            <a:noFill/>
          </a:ln>
        </p:spPr>
        <p:txBody>
          <a:bodyPr anchorCtr="0" anchor="t" bIns="0" lIns="0" spcFirstLastPara="1" rIns="0" wrap="square" tIns="0">
            <a:normAutofit/>
          </a:bodyPr>
          <a:lstStyle>
            <a:lvl1pPr indent="-406464" lvl="0" marL="457200" marR="0" rtl="0" algn="l">
              <a:lnSpc>
                <a:spcPct val="90000"/>
              </a:lnSpc>
              <a:spcBef>
                <a:spcPts val="1423"/>
              </a:spcBef>
              <a:spcAft>
                <a:spcPts val="0"/>
              </a:spcAft>
              <a:buClr>
                <a:schemeClr val="dk1"/>
              </a:buClr>
              <a:buSzPts val="2801"/>
              <a:buFont typeface="Arial"/>
              <a:buChar char="•"/>
              <a:defRPr b="0" i="0" sz="2801" u="none" cap="none" strike="noStrike">
                <a:solidFill>
                  <a:schemeClr val="dk1"/>
                </a:solidFill>
                <a:latin typeface="Arial"/>
                <a:ea typeface="Arial"/>
                <a:cs typeface="Arial"/>
                <a:sym typeface="Arial"/>
              </a:defRPr>
            </a:lvl1pPr>
            <a:lvl2pPr indent="-381064" lvl="1" marL="914400" marR="0" rtl="0" algn="l">
              <a:lnSpc>
                <a:spcPct val="90000"/>
              </a:lnSpc>
              <a:spcBef>
                <a:spcPts val="50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2pPr>
            <a:lvl3pPr indent="-355663" lvl="2" marL="1371600" marR="0" rtl="0" algn="l">
              <a:lnSpc>
                <a:spcPct val="90000"/>
              </a:lnSpc>
              <a:spcBef>
                <a:spcPts val="500"/>
              </a:spcBef>
              <a:spcAft>
                <a:spcPts val="0"/>
              </a:spcAft>
              <a:buClr>
                <a:schemeClr val="dk1"/>
              </a:buClr>
              <a:buSzPts val="2001"/>
              <a:buFont typeface="Arial"/>
              <a:buChar char="•"/>
              <a:defRPr b="0" i="0" sz="2001" u="none" cap="none" strike="noStrike">
                <a:solidFill>
                  <a:schemeClr val="dk1"/>
                </a:solidFill>
                <a:latin typeface="Arial"/>
                <a:ea typeface="Arial"/>
                <a:cs typeface="Arial"/>
                <a:sym typeface="Arial"/>
              </a:defRPr>
            </a:lvl3pPr>
            <a:lvl4pPr indent="-342963" lvl="3" marL="18288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4pPr>
            <a:lvl5pPr indent="-342964" lvl="4" marL="22860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5pPr>
            <a:lvl6pPr indent="-342964" lvl="5" marL="27432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6pPr>
            <a:lvl7pPr indent="-342964" lvl="6" marL="32004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7pPr>
            <a:lvl8pPr indent="-342964" lvl="7" marL="36576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8pPr>
            <a:lvl9pPr indent="-342964" lvl="8" marL="41148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Arial"/>
                <a:ea typeface="Arial"/>
                <a:cs typeface="Arial"/>
                <a:sym typeface="Arial"/>
              </a:defRPr>
            </a:lvl9pPr>
          </a:lstStyle>
          <a:p/>
        </p:txBody>
      </p:sp>
      <p:pic>
        <p:nvPicPr>
          <p:cNvPr id="16" name="Google Shape;16;p35"/>
          <p:cNvPicPr preferRelativeResize="0"/>
          <p:nvPr/>
        </p:nvPicPr>
        <p:blipFill rotWithShape="1">
          <a:blip r:embed="rId2">
            <a:alphaModFix/>
          </a:blip>
          <a:srcRect b="0" l="0" r="0" t="0"/>
          <a:stretch/>
        </p:blipFill>
        <p:spPr>
          <a:xfrm>
            <a:off x="7552000" y="106725"/>
            <a:ext cx="2531802" cy="64812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1"/>
          <p:cNvSpPr/>
          <p:nvPr/>
        </p:nvSpPr>
        <p:spPr>
          <a:xfrm>
            <a:off x="-355" y="287277"/>
            <a:ext cx="500380" cy="1076960"/>
          </a:xfrm>
          <a:custGeom>
            <a:rect b="b" l="l" r="r" t="t"/>
            <a:pathLst>
              <a:path extrusionOk="0" h="1076960" w="500380">
                <a:moveTo>
                  <a:pt x="500037" y="0"/>
                </a:moveTo>
                <a:lnTo>
                  <a:pt x="0" y="0"/>
                </a:lnTo>
                <a:lnTo>
                  <a:pt x="0" y="1076401"/>
                </a:lnTo>
                <a:lnTo>
                  <a:pt x="250190" y="1076401"/>
                </a:lnTo>
                <a:lnTo>
                  <a:pt x="500037" y="1076401"/>
                </a:lnTo>
                <a:lnTo>
                  <a:pt x="500037" y="0"/>
                </a:lnTo>
                <a:close/>
              </a:path>
            </a:pathLst>
          </a:custGeom>
          <a:solidFill>
            <a:srgbClr val="EE282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 name="Google Shape;80;p1"/>
          <p:cNvSpPr txBox="1"/>
          <p:nvPr/>
        </p:nvSpPr>
        <p:spPr>
          <a:xfrm>
            <a:off x="731425" y="6161674"/>
            <a:ext cx="8944800" cy="474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000"/>
              <a:buFont typeface="Arial"/>
              <a:buNone/>
            </a:pPr>
            <a:r>
              <a:rPr b="0" i="0" lang="en-US" sz="3000" u="none" cap="none" strike="noStrike">
                <a:solidFill>
                  <a:schemeClr val="dk1"/>
                </a:solidFill>
                <a:latin typeface="Helvetica Neue"/>
                <a:ea typeface="Helvetica Neue"/>
                <a:cs typeface="Helvetica Neue"/>
                <a:sym typeface="Helvetica Neue"/>
              </a:rPr>
              <a:t>A study material for the students of GLS University</a:t>
            </a:r>
            <a:endParaRPr b="0" i="0" sz="3000" u="none" cap="none" strike="noStrike">
              <a:solidFill>
                <a:schemeClr val="dk1"/>
              </a:solidFill>
              <a:latin typeface="Helvetica Neue"/>
              <a:ea typeface="Helvetica Neue"/>
              <a:cs typeface="Helvetica Neue"/>
              <a:sym typeface="Helvetica Neue"/>
            </a:endParaRPr>
          </a:p>
        </p:txBody>
      </p:sp>
      <p:sp>
        <p:nvSpPr>
          <p:cNvPr id="81" name="Google Shape;81;p1"/>
          <p:cNvSpPr/>
          <p:nvPr/>
        </p:nvSpPr>
        <p:spPr>
          <a:xfrm>
            <a:off x="385920" y="301680"/>
            <a:ext cx="9186900" cy="585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900"/>
              <a:buFont typeface="Arial"/>
              <a:buNone/>
            </a:pPr>
            <a:r>
              <a:rPr b="0" i="0" lang="en-US" sz="4900" u="none" cap="none" strike="noStrike">
                <a:solidFill>
                  <a:srgbClr val="D2533C"/>
                </a:solidFill>
                <a:latin typeface="Arial"/>
                <a:ea typeface="Arial"/>
                <a:cs typeface="Arial"/>
                <a:sym typeface="Arial"/>
              </a:rPr>
              <a:t>OBJECT ORIENTED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b="0" i="0" lang="en-US" sz="4900" u="none" cap="none" strike="noStrike">
                <a:solidFill>
                  <a:srgbClr val="D2533C"/>
                </a:solidFill>
                <a:latin typeface="Arial"/>
                <a:ea typeface="Arial"/>
                <a:cs typeface="Arial"/>
                <a:sym typeface="Arial"/>
              </a:rPr>
              <a:t>ANALYSIS AND DESIGN</a:t>
            </a:r>
            <a:endParaRPr b="0" i="0" sz="4900" u="none" cap="none" strike="noStrike">
              <a:solidFill>
                <a:srgbClr val="D2533C"/>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lang="en-US" sz="4900">
                <a:solidFill>
                  <a:srgbClr val="D2533C"/>
                </a:solidFill>
              </a:rPr>
              <a:t>Ch - 7</a:t>
            </a:r>
            <a:endParaRPr sz="4900">
              <a:solidFill>
                <a:srgbClr val="D2533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2"/>
          <p:cNvSpPr txBox="1"/>
          <p:nvPr>
            <p:ph type="title"/>
          </p:nvPr>
        </p:nvSpPr>
        <p:spPr>
          <a:xfrm>
            <a:off x="154684" y="195237"/>
            <a:ext cx="8854468" cy="824905"/>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800"/>
              <a:buFont typeface="Arial"/>
              <a:buNone/>
            </a:pPr>
            <a:r>
              <a:rPr i="0" lang="en-US" sz="4800">
                <a:latin typeface="Arial"/>
                <a:ea typeface="Arial"/>
                <a:cs typeface="Arial"/>
                <a:sym typeface="Arial"/>
              </a:rPr>
              <a:t> What are Objects?</a:t>
            </a:r>
            <a:endParaRPr sz="4800">
              <a:latin typeface="Arial"/>
              <a:ea typeface="Arial"/>
              <a:cs typeface="Arial"/>
              <a:sym typeface="Arial"/>
            </a:endParaRPr>
          </a:p>
        </p:txBody>
      </p:sp>
      <p:sp>
        <p:nvSpPr>
          <p:cNvPr id="87" name="Google Shape;87;p2"/>
          <p:cNvSpPr txBox="1"/>
          <p:nvPr/>
        </p:nvSpPr>
        <p:spPr>
          <a:xfrm>
            <a:off x="696137" y="1784073"/>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88" name="Google Shape;88;p2"/>
          <p:cNvSpPr txBox="1"/>
          <p:nvPr/>
        </p:nvSpPr>
        <p:spPr>
          <a:xfrm>
            <a:off x="848425" y="1768700"/>
            <a:ext cx="8696100" cy="751800"/>
          </a:xfrm>
          <a:prstGeom prst="rect">
            <a:avLst/>
          </a:prstGeom>
          <a:noFill/>
          <a:ln>
            <a:noFill/>
          </a:ln>
        </p:spPr>
        <p:txBody>
          <a:bodyPr anchorCtr="0" anchor="t" bIns="0" lIns="0" spcFirstLastPara="1" rIns="0" wrap="square" tIns="12700">
            <a:spAutoFit/>
          </a:bodyPr>
          <a:lstStyle/>
          <a:p>
            <a:pPr indent="158750" lvl="0" marL="12700" marR="508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 discrete entity with a well-defined boundary that encapsulates state and behavior</a:t>
            </a:r>
            <a:endParaRPr b="0" i="0" sz="2400" u="none" cap="none" strike="noStrike">
              <a:solidFill>
                <a:schemeClr val="dk1"/>
              </a:solidFill>
              <a:latin typeface="Helvetica Neue"/>
              <a:ea typeface="Helvetica Neue"/>
              <a:cs typeface="Helvetica Neue"/>
              <a:sym typeface="Helvetica Neue"/>
            </a:endParaRPr>
          </a:p>
        </p:txBody>
      </p:sp>
      <p:sp>
        <p:nvSpPr>
          <p:cNvPr id="89" name="Google Shape;89;p2"/>
          <p:cNvSpPr txBox="1"/>
          <p:nvPr/>
        </p:nvSpPr>
        <p:spPr>
          <a:xfrm>
            <a:off x="696137" y="2878826"/>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90" name="Google Shape;90;p2"/>
          <p:cNvSpPr txBox="1"/>
          <p:nvPr/>
        </p:nvSpPr>
        <p:spPr>
          <a:xfrm>
            <a:off x="1007186" y="2895387"/>
            <a:ext cx="308800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An instance of a class</a:t>
            </a:r>
            <a:endParaRPr b="0" i="0" sz="2400" u="none" cap="none" strike="noStrike">
              <a:solidFill>
                <a:schemeClr val="dk1"/>
              </a:solidFill>
              <a:latin typeface="Helvetica Neue"/>
              <a:ea typeface="Helvetica Neue"/>
              <a:cs typeface="Helvetica Neue"/>
              <a:sym typeface="Helvetica Neue"/>
            </a:endParaRPr>
          </a:p>
        </p:txBody>
      </p:sp>
      <p:sp>
        <p:nvSpPr>
          <p:cNvPr id="91" name="Google Shape;91;p2"/>
          <p:cNvSpPr txBox="1"/>
          <p:nvPr/>
        </p:nvSpPr>
        <p:spPr>
          <a:xfrm>
            <a:off x="696137" y="3609266"/>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92" name="Google Shape;92;p2"/>
          <p:cNvSpPr txBox="1"/>
          <p:nvPr/>
        </p:nvSpPr>
        <p:spPr>
          <a:xfrm>
            <a:off x="1007173" y="3801949"/>
            <a:ext cx="82149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Objects combine data and function in a cohesive unit</a:t>
            </a:r>
            <a:endParaRPr b="0" i="0" sz="2400" u="none" cap="none" strike="noStrike">
              <a:solidFill>
                <a:schemeClr val="dk1"/>
              </a:solidFill>
              <a:latin typeface="Helvetica Neue"/>
              <a:ea typeface="Helvetica Neue"/>
              <a:cs typeface="Helvetica Neue"/>
              <a:sym typeface="Helvetica Neue"/>
            </a:endParaRPr>
          </a:p>
        </p:txBody>
      </p:sp>
      <p:sp>
        <p:nvSpPr>
          <p:cNvPr id="93" name="Google Shape;93;p2"/>
          <p:cNvSpPr txBox="1"/>
          <p:nvPr/>
        </p:nvSpPr>
        <p:spPr>
          <a:xfrm>
            <a:off x="696137" y="4339351"/>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94" name="Google Shape;94;p2"/>
          <p:cNvSpPr txBox="1"/>
          <p:nvPr/>
        </p:nvSpPr>
        <p:spPr>
          <a:xfrm>
            <a:off x="1007174" y="4355899"/>
            <a:ext cx="91674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Objects hide data behind a layer of functions called operations</a:t>
            </a:r>
            <a:endParaRPr b="0" i="0" sz="2400" u="none" cap="none" strike="noStrike">
              <a:solidFill>
                <a:schemeClr val="dk1"/>
              </a:solidFill>
              <a:latin typeface="Helvetica Neue"/>
              <a:ea typeface="Helvetica Neue"/>
              <a:cs typeface="Helvetica Neue"/>
              <a:sym typeface="Helvetica Neue"/>
            </a:endParaRPr>
          </a:p>
        </p:txBody>
      </p:sp>
      <p:sp>
        <p:nvSpPr>
          <p:cNvPr id="95" name="Google Shape;95;p2"/>
          <p:cNvSpPr txBox="1"/>
          <p:nvPr/>
        </p:nvSpPr>
        <p:spPr>
          <a:xfrm>
            <a:off x="696137" y="5069792"/>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96" name="Google Shape;96;p2"/>
          <p:cNvSpPr txBox="1"/>
          <p:nvPr/>
        </p:nvSpPr>
        <p:spPr>
          <a:xfrm>
            <a:off x="1007174" y="5018974"/>
            <a:ext cx="8786400" cy="751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Hiding the data part of an object behind this layer of operation is known as encapsulation or data-hiding</a:t>
            </a:r>
            <a:endParaRPr b="0" i="0" sz="2400" u="none" cap="none" strike="noStrike">
              <a:solidFill>
                <a:schemeClr val="dk1"/>
              </a:solidFill>
              <a:latin typeface="Helvetica Neue"/>
              <a:ea typeface="Helvetica Neue"/>
              <a:cs typeface="Helvetica Neue"/>
              <a:sym typeface="Helvetica Neue"/>
            </a:endParaRPr>
          </a:p>
        </p:txBody>
      </p:sp>
      <p:sp>
        <p:nvSpPr>
          <p:cNvPr id="97" name="Google Shape;97;p2"/>
          <p:cNvSpPr txBox="1"/>
          <p:nvPr/>
        </p:nvSpPr>
        <p:spPr>
          <a:xfrm>
            <a:off x="696137" y="6164545"/>
            <a:ext cx="13271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a:t>
            </a:r>
            <a:endParaRPr b="0" i="0" sz="2400" u="none" cap="none" strike="noStrike">
              <a:solidFill>
                <a:schemeClr val="dk1"/>
              </a:solidFill>
              <a:latin typeface="Helvetica Neue"/>
              <a:ea typeface="Helvetica Neue"/>
              <a:cs typeface="Helvetica Neue"/>
              <a:sym typeface="Helvetica Neue"/>
            </a:endParaRPr>
          </a:p>
        </p:txBody>
      </p:sp>
      <p:sp>
        <p:nvSpPr>
          <p:cNvPr id="98" name="Google Shape;98;p2"/>
          <p:cNvSpPr txBox="1"/>
          <p:nvPr/>
        </p:nvSpPr>
        <p:spPr>
          <a:xfrm>
            <a:off x="1007173" y="6181125"/>
            <a:ext cx="58404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Every object is uniquely identifiable</a:t>
            </a:r>
            <a:endParaRPr b="0" i="0" sz="24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317500" y="1647825"/>
            <a:ext cx="8854468" cy="588866"/>
          </a:xfrm>
          <a:prstGeom prst="rect">
            <a:avLst/>
          </a:prstGeom>
          <a:noFill/>
          <a:ln>
            <a:noFill/>
          </a:ln>
        </p:spPr>
        <p:txBody>
          <a:bodyPr anchorCtr="0" anchor="ctr" bIns="0" lIns="0" spcFirstLastPara="1" rIns="0" wrap="square" tIns="95475">
            <a:spAutoFit/>
          </a:bodyPr>
          <a:lstStyle/>
          <a:p>
            <a:pPr indent="0" lvl="0" marL="127000" rtl="0" algn="l">
              <a:lnSpc>
                <a:spcPct val="100000"/>
              </a:lnSpc>
              <a:spcBef>
                <a:spcPts val="0"/>
              </a:spcBef>
              <a:spcAft>
                <a:spcPts val="0"/>
              </a:spcAft>
              <a:buClr>
                <a:schemeClr val="dk1"/>
              </a:buClr>
              <a:buSzPts val="3200"/>
              <a:buFont typeface="Arial"/>
              <a:buNone/>
            </a:pPr>
            <a:r>
              <a:rPr i="0" lang="en-US" sz="3200">
                <a:latin typeface="Arial"/>
                <a:ea typeface="Arial"/>
                <a:cs typeface="Arial"/>
                <a:sym typeface="Arial"/>
              </a:rPr>
              <a:t>Properties that are common to all objects :</a:t>
            </a:r>
            <a:endParaRPr sz="3200">
              <a:latin typeface="Arial"/>
              <a:ea typeface="Arial"/>
              <a:cs typeface="Arial"/>
              <a:sym typeface="Arial"/>
            </a:endParaRPr>
          </a:p>
        </p:txBody>
      </p:sp>
      <p:sp>
        <p:nvSpPr>
          <p:cNvPr id="104" name="Google Shape;104;p3"/>
          <p:cNvSpPr txBox="1"/>
          <p:nvPr/>
        </p:nvSpPr>
        <p:spPr>
          <a:xfrm>
            <a:off x="707300" y="2325500"/>
            <a:ext cx="6239599" cy="2814681"/>
          </a:xfrm>
          <a:prstGeom prst="rect">
            <a:avLst/>
          </a:prstGeom>
          <a:noFill/>
          <a:ln>
            <a:noFill/>
          </a:ln>
        </p:spPr>
        <p:txBody>
          <a:bodyPr anchorCtr="0" anchor="t" bIns="0" lIns="0" spcFirstLastPara="1" rIns="0" wrap="square" tIns="12700">
            <a:spAutoFit/>
          </a:bodyPr>
          <a:lstStyle/>
          <a:p>
            <a:pPr indent="-342900" lvl="0" marL="355600" marR="0" rtl="0" algn="l">
              <a:lnSpc>
                <a:spcPct val="200000"/>
              </a:lnSpc>
              <a:spcBef>
                <a:spcPts val="0"/>
              </a:spcBef>
              <a:spcAft>
                <a:spcPts val="0"/>
              </a:spcAft>
              <a:buClr>
                <a:schemeClr val="dk1"/>
              </a:buClr>
              <a:buSzPts val="3200"/>
              <a:buFont typeface="Arial"/>
              <a:buAutoNum type="arabicPeriod"/>
            </a:pPr>
            <a:r>
              <a:rPr b="1" i="0" lang="en-US" sz="3200" u="none" cap="none" strike="noStrike">
                <a:solidFill>
                  <a:schemeClr val="dk1"/>
                </a:solidFill>
                <a:latin typeface="Arial"/>
                <a:ea typeface="Arial"/>
                <a:cs typeface="Arial"/>
                <a:sym typeface="Arial"/>
              </a:rPr>
              <a:t>Identity</a:t>
            </a:r>
            <a:endParaRPr b="0" i="0" sz="3200" u="none" cap="none" strike="noStrike">
              <a:solidFill>
                <a:schemeClr val="dk1"/>
              </a:solidFill>
              <a:latin typeface="Arial"/>
              <a:ea typeface="Arial"/>
              <a:cs typeface="Arial"/>
              <a:sym typeface="Arial"/>
            </a:endParaRPr>
          </a:p>
          <a:p>
            <a:pPr indent="-342900" lvl="0" marL="355600" marR="0" rtl="0" algn="l">
              <a:lnSpc>
                <a:spcPct val="200000"/>
              </a:lnSpc>
              <a:spcBef>
                <a:spcPts val="0"/>
              </a:spcBef>
              <a:spcAft>
                <a:spcPts val="0"/>
              </a:spcAft>
              <a:buClr>
                <a:schemeClr val="dk1"/>
              </a:buClr>
              <a:buSzPts val="3200"/>
              <a:buFont typeface="Arial"/>
              <a:buAutoNum type="arabicPeriod"/>
            </a:pPr>
            <a:r>
              <a:rPr b="1" i="0" lang="en-US" sz="3200" u="none" cap="none" strike="noStrike">
                <a:solidFill>
                  <a:schemeClr val="dk1"/>
                </a:solidFill>
                <a:latin typeface="Arial"/>
                <a:ea typeface="Arial"/>
                <a:cs typeface="Arial"/>
                <a:sym typeface="Arial"/>
              </a:rPr>
              <a:t>State</a:t>
            </a:r>
            <a:endParaRPr b="0" i="0" sz="3200" u="none" cap="none" strike="noStrike">
              <a:solidFill>
                <a:schemeClr val="dk1"/>
              </a:solidFill>
              <a:latin typeface="Arial"/>
              <a:ea typeface="Arial"/>
              <a:cs typeface="Arial"/>
              <a:sym typeface="Arial"/>
            </a:endParaRPr>
          </a:p>
          <a:p>
            <a:pPr indent="-342900" lvl="0" marL="355600" marR="0" rtl="0" algn="l">
              <a:lnSpc>
                <a:spcPct val="200000"/>
              </a:lnSpc>
              <a:spcBef>
                <a:spcPts val="0"/>
              </a:spcBef>
              <a:spcAft>
                <a:spcPts val="0"/>
              </a:spcAft>
              <a:buClr>
                <a:schemeClr val="dk1"/>
              </a:buClr>
              <a:buSzPts val="3200"/>
              <a:buFont typeface="Arial"/>
              <a:buAutoNum type="arabicPeriod"/>
            </a:pPr>
            <a:r>
              <a:rPr b="1" i="0" lang="en-US" sz="3200" u="none" cap="none" strike="noStrike">
                <a:solidFill>
                  <a:schemeClr val="dk1"/>
                </a:solidFill>
                <a:latin typeface="Arial"/>
                <a:ea typeface="Arial"/>
                <a:cs typeface="Arial"/>
                <a:sym typeface="Arial"/>
              </a:rPr>
              <a:t>Behavior</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591742" y="813371"/>
            <a:ext cx="3307157"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000"/>
              <a:buFont typeface="Arial"/>
              <a:buNone/>
            </a:pPr>
            <a:r>
              <a:rPr i="0" lang="en-US" sz="4000">
                <a:latin typeface="Arial"/>
                <a:ea typeface="Arial"/>
                <a:cs typeface="Arial"/>
                <a:sym typeface="Arial"/>
              </a:rPr>
              <a:t>1. Identity</a:t>
            </a:r>
            <a:endParaRPr/>
          </a:p>
        </p:txBody>
      </p:sp>
      <p:sp>
        <p:nvSpPr>
          <p:cNvPr id="110" name="Google Shape;110;p4"/>
          <p:cNvSpPr txBox="1"/>
          <p:nvPr/>
        </p:nvSpPr>
        <p:spPr>
          <a:xfrm>
            <a:off x="1600098" y="1770383"/>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11" name="Google Shape;111;p4"/>
          <p:cNvSpPr txBox="1"/>
          <p:nvPr/>
        </p:nvSpPr>
        <p:spPr>
          <a:xfrm>
            <a:off x="1887385" y="1785496"/>
            <a:ext cx="7336155" cy="69659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unique existence in time and space, what makes it different from all other objects</a:t>
            </a:r>
            <a:endParaRPr b="0" i="0" sz="2200" u="none" cap="none" strike="noStrike">
              <a:solidFill>
                <a:schemeClr val="dk1"/>
              </a:solidFill>
              <a:latin typeface="Helvetica Neue"/>
              <a:ea typeface="Helvetica Neue"/>
              <a:cs typeface="Helvetica Neue"/>
              <a:sym typeface="Helvetica Neue"/>
            </a:endParaRPr>
          </a:p>
        </p:txBody>
      </p:sp>
      <p:sp>
        <p:nvSpPr>
          <p:cNvPr id="112" name="Google Shape;112;p4"/>
          <p:cNvSpPr txBox="1"/>
          <p:nvPr/>
        </p:nvSpPr>
        <p:spPr>
          <a:xfrm>
            <a:off x="1600098" y="2776223"/>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13" name="Google Shape;113;p4"/>
          <p:cNvSpPr txBox="1"/>
          <p:nvPr/>
        </p:nvSpPr>
        <p:spPr>
          <a:xfrm>
            <a:off x="1887372" y="2791349"/>
            <a:ext cx="5766300" cy="35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Example, the printer’s serial number</a:t>
            </a:r>
            <a:endParaRPr b="0" i="0" sz="2200" u="none" cap="none" strike="noStrike">
              <a:solidFill>
                <a:schemeClr val="dk1"/>
              </a:solidFill>
              <a:latin typeface="Helvetica Neue"/>
              <a:ea typeface="Helvetica Neue"/>
              <a:cs typeface="Helvetica Neue"/>
              <a:sym typeface="Helvetica Neue"/>
            </a:endParaRPr>
          </a:p>
        </p:txBody>
      </p:sp>
      <p:sp>
        <p:nvSpPr>
          <p:cNvPr id="114" name="Google Shape;114;p4"/>
          <p:cNvSpPr txBox="1"/>
          <p:nvPr/>
        </p:nvSpPr>
        <p:spPr>
          <a:xfrm>
            <a:off x="1600098" y="3445462"/>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15" name="Google Shape;115;p4"/>
          <p:cNvSpPr txBox="1"/>
          <p:nvPr/>
        </p:nvSpPr>
        <p:spPr>
          <a:xfrm>
            <a:off x="1887385" y="3460943"/>
            <a:ext cx="7529830" cy="1701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 serial number is a great way to specify the identity of a physical object, and we use a similar principle, the idea of an object reference, to specify the identity of every one of the software objects we will be working with in OO analysis and design</a:t>
            </a:r>
            <a:endParaRPr b="0" i="0" sz="2200" u="none" cap="none" strike="noStrike">
              <a:solidFill>
                <a:schemeClr val="dk1"/>
              </a:solidFill>
              <a:latin typeface="Helvetica Neue"/>
              <a:ea typeface="Helvetica Neue"/>
              <a:cs typeface="Helvetica Neue"/>
              <a:sym typeface="Helvetica Neue"/>
            </a:endParaRPr>
          </a:p>
        </p:txBody>
      </p:sp>
      <p:sp>
        <p:nvSpPr>
          <p:cNvPr id="116" name="Google Shape;116;p4"/>
          <p:cNvSpPr txBox="1"/>
          <p:nvPr/>
        </p:nvSpPr>
        <p:spPr>
          <a:xfrm>
            <a:off x="1600098" y="5457142"/>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17" name="Google Shape;117;p4"/>
          <p:cNvSpPr txBox="1"/>
          <p:nvPr/>
        </p:nvSpPr>
        <p:spPr>
          <a:xfrm>
            <a:off x="1887385" y="5472623"/>
            <a:ext cx="6922134" cy="6959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Of course, in the real world not every object has a serial number, but they still have unique identities</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719507" y="502841"/>
            <a:ext cx="8854468" cy="856658"/>
          </a:xfrm>
          <a:prstGeom prst="rect">
            <a:avLst/>
          </a:prstGeom>
          <a:noFill/>
          <a:ln>
            <a:noFill/>
          </a:ln>
        </p:spPr>
        <p:txBody>
          <a:bodyPr anchorCtr="0" anchor="ctr" bIns="0" lIns="0" spcFirstLastPara="1" rIns="0" wrap="square" tIns="238750">
            <a:spAutoFit/>
          </a:bodyPr>
          <a:lstStyle/>
          <a:p>
            <a:pPr indent="0" lvl="0" marL="127000" rtl="0" algn="l">
              <a:lnSpc>
                <a:spcPct val="100000"/>
              </a:lnSpc>
              <a:spcBef>
                <a:spcPts val="0"/>
              </a:spcBef>
              <a:spcAft>
                <a:spcPts val="0"/>
              </a:spcAft>
              <a:buClr>
                <a:schemeClr val="dk1"/>
              </a:buClr>
              <a:buSzPts val="4000"/>
              <a:buFont typeface="Arial"/>
              <a:buNone/>
            </a:pPr>
            <a:r>
              <a:rPr i="0" lang="en-US" sz="4000">
                <a:latin typeface="Arial"/>
                <a:ea typeface="Arial"/>
                <a:cs typeface="Arial"/>
                <a:sym typeface="Arial"/>
              </a:rPr>
              <a:t>2. State</a:t>
            </a:r>
            <a:endParaRPr sz="4000">
              <a:latin typeface="Arial"/>
              <a:ea typeface="Arial"/>
              <a:cs typeface="Arial"/>
              <a:sym typeface="Arial"/>
            </a:endParaRPr>
          </a:p>
        </p:txBody>
      </p:sp>
      <p:sp>
        <p:nvSpPr>
          <p:cNvPr id="123" name="Google Shape;123;p5"/>
          <p:cNvSpPr txBox="1"/>
          <p:nvPr/>
        </p:nvSpPr>
        <p:spPr>
          <a:xfrm>
            <a:off x="1715655" y="1602616"/>
            <a:ext cx="7706359" cy="3074035"/>
          </a:xfrm>
          <a:prstGeom prst="rect">
            <a:avLst/>
          </a:prstGeom>
          <a:noFill/>
          <a:ln>
            <a:noFill/>
          </a:ln>
        </p:spPr>
        <p:txBody>
          <a:bodyPr anchorCtr="0" anchor="t" bIns="0" lIns="0" spcFirstLastPara="1" rIns="0" wrap="square" tIns="12700">
            <a:spAutoFit/>
          </a:bodyPr>
          <a:lstStyle/>
          <a:p>
            <a:pPr indent="-287655" lvl="0" marL="299720" marR="21844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Determined by the attribute values of an object at a particular point in time</a:t>
            </a:r>
            <a:endParaRPr b="0" i="0" sz="25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70"/>
              </a:spcBef>
              <a:spcAft>
                <a:spcPts val="0"/>
              </a:spcAft>
              <a:buClr>
                <a:schemeClr val="dk1"/>
              </a:buClr>
              <a:buSzPts val="2500"/>
              <a:buFont typeface="Helvetica Neue"/>
              <a:buNone/>
            </a:pPr>
            <a:r>
              <a:t/>
            </a:r>
            <a:endParaRPr b="0" i="0" sz="2500" u="none" cap="none" strike="noStrike">
              <a:solidFill>
                <a:schemeClr val="dk1"/>
              </a:solidFill>
              <a:latin typeface="Helvetica Neue"/>
              <a:ea typeface="Helvetica Neue"/>
              <a:cs typeface="Helvetica Neue"/>
              <a:sym typeface="Helvetica Neue"/>
            </a:endParaRPr>
          </a:p>
          <a:p>
            <a:pPr indent="-287655" lvl="0" marL="299720" marR="78486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For example list of the states the printer can go through</a:t>
            </a:r>
            <a:endParaRPr b="0" i="0" sz="25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70"/>
              </a:spcBef>
              <a:spcAft>
                <a:spcPts val="0"/>
              </a:spcAft>
              <a:buClr>
                <a:schemeClr val="dk1"/>
              </a:buClr>
              <a:buSzPts val="2500"/>
              <a:buFont typeface="Helvetica Neue"/>
              <a:buNone/>
            </a:pPr>
            <a:r>
              <a:t/>
            </a:r>
            <a:endParaRPr b="0" i="0" sz="2500" u="none" cap="none" strike="noStrike">
              <a:solidFill>
                <a:schemeClr val="dk1"/>
              </a:solidFill>
              <a:latin typeface="Helvetica Neue"/>
              <a:ea typeface="Helvetica Neue"/>
              <a:cs typeface="Helvetica Neue"/>
              <a:sym typeface="Helvetica Neue"/>
            </a:endParaRPr>
          </a:p>
          <a:p>
            <a:pPr indent="-287655" lvl="0" marL="299720" marR="508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You can see from this how an object’s state depends on the values of its attributes</a:t>
            </a:r>
            <a:endParaRPr b="0" i="0" sz="2500" u="none" cap="none" strike="noStrike">
              <a:solidFill>
                <a:schemeClr val="dk1"/>
              </a:solidFill>
              <a:latin typeface="Helvetica Neue"/>
              <a:ea typeface="Helvetica Neue"/>
              <a:cs typeface="Helvetica Neue"/>
              <a:sym typeface="Helvetica Neue"/>
            </a:endParaRPr>
          </a:p>
        </p:txBody>
      </p:sp>
      <p:pic>
        <p:nvPicPr>
          <p:cNvPr id="124" name="Google Shape;124;p5"/>
          <p:cNvPicPr preferRelativeResize="0"/>
          <p:nvPr/>
        </p:nvPicPr>
        <p:blipFill rotWithShape="1">
          <a:blip r:embed="rId3">
            <a:alphaModFix/>
          </a:blip>
          <a:srcRect b="0" l="0" r="0" t="0"/>
          <a:stretch/>
        </p:blipFill>
        <p:spPr>
          <a:xfrm>
            <a:off x="943559" y="5016604"/>
            <a:ext cx="7191717" cy="18223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719507" y="569545"/>
            <a:ext cx="8854468" cy="723249"/>
          </a:xfrm>
          <a:prstGeom prst="rect">
            <a:avLst/>
          </a:prstGeom>
          <a:noFill/>
          <a:ln>
            <a:noFill/>
          </a:ln>
        </p:spPr>
        <p:txBody>
          <a:bodyPr anchorCtr="0" anchor="ctr" bIns="0" lIns="0" spcFirstLastPara="1" rIns="0" wrap="square" tIns="106650">
            <a:spAutoFit/>
          </a:bodyPr>
          <a:lstStyle/>
          <a:p>
            <a:pPr indent="0" lvl="0" marL="455294" rtl="0" algn="l">
              <a:lnSpc>
                <a:spcPct val="100000"/>
              </a:lnSpc>
              <a:spcBef>
                <a:spcPts val="0"/>
              </a:spcBef>
              <a:spcAft>
                <a:spcPts val="0"/>
              </a:spcAft>
              <a:buClr>
                <a:schemeClr val="dk1"/>
              </a:buClr>
              <a:buSzPts val="4000"/>
              <a:buFont typeface="Arial"/>
              <a:buNone/>
            </a:pPr>
            <a:r>
              <a:rPr i="0" lang="en-US" sz="4000">
                <a:latin typeface="Arial"/>
                <a:ea typeface="Arial"/>
                <a:cs typeface="Arial"/>
                <a:sym typeface="Arial"/>
              </a:rPr>
              <a:t>3. Behavior</a:t>
            </a:r>
            <a:endParaRPr/>
          </a:p>
        </p:txBody>
      </p:sp>
      <p:sp>
        <p:nvSpPr>
          <p:cNvPr id="130" name="Google Shape;130;p6"/>
          <p:cNvSpPr txBox="1"/>
          <p:nvPr/>
        </p:nvSpPr>
        <p:spPr>
          <a:xfrm>
            <a:off x="1034897" y="1365380"/>
            <a:ext cx="12382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31" name="Google Shape;131;p6"/>
          <p:cNvSpPr txBox="1"/>
          <p:nvPr/>
        </p:nvSpPr>
        <p:spPr>
          <a:xfrm>
            <a:off x="1267460" y="1380505"/>
            <a:ext cx="7998459" cy="4716780"/>
          </a:xfrm>
          <a:prstGeom prst="rect">
            <a:avLst/>
          </a:prstGeom>
          <a:noFill/>
          <a:ln>
            <a:noFill/>
          </a:ln>
        </p:spPr>
        <p:txBody>
          <a:bodyPr anchorCtr="0" anchor="t" bIns="0" lIns="0" spcFirstLastPara="1" rIns="0" wrap="square" tIns="12700">
            <a:spAutoFit/>
          </a:bodyPr>
          <a:lstStyle/>
          <a:p>
            <a:pPr indent="0" lvl="0" marL="15621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Operations in analysis, and as methods in design</a:t>
            </a:r>
            <a:endParaRPr b="0" i="0" sz="2200" u="none" cap="none" strike="noStrike">
              <a:solidFill>
                <a:schemeClr val="dk1"/>
              </a:solidFill>
              <a:latin typeface="Helvetica Neue"/>
              <a:ea typeface="Helvetica Neue"/>
              <a:cs typeface="Helvetica Neue"/>
              <a:sym typeface="Helvetica Neue"/>
            </a:endParaRPr>
          </a:p>
          <a:p>
            <a:pPr indent="0" lvl="0" marL="156210" marR="5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Invoking an operation or method on an object will often cause a change in the values of one or more of its attributes, and this may constitute a </a:t>
            </a:r>
            <a:r>
              <a:rPr b="1" i="0" lang="en-US" sz="2200" u="none" cap="none" strike="noStrike">
                <a:solidFill>
                  <a:schemeClr val="dk1"/>
                </a:solidFill>
                <a:latin typeface="Arial"/>
                <a:ea typeface="Arial"/>
                <a:cs typeface="Arial"/>
                <a:sym typeface="Arial"/>
              </a:rPr>
              <a:t>state transition</a:t>
            </a:r>
            <a:endParaRPr b="0" i="0" sz="2200" u="none" cap="none" strike="noStrike">
              <a:solidFill>
                <a:schemeClr val="dk1"/>
              </a:solidFill>
              <a:latin typeface="Arial"/>
              <a:ea typeface="Arial"/>
              <a:cs typeface="Arial"/>
              <a:sym typeface="Arial"/>
            </a:endParaRPr>
          </a:p>
          <a:p>
            <a:pPr indent="0" lvl="0" marL="156210" marR="0" rtl="0" algn="l">
              <a:lnSpc>
                <a:spcPct val="119545"/>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 method is an implementation	of an operation</a:t>
            </a:r>
            <a:endParaRPr b="0" i="0" sz="2200" u="none" cap="none" strike="noStrike">
              <a:solidFill>
                <a:schemeClr val="dk1"/>
              </a:solidFill>
              <a:latin typeface="Helvetica Neue"/>
              <a:ea typeface="Helvetica Neue"/>
              <a:cs typeface="Helvetica Neue"/>
              <a:sym typeface="Helvetica Neue"/>
            </a:endParaRPr>
          </a:p>
          <a:p>
            <a:pPr indent="0" lvl="0" marL="156210" marR="19431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This is a meaningful movement of the object from one state to another state</a:t>
            </a:r>
            <a:endParaRPr b="0" i="0" sz="2200" u="none" cap="none" strike="noStrike">
              <a:solidFill>
                <a:schemeClr val="dk1"/>
              </a:solidFill>
              <a:latin typeface="Helvetica Neue"/>
              <a:ea typeface="Helvetica Neue"/>
              <a:cs typeface="Helvetica Neue"/>
              <a:sym typeface="Helvetica Neue"/>
            </a:endParaRPr>
          </a:p>
          <a:p>
            <a:pPr indent="143510" lvl="0" marL="12700" marR="379095"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For example	– there are certain things the printer can do for me:</a:t>
            </a:r>
            <a:endParaRPr b="0" i="0" sz="2200" u="none" cap="none" strike="noStrike">
              <a:solidFill>
                <a:schemeClr val="dk1"/>
              </a:solidFill>
              <a:latin typeface="Helvetica Neue"/>
              <a:ea typeface="Helvetica Neue"/>
              <a:cs typeface="Helvetica Neue"/>
              <a:sym typeface="Helvetica Neue"/>
            </a:endParaRPr>
          </a:p>
          <a:p>
            <a:pPr indent="-170180" lvl="0" marL="326390" marR="0" rtl="0" algn="l">
              <a:lnSpc>
                <a:spcPct val="12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switchOn()</a:t>
            </a:r>
            <a:endParaRPr b="0" i="0" sz="2200" u="none" cap="none" strike="noStrike">
              <a:solidFill>
                <a:schemeClr val="dk1"/>
              </a:solidFill>
              <a:latin typeface="Helvetica Neue"/>
              <a:ea typeface="Helvetica Neue"/>
              <a:cs typeface="Helvetica Neue"/>
              <a:sym typeface="Helvetica Neue"/>
            </a:endParaRPr>
          </a:p>
          <a:p>
            <a:pPr indent="-170180" lvl="0" marL="326390" marR="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switchOff( )</a:t>
            </a:r>
            <a:endParaRPr b="0" i="0" sz="2200" u="none" cap="none" strike="noStrike">
              <a:solidFill>
                <a:schemeClr val="dk1"/>
              </a:solidFill>
              <a:latin typeface="Helvetica Neue"/>
              <a:ea typeface="Helvetica Neue"/>
              <a:cs typeface="Helvetica Neue"/>
              <a:sym typeface="Helvetica Neue"/>
            </a:endParaRPr>
          </a:p>
          <a:p>
            <a:pPr indent="-170180" lvl="0" marL="326390" marR="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printDocument()</a:t>
            </a:r>
            <a:endParaRPr b="0" i="0" sz="2200" u="none" cap="none" strike="noStrike">
              <a:solidFill>
                <a:schemeClr val="dk1"/>
              </a:solidFill>
              <a:latin typeface="Helvetica Neue"/>
              <a:ea typeface="Helvetica Neue"/>
              <a:cs typeface="Helvetica Neue"/>
              <a:sym typeface="Helvetica Neue"/>
            </a:endParaRPr>
          </a:p>
          <a:p>
            <a:pPr indent="143510" lvl="0" marL="12700" marR="669925" rtl="0" algn="l">
              <a:lnSpc>
                <a:spcPct val="119545"/>
              </a:lnSpc>
              <a:spcBef>
                <a:spcPts val="95"/>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An operation is the specification of a piece of behavior. An implementation of that behavior is called a method</a:t>
            </a:r>
            <a:endParaRPr b="0" i="0" sz="2200" u="none" cap="none" strike="noStrike">
              <a:solidFill>
                <a:schemeClr val="dk1"/>
              </a:solidFill>
              <a:latin typeface="Helvetica Neue"/>
              <a:ea typeface="Helvetica Neue"/>
              <a:cs typeface="Helvetica Neue"/>
              <a:sym typeface="Helvetica Neue"/>
            </a:endParaRPr>
          </a:p>
        </p:txBody>
      </p:sp>
      <p:sp>
        <p:nvSpPr>
          <p:cNvPr id="132" name="Google Shape;132;p6"/>
          <p:cNvSpPr txBox="1"/>
          <p:nvPr/>
        </p:nvSpPr>
        <p:spPr>
          <a:xfrm>
            <a:off x="1034897" y="2705306"/>
            <a:ext cx="123825" cy="6959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33" name="Google Shape;133;p6"/>
          <p:cNvSpPr txBox="1"/>
          <p:nvPr/>
        </p:nvSpPr>
        <p:spPr>
          <a:xfrm>
            <a:off x="1034897" y="3711146"/>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34" name="Google Shape;134;p6"/>
          <p:cNvSpPr txBox="1"/>
          <p:nvPr/>
        </p:nvSpPr>
        <p:spPr>
          <a:xfrm>
            <a:off x="1034897" y="5387305"/>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578342" y="134570"/>
            <a:ext cx="8854500" cy="763500"/>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400"/>
              <a:buFont typeface="Arial"/>
              <a:buNone/>
            </a:pPr>
            <a:r>
              <a:rPr i="0" lang="en-US" sz="4400">
                <a:latin typeface="Arial"/>
                <a:ea typeface="Arial"/>
                <a:cs typeface="Arial"/>
                <a:sym typeface="Arial"/>
              </a:rPr>
              <a:t>Encapsulation</a:t>
            </a:r>
            <a:endParaRPr sz="4400">
              <a:latin typeface="Arial"/>
              <a:ea typeface="Arial"/>
              <a:cs typeface="Arial"/>
              <a:sym typeface="Arial"/>
            </a:endParaRPr>
          </a:p>
        </p:txBody>
      </p:sp>
      <p:sp>
        <p:nvSpPr>
          <p:cNvPr id="140" name="Google Shape;140;p7"/>
          <p:cNvSpPr txBox="1"/>
          <p:nvPr>
            <p:ph idx="1" type="body"/>
          </p:nvPr>
        </p:nvSpPr>
        <p:spPr>
          <a:xfrm>
            <a:off x="252392" y="1647825"/>
            <a:ext cx="9579016" cy="4753994"/>
          </a:xfrm>
          <a:prstGeom prst="rect">
            <a:avLst/>
          </a:prstGeom>
          <a:noFill/>
          <a:ln>
            <a:noFill/>
          </a:ln>
        </p:spPr>
        <p:txBody>
          <a:bodyPr anchorCtr="0" anchor="t" bIns="0" lIns="0" spcFirstLastPara="1" rIns="0" wrap="square" tIns="12700">
            <a:spAutoFit/>
          </a:bodyPr>
          <a:lstStyle/>
          <a:p>
            <a:pPr indent="0" lvl="0" marL="178435" marR="984885" rtl="0" algn="l">
              <a:lnSpc>
                <a:spcPct val="100000"/>
              </a:lnSpc>
              <a:spcBef>
                <a:spcPts val="0"/>
              </a:spcBef>
              <a:spcAft>
                <a:spcPts val="0"/>
              </a:spcAft>
              <a:buClr>
                <a:schemeClr val="dk1"/>
              </a:buClr>
              <a:buSzPts val="2800"/>
              <a:buNone/>
            </a:pPr>
            <a:r>
              <a:rPr lang="en-US"/>
              <a:t>Encapsulation, or data-hiding, is one of the primary benefits of OO programming</a:t>
            </a:r>
            <a:endParaRPr/>
          </a:p>
          <a:p>
            <a:pPr indent="0" lvl="0" marL="12700" marR="5080" rtl="0" algn="l">
              <a:lnSpc>
                <a:spcPct val="99800"/>
              </a:lnSpc>
              <a:spcBef>
                <a:spcPts val="5"/>
              </a:spcBef>
              <a:spcAft>
                <a:spcPts val="0"/>
              </a:spcAft>
              <a:buClr>
                <a:schemeClr val="dk1"/>
              </a:buClr>
              <a:buSzPts val="2801"/>
              <a:buNone/>
            </a:pPr>
            <a:r>
              <a:t/>
            </a:r>
            <a:endParaRPr/>
          </a:p>
          <a:p>
            <a:pPr indent="0" lvl="0" marL="12700" marR="5080" rtl="0" algn="l">
              <a:lnSpc>
                <a:spcPct val="99800"/>
              </a:lnSpc>
              <a:spcBef>
                <a:spcPts val="5"/>
              </a:spcBef>
              <a:spcAft>
                <a:spcPts val="0"/>
              </a:spcAft>
              <a:buClr>
                <a:schemeClr val="dk1"/>
              </a:buClr>
              <a:buSzPts val="2800"/>
              <a:buNone/>
            </a:pPr>
            <a:r>
              <a:rPr lang="en-US"/>
              <a:t>For example, if the balance is negative, then we may say that object is in the state </a:t>
            </a:r>
            <a:r>
              <a:rPr b="1" lang="en-US">
                <a:latin typeface="Arial"/>
                <a:ea typeface="Arial"/>
                <a:cs typeface="Arial"/>
                <a:sym typeface="Arial"/>
              </a:rPr>
              <a:t>overdrawn</a:t>
            </a:r>
            <a:r>
              <a:rPr lang="en-US"/>
              <a:t>. As the balance changes from negative to zero, the object makes a significant change in its nature – it makes the state transition from the state overdrawn to the state </a:t>
            </a:r>
            <a:r>
              <a:rPr b="1" lang="en-US">
                <a:latin typeface="Arial"/>
                <a:ea typeface="Arial"/>
                <a:cs typeface="Arial"/>
                <a:sym typeface="Arial"/>
              </a:rPr>
              <a:t>empty </a:t>
            </a:r>
            <a:r>
              <a:rPr lang="en-US"/>
              <a:t>and Account object’s balance becomes positive, it makes another state transition from the state empty to the state </a:t>
            </a:r>
            <a:r>
              <a:rPr b="1" lang="en-US">
                <a:latin typeface="Arial"/>
                <a:ea typeface="Arial"/>
                <a:cs typeface="Arial"/>
                <a:sym typeface="Arial"/>
              </a:rPr>
              <a:t>inCredit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735409" y="1748906"/>
            <a:ext cx="8613000" cy="782400"/>
          </a:xfrm>
          <a:prstGeom prst="rect">
            <a:avLst/>
          </a:prstGeom>
          <a:noFill/>
          <a:ln>
            <a:noFill/>
          </a:ln>
        </p:spPr>
        <p:txBody>
          <a:bodyPr anchorCtr="0" anchor="ctr" bIns="0" lIns="0" spcFirstLastPara="1" rIns="0" wrap="square" tIns="12700">
            <a:spAutoFit/>
          </a:bodyPr>
          <a:lstStyle/>
          <a:p>
            <a:pPr indent="0" lvl="0" marL="12700" marR="5080" rtl="0" algn="l">
              <a:lnSpc>
                <a:spcPct val="100000"/>
              </a:lnSpc>
              <a:spcBef>
                <a:spcPts val="0"/>
              </a:spcBef>
              <a:spcAft>
                <a:spcPts val="0"/>
              </a:spcAft>
              <a:buClr>
                <a:schemeClr val="dk1"/>
              </a:buClr>
              <a:buSzPts val="2500"/>
              <a:buFont typeface="Helvetica Neue"/>
              <a:buNone/>
            </a:pPr>
            <a:r>
              <a:rPr b="0" i="0" lang="en-US" sz="2500">
                <a:latin typeface="Helvetica Neue"/>
                <a:ea typeface="Helvetica Neue"/>
                <a:cs typeface="Helvetica Neue"/>
                <a:sym typeface="Helvetica Neue"/>
              </a:rPr>
              <a:t>The behavior of any object is basically “what it can do” for us, and you can see that the object in Figure :</a:t>
            </a:r>
            <a:endParaRPr sz="2500">
              <a:latin typeface="Helvetica Neue"/>
              <a:ea typeface="Helvetica Neue"/>
              <a:cs typeface="Helvetica Neue"/>
              <a:sym typeface="Helvetica Neue"/>
            </a:endParaRPr>
          </a:p>
        </p:txBody>
      </p:sp>
      <p:pic>
        <p:nvPicPr>
          <p:cNvPr id="146" name="Google Shape;146;p8"/>
          <p:cNvPicPr preferRelativeResize="0"/>
          <p:nvPr/>
        </p:nvPicPr>
        <p:blipFill rotWithShape="1">
          <a:blip r:embed="rId3">
            <a:alphaModFix/>
          </a:blip>
          <a:srcRect b="0" l="0" r="0" t="0"/>
          <a:stretch/>
        </p:blipFill>
        <p:spPr>
          <a:xfrm>
            <a:off x="1715150" y="2852476"/>
            <a:ext cx="5528575" cy="3795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483527" y="103793"/>
            <a:ext cx="8854468" cy="824905"/>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800"/>
              <a:buFont typeface="Arial"/>
              <a:buNone/>
            </a:pPr>
            <a:r>
              <a:rPr i="0" lang="en-US" sz="4800">
                <a:latin typeface="Arial"/>
                <a:ea typeface="Arial"/>
                <a:cs typeface="Arial"/>
                <a:sym typeface="Arial"/>
              </a:rPr>
              <a:t> Messaging</a:t>
            </a:r>
            <a:endParaRPr sz="4800">
              <a:latin typeface="Arial"/>
              <a:ea typeface="Arial"/>
              <a:cs typeface="Arial"/>
              <a:sym typeface="Arial"/>
            </a:endParaRPr>
          </a:p>
        </p:txBody>
      </p:sp>
      <p:sp>
        <p:nvSpPr>
          <p:cNvPr id="152" name="Google Shape;152;p9"/>
          <p:cNvSpPr txBox="1"/>
          <p:nvPr>
            <p:ph idx="1" type="body"/>
          </p:nvPr>
        </p:nvSpPr>
        <p:spPr>
          <a:xfrm>
            <a:off x="493061" y="1724025"/>
            <a:ext cx="9579016" cy="5498068"/>
          </a:xfrm>
          <a:prstGeom prst="rect">
            <a:avLst/>
          </a:prstGeom>
          <a:noFill/>
          <a:ln>
            <a:noFill/>
          </a:ln>
        </p:spPr>
        <p:txBody>
          <a:bodyPr anchorCtr="0" anchor="t" bIns="0" lIns="0" spcFirstLastPara="1" rIns="0" wrap="square" tIns="12700">
            <a:spAutoFit/>
          </a:bodyPr>
          <a:lstStyle/>
          <a:p>
            <a:pPr indent="-178435" lvl="0" marL="178435" marR="5080" rtl="0" algn="l">
              <a:lnSpc>
                <a:spcPct val="100000"/>
              </a:lnSpc>
              <a:spcBef>
                <a:spcPts val="0"/>
              </a:spcBef>
              <a:spcAft>
                <a:spcPts val="0"/>
              </a:spcAft>
              <a:buClr>
                <a:schemeClr val="dk1"/>
              </a:buClr>
              <a:buSzPts val="2800"/>
              <a:buChar char="•"/>
            </a:pPr>
            <a:r>
              <a:rPr lang="en-US"/>
              <a:t>Objects generate system behavior by sending messages to each other over links. This is collaboration</a:t>
            </a:r>
            <a:endParaRPr/>
          </a:p>
          <a:p>
            <a:pPr indent="-178435" lvl="0" marL="178435" marR="217804" rtl="0" algn="l">
              <a:lnSpc>
                <a:spcPct val="99900"/>
              </a:lnSpc>
              <a:spcBef>
                <a:spcPts val="1423"/>
              </a:spcBef>
              <a:spcAft>
                <a:spcPts val="0"/>
              </a:spcAft>
              <a:buClr>
                <a:schemeClr val="dk1"/>
              </a:buClr>
              <a:buSzPts val="2800"/>
              <a:buChar char="•"/>
            </a:pPr>
            <a:r>
              <a:rPr lang="en-US"/>
              <a:t>Objects collaborate to perform the functions of the system What this means is that objects form links to other objects and send messages back and forth along those links When an object receives a message, it looks at its set of operations to see if there is an operation whose signature matches the message signature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690239" y="1764100"/>
            <a:ext cx="8703300" cy="782400"/>
          </a:xfrm>
          <a:prstGeom prst="rect">
            <a:avLst/>
          </a:prstGeom>
          <a:noFill/>
          <a:ln>
            <a:noFill/>
          </a:ln>
        </p:spPr>
        <p:txBody>
          <a:bodyPr anchorCtr="0" anchor="ctr" bIns="0" lIns="0" spcFirstLastPara="1" rIns="0" wrap="square" tIns="12700">
            <a:spAutoFit/>
          </a:bodyPr>
          <a:lstStyle/>
          <a:p>
            <a:pPr indent="0" lvl="0" marL="12700" marR="5080" rtl="0" algn="l">
              <a:lnSpc>
                <a:spcPct val="100000"/>
              </a:lnSpc>
              <a:spcBef>
                <a:spcPts val="0"/>
              </a:spcBef>
              <a:spcAft>
                <a:spcPts val="0"/>
              </a:spcAft>
              <a:buClr>
                <a:schemeClr val="dk1"/>
              </a:buClr>
              <a:buSzPts val="2500"/>
              <a:buFont typeface="Helvetica Neue"/>
              <a:buNone/>
            </a:pPr>
            <a:r>
              <a:rPr b="0" i="0" lang="en-US" sz="2500">
                <a:latin typeface="Helvetica Neue"/>
                <a:ea typeface="Helvetica Neue"/>
                <a:cs typeface="Helvetica Neue"/>
                <a:sym typeface="Helvetica Neue"/>
              </a:rPr>
              <a:t>These signatures comprise the message (or operation) name, parameter types, and return value</a:t>
            </a:r>
            <a:endParaRPr sz="2500">
              <a:latin typeface="Helvetica Neue"/>
              <a:ea typeface="Helvetica Neue"/>
              <a:cs typeface="Helvetica Neue"/>
              <a:sym typeface="Helvetica Neue"/>
            </a:endParaRPr>
          </a:p>
        </p:txBody>
      </p:sp>
      <p:pic>
        <p:nvPicPr>
          <p:cNvPr id="158" name="Google Shape;158;p10"/>
          <p:cNvPicPr preferRelativeResize="0"/>
          <p:nvPr/>
        </p:nvPicPr>
        <p:blipFill rotWithShape="1">
          <a:blip r:embed="rId3">
            <a:alphaModFix/>
          </a:blip>
          <a:srcRect b="0" l="0" r="0" t="0"/>
          <a:stretch/>
        </p:blipFill>
        <p:spPr>
          <a:xfrm>
            <a:off x="613226" y="2698989"/>
            <a:ext cx="7810919" cy="35737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520150" y="212301"/>
            <a:ext cx="8854500" cy="763500"/>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400"/>
              <a:buFont typeface="Arial"/>
              <a:buNone/>
            </a:pPr>
            <a:r>
              <a:rPr i="0" lang="en-US" sz="4400">
                <a:latin typeface="Arial"/>
                <a:ea typeface="Arial"/>
                <a:cs typeface="Arial"/>
                <a:sym typeface="Arial"/>
              </a:rPr>
              <a:t>UML object notation</a:t>
            </a:r>
            <a:endParaRPr sz="4400">
              <a:latin typeface="Arial"/>
              <a:ea typeface="Arial"/>
              <a:cs typeface="Arial"/>
              <a:sym typeface="Arial"/>
            </a:endParaRPr>
          </a:p>
        </p:txBody>
      </p:sp>
      <p:sp>
        <p:nvSpPr>
          <p:cNvPr id="164" name="Google Shape;164;p11"/>
          <p:cNvSpPr txBox="1"/>
          <p:nvPr/>
        </p:nvSpPr>
        <p:spPr>
          <a:xfrm>
            <a:off x="701179" y="1782981"/>
            <a:ext cx="137160" cy="7880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165" name="Google Shape;165;p11"/>
          <p:cNvSpPr txBox="1"/>
          <p:nvPr/>
        </p:nvSpPr>
        <p:spPr>
          <a:xfrm>
            <a:off x="1023734" y="1800977"/>
            <a:ext cx="8350800" cy="2025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The UML object icon is a box with two compartments:</a:t>
            </a:r>
            <a:endParaRPr b="0" i="0" sz="25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The top compartment contains the object identifier, which is </a:t>
            </a:r>
            <a:r>
              <a:rPr b="0" i="1" lang="en-US" sz="2500" u="none" cap="none" strike="noStrike">
                <a:solidFill>
                  <a:schemeClr val="dk1"/>
                </a:solidFill>
                <a:latin typeface="Arial"/>
                <a:ea typeface="Arial"/>
                <a:cs typeface="Arial"/>
                <a:sym typeface="Arial"/>
              </a:rPr>
              <a:t>always underlined</a:t>
            </a:r>
            <a:endParaRPr b="0" i="0" sz="2500" u="none" cap="none" strike="noStrike">
              <a:solidFill>
                <a:schemeClr val="dk1"/>
              </a:solidFill>
              <a:latin typeface="Arial"/>
              <a:ea typeface="Arial"/>
              <a:cs typeface="Arial"/>
              <a:sym typeface="Arial"/>
            </a:endParaRPr>
          </a:p>
          <a:p>
            <a:pPr indent="0" lvl="0" marL="12700" marR="322580" rtl="0" algn="l">
              <a:lnSpc>
                <a:spcPct val="120000"/>
              </a:lnSpc>
              <a:spcBef>
                <a:spcPts val="95"/>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The underline- defines - whether a modeling element is a class or an object</a:t>
            </a:r>
            <a:endParaRPr b="0" i="0" sz="2500" u="none" cap="none" strike="noStrike">
              <a:solidFill>
                <a:schemeClr val="dk1"/>
              </a:solidFill>
              <a:latin typeface="Helvetica Neue"/>
              <a:ea typeface="Helvetica Neue"/>
              <a:cs typeface="Helvetica Neue"/>
              <a:sym typeface="Helvetica Neue"/>
            </a:endParaRPr>
          </a:p>
        </p:txBody>
      </p:sp>
      <p:sp>
        <p:nvSpPr>
          <p:cNvPr id="166" name="Google Shape;166;p11"/>
          <p:cNvSpPr txBox="1"/>
          <p:nvPr/>
        </p:nvSpPr>
        <p:spPr>
          <a:xfrm>
            <a:off x="701179" y="2924902"/>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167" name="Google Shape;167;p11"/>
          <p:cNvSpPr txBox="1"/>
          <p:nvPr/>
        </p:nvSpPr>
        <p:spPr>
          <a:xfrm>
            <a:off x="701179" y="4066454"/>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168" name="Google Shape;168;p11"/>
          <p:cNvSpPr txBox="1"/>
          <p:nvPr/>
        </p:nvSpPr>
        <p:spPr>
          <a:xfrm>
            <a:off x="1023717" y="4084450"/>
            <a:ext cx="1762500" cy="397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Object</a:t>
            </a:r>
            <a:endParaRPr b="0" i="0" sz="2500" u="none" cap="none" strike="noStrike">
              <a:solidFill>
                <a:schemeClr val="dk1"/>
              </a:solidFill>
              <a:latin typeface="Helvetica Neue"/>
              <a:ea typeface="Helvetica Neue"/>
              <a:cs typeface="Helvetica Neue"/>
              <a:sym typeface="Helvetica Neue"/>
            </a:endParaRPr>
          </a:p>
        </p:txBody>
      </p:sp>
      <p:pic>
        <p:nvPicPr>
          <p:cNvPr id="169" name="Google Shape;169;p11"/>
          <p:cNvPicPr preferRelativeResize="0"/>
          <p:nvPr/>
        </p:nvPicPr>
        <p:blipFill rotWithShape="1">
          <a:blip r:embed="rId3">
            <a:alphaModFix/>
          </a:blip>
          <a:srcRect b="0" l="0" r="0" t="0"/>
          <a:stretch/>
        </p:blipFill>
        <p:spPr>
          <a:xfrm>
            <a:off x="2971601" y="4066438"/>
            <a:ext cx="3854882" cy="28072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557150" y="222100"/>
            <a:ext cx="7425600" cy="12441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000"/>
              <a:buFont typeface="Arial"/>
              <a:buNone/>
            </a:pPr>
            <a:r>
              <a:rPr i="0" lang="en-US" sz="4000">
                <a:latin typeface="Arial"/>
                <a:ea typeface="Arial"/>
                <a:cs typeface="Arial"/>
                <a:sym typeface="Arial"/>
              </a:rPr>
              <a:t>The object identifier can consist of any of the following:</a:t>
            </a:r>
            <a:endParaRPr/>
          </a:p>
        </p:txBody>
      </p:sp>
      <p:sp>
        <p:nvSpPr>
          <p:cNvPr id="175" name="Google Shape;175;p12"/>
          <p:cNvSpPr txBox="1"/>
          <p:nvPr/>
        </p:nvSpPr>
        <p:spPr>
          <a:xfrm>
            <a:off x="557146" y="2105025"/>
            <a:ext cx="8792845" cy="4378960"/>
          </a:xfrm>
          <a:prstGeom prst="rect">
            <a:avLst/>
          </a:prstGeom>
          <a:noFill/>
          <a:ln>
            <a:noFill/>
          </a:ln>
        </p:spPr>
        <p:txBody>
          <a:bodyPr anchorCtr="0" anchor="t" bIns="0" lIns="0" spcFirstLastPara="1" rIns="0" wrap="square" tIns="12700">
            <a:spAutoFit/>
          </a:bodyPr>
          <a:lstStyle/>
          <a:p>
            <a:pPr indent="-455929" lvl="0" marL="467994" marR="517525" rtl="0" algn="l">
              <a:lnSpc>
                <a:spcPct val="100000"/>
              </a:lnSpc>
              <a:spcBef>
                <a:spcPts val="0"/>
              </a:spcBef>
              <a:spcAft>
                <a:spcPts val="0"/>
              </a:spcAft>
              <a:buClr>
                <a:schemeClr val="dk1"/>
              </a:buClr>
              <a:buSzPts val="2200"/>
              <a:buFont typeface="Arial"/>
              <a:buAutoNum type="arabicPeriod"/>
            </a:pPr>
            <a:r>
              <a:rPr b="1" i="0" lang="en-US" sz="2200" u="none" cap="none" strike="noStrike">
                <a:solidFill>
                  <a:schemeClr val="dk1"/>
                </a:solidFill>
                <a:latin typeface="Arial"/>
                <a:ea typeface="Arial"/>
                <a:cs typeface="Arial"/>
                <a:sym typeface="Arial"/>
              </a:rPr>
              <a:t>The class name alone </a:t>
            </a:r>
            <a:r>
              <a:rPr b="0" i="0" lang="en-US" sz="2200" u="none" cap="none" strike="noStrike">
                <a:solidFill>
                  <a:schemeClr val="dk1"/>
                </a:solidFill>
                <a:latin typeface="Helvetica Neue"/>
                <a:ea typeface="Helvetica Neue"/>
                <a:cs typeface="Helvetica Neue"/>
                <a:sym typeface="Helvetica Neue"/>
              </a:rPr>
              <a:t>– e.g. </a:t>
            </a:r>
            <a:r>
              <a:rPr b="1" i="0" lang="en-US" sz="2200" u="none" cap="none" strike="noStrike">
                <a:solidFill>
                  <a:schemeClr val="dk1"/>
                </a:solidFill>
                <a:latin typeface="Arial"/>
                <a:ea typeface="Arial"/>
                <a:cs typeface="Arial"/>
                <a:sym typeface="Arial"/>
              </a:rPr>
              <a:t>:Account. </a:t>
            </a:r>
            <a:r>
              <a:rPr b="0" i="0" lang="en-US" sz="2200" u="none" cap="none" strike="noStrike">
                <a:solidFill>
                  <a:schemeClr val="dk1"/>
                </a:solidFill>
                <a:latin typeface="Helvetica Neue"/>
                <a:ea typeface="Helvetica Neue"/>
                <a:cs typeface="Helvetica Neue"/>
                <a:sym typeface="Helvetica Neue"/>
              </a:rPr>
              <a:t>This signifies that you have an anonymous object, or instance of that class</a:t>
            </a:r>
            <a:endParaRPr b="0" i="0" sz="2200" u="none" cap="none" strike="noStrike">
              <a:solidFill>
                <a:schemeClr val="dk1"/>
              </a:solidFill>
              <a:latin typeface="Helvetica Neue"/>
              <a:ea typeface="Helvetica Neue"/>
              <a:cs typeface="Helvetica Neue"/>
              <a:sym typeface="Helvetica Neue"/>
            </a:endParaRPr>
          </a:p>
          <a:p>
            <a:pPr indent="0" lvl="0" marL="467994" marR="5080" rtl="0" algn="l">
              <a:lnSpc>
                <a:spcPct val="119545"/>
              </a:lnSpc>
              <a:spcBef>
                <a:spcPts val="9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Anonymous objects are often used when there is only one object of a particular class on a given diagram</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70"/>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455929" lvl="0" marL="467994" marR="204470" rtl="0" algn="l">
              <a:lnSpc>
                <a:spcPct val="99800"/>
              </a:lnSpc>
              <a:spcBef>
                <a:spcPts val="5"/>
              </a:spcBef>
              <a:spcAft>
                <a:spcPts val="0"/>
              </a:spcAft>
              <a:buClr>
                <a:schemeClr val="dk1"/>
              </a:buClr>
              <a:buSzPts val="2200"/>
              <a:buFont typeface="Arial"/>
              <a:buAutoNum type="arabicPeriod" startAt="2"/>
            </a:pPr>
            <a:r>
              <a:rPr b="1" i="0" lang="en-US" sz="2200" u="none" cap="none" strike="noStrike">
                <a:solidFill>
                  <a:schemeClr val="dk1"/>
                </a:solidFill>
                <a:latin typeface="Arial"/>
                <a:ea typeface="Arial"/>
                <a:cs typeface="Arial"/>
                <a:sym typeface="Arial"/>
              </a:rPr>
              <a:t>The object name alone </a:t>
            </a:r>
            <a:r>
              <a:rPr b="0" i="0" lang="en-US" sz="2200" u="none" cap="none" strike="noStrike">
                <a:solidFill>
                  <a:schemeClr val="dk1"/>
                </a:solidFill>
                <a:latin typeface="Helvetica Neue"/>
                <a:ea typeface="Helvetica Neue"/>
                <a:cs typeface="Helvetica Neue"/>
                <a:sym typeface="Helvetica Neue"/>
              </a:rPr>
              <a:t>– e.g. </a:t>
            </a:r>
            <a:r>
              <a:rPr b="1" i="0" lang="en-US" sz="2200" u="none" cap="none" strike="noStrike">
                <a:solidFill>
                  <a:schemeClr val="dk1"/>
                </a:solidFill>
                <a:latin typeface="Arial"/>
                <a:ea typeface="Arial"/>
                <a:cs typeface="Arial"/>
                <a:sym typeface="Arial"/>
              </a:rPr>
              <a:t>jimsAccount</a:t>
            </a:r>
            <a:r>
              <a:rPr b="0" i="0" lang="en-US" sz="2200" u="none" cap="none" strike="noStrike">
                <a:solidFill>
                  <a:schemeClr val="dk1"/>
                </a:solidFill>
                <a:latin typeface="Helvetica Neue"/>
                <a:ea typeface="Helvetica Neue"/>
                <a:cs typeface="Helvetica Neue"/>
                <a:sym typeface="Helvetica Neue"/>
              </a:rPr>
              <a:t>. This identifies a specific object but doesn’t identify which class it belongs to. This notation can be useful in very early analysis when you haven’t yet discovered all the classes</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45"/>
              </a:spcBef>
              <a:spcAft>
                <a:spcPts val="0"/>
              </a:spcAft>
              <a:buClr>
                <a:schemeClr val="dk1"/>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387985" lvl="0" marL="400050" marR="183515" rtl="0" algn="l">
              <a:lnSpc>
                <a:spcPct val="100000"/>
              </a:lnSpc>
              <a:spcBef>
                <a:spcPts val="0"/>
              </a:spcBef>
              <a:spcAft>
                <a:spcPts val="0"/>
              </a:spcAft>
              <a:buClr>
                <a:schemeClr val="dk1"/>
              </a:buClr>
              <a:buSzPts val="2200"/>
              <a:buFont typeface="Arial"/>
              <a:buAutoNum type="arabicPeriod" startAt="2"/>
            </a:pPr>
            <a:r>
              <a:rPr b="1" i="0" lang="en-US" sz="2200" u="none" cap="none" strike="noStrike">
                <a:solidFill>
                  <a:schemeClr val="dk1"/>
                </a:solidFill>
                <a:latin typeface="Arial"/>
                <a:ea typeface="Arial"/>
                <a:cs typeface="Arial"/>
                <a:sym typeface="Arial"/>
              </a:rPr>
              <a:t>The object name concatenated with the class name</a:t>
            </a:r>
            <a:r>
              <a:rPr b="0" i="0" lang="en-US" sz="2200" u="none" cap="none" strike="noStrike">
                <a:solidFill>
                  <a:schemeClr val="dk1"/>
                </a:solidFill>
                <a:latin typeface="Helvetica Neue"/>
                <a:ea typeface="Helvetica Neue"/>
                <a:cs typeface="Helvetica Neue"/>
                <a:sym typeface="Helvetica Neue"/>
              </a:rPr>
              <a:t>, separated 	from each other by a colon. You may read the colon as, “is an 	instance of class”</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nvSpPr>
        <p:spPr>
          <a:xfrm>
            <a:off x="701179" y="1699466"/>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81" name="Google Shape;181;p13"/>
          <p:cNvSpPr txBox="1"/>
          <p:nvPr/>
        </p:nvSpPr>
        <p:spPr>
          <a:xfrm>
            <a:off x="701179" y="709818"/>
            <a:ext cx="8646900" cy="2764200"/>
          </a:xfrm>
          <a:prstGeom prst="rect">
            <a:avLst/>
          </a:prstGeom>
          <a:noFill/>
          <a:ln>
            <a:noFill/>
          </a:ln>
        </p:spPr>
        <p:txBody>
          <a:bodyPr anchorCtr="0" anchor="t" bIns="0" lIns="0" spcFirstLastPara="1" rIns="0" wrap="square" tIns="12700">
            <a:spAutoFit/>
          </a:bodyPr>
          <a:lstStyle/>
          <a:p>
            <a:pPr indent="-209550" lvl="0" marL="136525" marR="58419" rtl="0" algn="l">
              <a:lnSpc>
                <a:spcPct val="100000"/>
              </a:lnSpc>
              <a:spcBef>
                <a:spcPts val="0"/>
              </a:spcBef>
              <a:spcAft>
                <a:spcPts val="0"/>
              </a:spcAft>
              <a:buClr>
                <a:schemeClr val="dk1"/>
              </a:buClr>
              <a:buSzPts val="3300"/>
              <a:buFont typeface="Helvetica Neue"/>
              <a:buChar char="•"/>
            </a:pPr>
            <a:r>
              <a:rPr b="0" baseline="30000" i="0" lang="en-US" sz="3300" u="none" cap="none" strike="noStrike">
                <a:solidFill>
                  <a:schemeClr val="dk1"/>
                </a:solidFill>
                <a:latin typeface="Helvetica Neue"/>
                <a:ea typeface="Helvetica Neue"/>
                <a:cs typeface="Helvetica Neue"/>
                <a:sym typeface="Helvetica Neue"/>
              </a:rPr>
              <a:t>	</a:t>
            </a:r>
            <a:r>
              <a:rPr b="1" i="0" lang="en-US" sz="2200" u="none" cap="none" strike="noStrike">
                <a:solidFill>
                  <a:schemeClr val="dk1"/>
                </a:solidFill>
                <a:latin typeface="Arial"/>
                <a:ea typeface="Arial"/>
                <a:cs typeface="Arial"/>
                <a:sym typeface="Arial"/>
              </a:rPr>
              <a:t>Objects </a:t>
            </a:r>
            <a:r>
              <a:rPr b="0" i="0" lang="en-US" sz="2200" u="none" cap="none" strike="noStrike">
                <a:solidFill>
                  <a:schemeClr val="dk1"/>
                </a:solidFill>
                <a:latin typeface="Helvetica Neue"/>
                <a:ea typeface="Helvetica Neue"/>
                <a:cs typeface="Helvetica Neue"/>
                <a:sym typeface="Helvetica Neue"/>
              </a:rPr>
              <a:t>are usually named in mixed upper and lowercase, starting with a lowercase letter. Special characters, such as spaces and underscores, are avoided. This is known as </a:t>
            </a:r>
            <a:r>
              <a:rPr b="1" i="0" lang="en-US" sz="2200" u="none" cap="none" strike="noStrike">
                <a:solidFill>
                  <a:schemeClr val="dk1"/>
                </a:solidFill>
                <a:latin typeface="Arial"/>
                <a:ea typeface="Arial"/>
                <a:cs typeface="Arial"/>
                <a:sym typeface="Arial"/>
              </a:rPr>
              <a:t>lowerCamelCase</a:t>
            </a:r>
            <a:endParaRPr b="0" i="0" sz="2200" u="none" cap="none" strike="noStrike">
              <a:solidFill>
                <a:schemeClr val="dk1"/>
              </a:solidFill>
              <a:latin typeface="Arial"/>
              <a:ea typeface="Arial"/>
              <a:cs typeface="Arial"/>
              <a:sym typeface="Arial"/>
            </a:endParaRPr>
          </a:p>
          <a:p>
            <a:pPr indent="0" lvl="0" marL="334645" marR="177800" rtl="0" algn="l">
              <a:lnSpc>
                <a:spcPct val="120000"/>
              </a:lnSpc>
              <a:spcBef>
                <a:spcPts val="65"/>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Attributes </a:t>
            </a:r>
            <a:r>
              <a:rPr b="0" i="0" lang="en-US" sz="2200" u="none" cap="none" strike="noStrike">
                <a:solidFill>
                  <a:schemeClr val="dk1"/>
                </a:solidFill>
                <a:latin typeface="Helvetica Neue"/>
                <a:ea typeface="Helvetica Neue"/>
                <a:cs typeface="Helvetica Neue"/>
                <a:sym typeface="Helvetica Neue"/>
              </a:rPr>
              <a:t>may be optionally shown in the lower compartment of the object icon. Those attributes that you choose to show </a:t>
            </a:r>
            <a:r>
              <a:rPr b="0" i="1" lang="en-US" sz="2200" u="none" cap="none" strike="noStrike">
                <a:solidFill>
                  <a:schemeClr val="dk1"/>
                </a:solidFill>
                <a:latin typeface="Arial"/>
                <a:ea typeface="Arial"/>
                <a:cs typeface="Arial"/>
                <a:sym typeface="Arial"/>
              </a:rPr>
              <a:t>must be</a:t>
            </a:r>
            <a:r>
              <a:rPr b="0" i="0" lang="en-US" sz="2200" u="none" cap="none" strike="noStrike">
                <a:solidFill>
                  <a:schemeClr val="dk1"/>
                </a:solidFill>
                <a:latin typeface="Arial"/>
                <a:ea typeface="Arial"/>
                <a:cs typeface="Arial"/>
                <a:sym typeface="Arial"/>
              </a:rPr>
              <a:t> </a:t>
            </a:r>
            <a:r>
              <a:rPr b="0" i="1" lang="en-US" sz="2200" u="none" cap="none" strike="noStrike">
                <a:solidFill>
                  <a:schemeClr val="dk1"/>
                </a:solidFill>
                <a:latin typeface="Arial"/>
                <a:ea typeface="Arial"/>
                <a:cs typeface="Arial"/>
                <a:sym typeface="Arial"/>
              </a:rPr>
              <a:t>named, and </a:t>
            </a:r>
            <a:r>
              <a:rPr b="0" i="0" lang="en-US" sz="2200" u="none" cap="none" strike="noStrike">
                <a:solidFill>
                  <a:schemeClr val="dk1"/>
                </a:solidFill>
                <a:latin typeface="Helvetica Neue"/>
                <a:ea typeface="Helvetica Neue"/>
                <a:cs typeface="Helvetica Neue"/>
                <a:sym typeface="Helvetica Neue"/>
              </a:rPr>
              <a:t>may have an optional type and value. Attributes are also named in </a:t>
            </a:r>
            <a:r>
              <a:rPr b="1" i="0" lang="en-US" sz="2200" u="none" cap="none" strike="noStrike">
                <a:solidFill>
                  <a:schemeClr val="dk1"/>
                </a:solidFill>
                <a:latin typeface="Arial"/>
                <a:ea typeface="Arial"/>
                <a:cs typeface="Arial"/>
                <a:sym typeface="Arial"/>
              </a:rPr>
              <a:t>CamelCase </a:t>
            </a:r>
            <a:r>
              <a:rPr b="0" i="0" lang="en-US" sz="2200" u="none" cap="none" strike="noStrike">
                <a:solidFill>
                  <a:schemeClr val="dk1"/>
                </a:solidFill>
                <a:latin typeface="Helvetica Neue"/>
                <a:ea typeface="Helvetica Neue"/>
                <a:cs typeface="Helvetica Neue"/>
                <a:sym typeface="Helvetica Neue"/>
              </a:rPr>
              <a:t>starting with a lowercase letter.</a:t>
            </a:r>
            <a:endParaRPr b="0" i="0" sz="2200" u="none" cap="none" strike="noStrike">
              <a:solidFill>
                <a:schemeClr val="dk1"/>
              </a:solidFill>
              <a:latin typeface="Helvetica Neue"/>
              <a:ea typeface="Helvetica Neue"/>
              <a:cs typeface="Helvetica Neue"/>
              <a:sym typeface="Helvetica Neue"/>
            </a:endParaRPr>
          </a:p>
        </p:txBody>
      </p:sp>
      <p:sp>
        <p:nvSpPr>
          <p:cNvPr id="182" name="Google Shape;182;p13"/>
          <p:cNvSpPr txBox="1"/>
          <p:nvPr/>
        </p:nvSpPr>
        <p:spPr>
          <a:xfrm>
            <a:off x="591743" y="3388578"/>
            <a:ext cx="373507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Object attribute values</a:t>
            </a:r>
            <a:endParaRPr b="0" i="0" sz="2200" u="none" cap="none" strike="noStrike">
              <a:solidFill>
                <a:schemeClr val="dk1"/>
              </a:solidFill>
              <a:latin typeface="Arial"/>
              <a:ea typeface="Arial"/>
              <a:cs typeface="Arial"/>
              <a:sym typeface="Arial"/>
            </a:endParaRPr>
          </a:p>
        </p:txBody>
      </p:sp>
      <p:sp>
        <p:nvSpPr>
          <p:cNvPr id="183" name="Google Shape;183;p13"/>
          <p:cNvSpPr txBox="1"/>
          <p:nvPr/>
        </p:nvSpPr>
        <p:spPr>
          <a:xfrm>
            <a:off x="701179" y="4377858"/>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84" name="Google Shape;184;p13"/>
          <p:cNvSpPr txBox="1"/>
          <p:nvPr/>
        </p:nvSpPr>
        <p:spPr>
          <a:xfrm>
            <a:off x="701179" y="5047097"/>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185" name="Google Shape;185;p13"/>
          <p:cNvSpPr txBox="1"/>
          <p:nvPr/>
        </p:nvSpPr>
        <p:spPr>
          <a:xfrm>
            <a:off x="701179" y="3722296"/>
            <a:ext cx="8411700" cy="3135900"/>
          </a:xfrm>
          <a:prstGeom prst="rect">
            <a:avLst/>
          </a:prstGeom>
          <a:noFill/>
          <a:ln>
            <a:noFill/>
          </a:ln>
        </p:spPr>
        <p:txBody>
          <a:bodyPr anchorCtr="0" anchor="t" bIns="0" lIns="0" spcFirstLastPara="1" rIns="0" wrap="square" tIns="12700">
            <a:spAutoFit/>
          </a:bodyPr>
          <a:lstStyle/>
          <a:p>
            <a:pPr indent="-321945" lvl="0" marL="334645" marR="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 Each object attribute value has the following form:</a:t>
            </a:r>
            <a:endParaRPr b="0" i="0" sz="2200" u="none" cap="none" strike="noStrike">
              <a:solidFill>
                <a:schemeClr val="dk1"/>
              </a:solidFill>
              <a:latin typeface="Helvetica Neue"/>
              <a:ea typeface="Helvetica Neue"/>
              <a:cs typeface="Helvetica Neue"/>
              <a:sym typeface="Helvetica Neue"/>
            </a:endParaRPr>
          </a:p>
          <a:p>
            <a:pPr indent="0" lvl="0" marL="803275" marR="0" rtl="0" algn="l">
              <a:lnSpc>
                <a:spcPct val="119772"/>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name : type = value</a:t>
            </a:r>
            <a:endParaRPr b="0" i="0" sz="2200" u="none" cap="none" strike="noStrike">
              <a:solidFill>
                <a:schemeClr val="dk1"/>
              </a:solidFill>
              <a:latin typeface="Arial"/>
              <a:ea typeface="Arial"/>
              <a:cs typeface="Arial"/>
              <a:sym typeface="Arial"/>
            </a:endParaRPr>
          </a:p>
          <a:p>
            <a:pPr indent="0" lvl="0" marL="334645" marR="716915" rtl="0" algn="l">
              <a:lnSpc>
                <a:spcPct val="120000"/>
              </a:lnSpc>
              <a:spcBef>
                <a:spcPts val="8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 You may choose to show all, some, or none of the object attribute values, depending on the purpose of the diagram</a:t>
            </a:r>
            <a:endParaRPr b="0" i="0" sz="2200" u="none" cap="none" strike="noStrike">
              <a:solidFill>
                <a:schemeClr val="dk1"/>
              </a:solidFill>
              <a:latin typeface="Helvetica Neue"/>
              <a:ea typeface="Helvetica Neue"/>
              <a:cs typeface="Helvetica Neue"/>
              <a:sym typeface="Helvetica Neue"/>
            </a:endParaRPr>
          </a:p>
          <a:p>
            <a:pPr indent="0" lvl="0" marL="334645" marR="5080" rtl="0" algn="l">
              <a:lnSpc>
                <a:spcPct val="119545"/>
              </a:lnSpc>
              <a:spcBef>
                <a:spcPts val="1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 To keep object diagrams simple and clear, you may choose to omit attribute types as they are already defined in the class of the object</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4"/>
          <p:cNvPicPr preferRelativeResize="0"/>
          <p:nvPr/>
        </p:nvPicPr>
        <p:blipFill rotWithShape="1">
          <a:blip r:embed="rId3">
            <a:alphaModFix/>
          </a:blip>
          <a:srcRect b="0" l="0" r="0" t="0"/>
          <a:stretch/>
        </p:blipFill>
        <p:spPr>
          <a:xfrm>
            <a:off x="468363" y="2179437"/>
            <a:ext cx="2637002" cy="2675166"/>
          </a:xfrm>
          <a:prstGeom prst="rect">
            <a:avLst/>
          </a:prstGeom>
          <a:noFill/>
          <a:ln>
            <a:noFill/>
          </a:ln>
        </p:spPr>
      </p:pic>
      <p:pic>
        <p:nvPicPr>
          <p:cNvPr id="191" name="Google Shape;191;p14"/>
          <p:cNvPicPr preferRelativeResize="0"/>
          <p:nvPr/>
        </p:nvPicPr>
        <p:blipFill rotWithShape="1">
          <a:blip r:embed="rId4">
            <a:alphaModFix/>
          </a:blip>
          <a:srcRect b="0" l="0" r="0" t="0"/>
          <a:stretch/>
        </p:blipFill>
        <p:spPr>
          <a:xfrm>
            <a:off x="5649836" y="960123"/>
            <a:ext cx="2897276" cy="2741764"/>
          </a:xfrm>
          <a:prstGeom prst="rect">
            <a:avLst/>
          </a:prstGeom>
          <a:noFill/>
          <a:ln>
            <a:noFill/>
          </a:ln>
        </p:spPr>
      </p:pic>
      <p:pic>
        <p:nvPicPr>
          <p:cNvPr id="192" name="Google Shape;192;p14"/>
          <p:cNvPicPr preferRelativeResize="0"/>
          <p:nvPr/>
        </p:nvPicPr>
        <p:blipFill rotWithShape="1">
          <a:blip r:embed="rId5">
            <a:alphaModFix/>
          </a:blip>
          <a:srcRect b="0" l="0" r="0" t="0"/>
          <a:stretch/>
        </p:blipFill>
        <p:spPr>
          <a:xfrm>
            <a:off x="5726163" y="4084196"/>
            <a:ext cx="2805480" cy="27417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436231" y="203670"/>
            <a:ext cx="8854500" cy="763500"/>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400"/>
              <a:buFont typeface="Arial"/>
              <a:buNone/>
            </a:pPr>
            <a:r>
              <a:rPr i="0" lang="en-US" sz="4400">
                <a:latin typeface="Arial"/>
                <a:ea typeface="Arial"/>
                <a:cs typeface="Arial"/>
                <a:sym typeface="Arial"/>
              </a:rPr>
              <a:t>What are classes?</a:t>
            </a:r>
            <a:endParaRPr sz="4400">
              <a:latin typeface="Arial"/>
              <a:ea typeface="Arial"/>
              <a:cs typeface="Arial"/>
              <a:sym typeface="Arial"/>
            </a:endParaRPr>
          </a:p>
        </p:txBody>
      </p:sp>
      <p:sp>
        <p:nvSpPr>
          <p:cNvPr id="198" name="Google Shape;198;p15"/>
          <p:cNvSpPr txBox="1"/>
          <p:nvPr/>
        </p:nvSpPr>
        <p:spPr>
          <a:xfrm>
            <a:off x="701179" y="1782981"/>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199" name="Google Shape;199;p15"/>
          <p:cNvSpPr txBox="1"/>
          <p:nvPr/>
        </p:nvSpPr>
        <p:spPr>
          <a:xfrm>
            <a:off x="1023722" y="1800949"/>
            <a:ext cx="9060000" cy="397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 class describes the features of a set of objects</a:t>
            </a:r>
            <a:endParaRPr b="0" i="0" sz="2500" u="none" cap="none" strike="noStrike">
              <a:solidFill>
                <a:schemeClr val="dk1"/>
              </a:solidFill>
              <a:latin typeface="Helvetica Neue"/>
              <a:ea typeface="Helvetica Neue"/>
              <a:cs typeface="Helvetica Neue"/>
              <a:sym typeface="Helvetica Neue"/>
            </a:endParaRPr>
          </a:p>
        </p:txBody>
      </p:sp>
      <p:sp>
        <p:nvSpPr>
          <p:cNvPr id="200" name="Google Shape;200;p15"/>
          <p:cNvSpPr txBox="1"/>
          <p:nvPr/>
        </p:nvSpPr>
        <p:spPr>
          <a:xfrm>
            <a:off x="701179" y="2543660"/>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01" name="Google Shape;201;p15"/>
          <p:cNvSpPr txBox="1"/>
          <p:nvPr/>
        </p:nvSpPr>
        <p:spPr>
          <a:xfrm>
            <a:off x="1023734" y="2562736"/>
            <a:ext cx="8190230" cy="116713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 class defined as, “The descriptor for a set of objects that share the same attributes, operations, methods, relationships, and behavior”</a:t>
            </a:r>
            <a:endParaRPr b="0" i="0" sz="2500" u="none" cap="none" strike="noStrike">
              <a:solidFill>
                <a:schemeClr val="dk1"/>
              </a:solidFill>
              <a:latin typeface="Helvetica Neue"/>
              <a:ea typeface="Helvetica Neue"/>
              <a:cs typeface="Helvetica Neue"/>
              <a:sym typeface="Helvetica Neue"/>
            </a:endParaRPr>
          </a:p>
        </p:txBody>
      </p:sp>
      <p:sp>
        <p:nvSpPr>
          <p:cNvPr id="202" name="Google Shape;202;p15"/>
          <p:cNvSpPr txBox="1"/>
          <p:nvPr/>
        </p:nvSpPr>
        <p:spPr>
          <a:xfrm>
            <a:off x="701179" y="4066454"/>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03" name="Google Shape;203;p15"/>
          <p:cNvSpPr txBox="1"/>
          <p:nvPr/>
        </p:nvSpPr>
        <p:spPr>
          <a:xfrm>
            <a:off x="1023722" y="4094000"/>
            <a:ext cx="8949600" cy="397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Every object is an instance of exactly one class</a:t>
            </a:r>
            <a:endParaRPr b="0" i="0" sz="2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6"/>
          <p:cNvSpPr txBox="1"/>
          <p:nvPr>
            <p:ph type="title"/>
          </p:nvPr>
        </p:nvSpPr>
        <p:spPr>
          <a:xfrm>
            <a:off x="614666" y="307293"/>
            <a:ext cx="8854468" cy="811709"/>
          </a:xfrm>
          <a:prstGeom prst="rect">
            <a:avLst/>
          </a:prstGeom>
          <a:noFill/>
          <a:ln>
            <a:noFill/>
          </a:ln>
        </p:spPr>
        <p:txBody>
          <a:bodyPr anchorCtr="0" anchor="ctr" bIns="0" lIns="0" spcFirstLastPara="1" rIns="0" wrap="square" tIns="133275">
            <a:spAutoFit/>
          </a:bodyPr>
          <a:lstStyle/>
          <a:p>
            <a:pPr indent="0" lvl="0" marL="12700" rtl="0" algn="ctr">
              <a:lnSpc>
                <a:spcPct val="100000"/>
              </a:lnSpc>
              <a:spcBef>
                <a:spcPts val="0"/>
              </a:spcBef>
              <a:spcAft>
                <a:spcPts val="0"/>
              </a:spcAft>
              <a:buClr>
                <a:schemeClr val="dk1"/>
              </a:buClr>
              <a:buSzPts val="4400"/>
              <a:buFont typeface="Arial"/>
              <a:buNone/>
            </a:pPr>
            <a:r>
              <a:rPr i="0" lang="en-US" sz="4400">
                <a:latin typeface="Arial"/>
                <a:ea typeface="Arial"/>
                <a:cs typeface="Arial"/>
                <a:sym typeface="Arial"/>
              </a:rPr>
              <a:t> Classes and objects</a:t>
            </a:r>
            <a:endParaRPr sz="4400">
              <a:latin typeface="Arial"/>
              <a:ea typeface="Arial"/>
              <a:cs typeface="Arial"/>
              <a:sym typeface="Arial"/>
            </a:endParaRPr>
          </a:p>
        </p:txBody>
      </p:sp>
      <p:sp>
        <p:nvSpPr>
          <p:cNvPr id="209" name="Google Shape;209;p16"/>
          <p:cNvSpPr txBox="1"/>
          <p:nvPr/>
        </p:nvSpPr>
        <p:spPr>
          <a:xfrm>
            <a:off x="701179" y="2242696"/>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10" name="Google Shape;210;p16"/>
          <p:cNvSpPr txBox="1"/>
          <p:nvPr/>
        </p:nvSpPr>
        <p:spPr>
          <a:xfrm>
            <a:off x="701179" y="3385696"/>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11" name="Google Shape;211;p16"/>
          <p:cNvSpPr txBox="1"/>
          <p:nvPr/>
        </p:nvSpPr>
        <p:spPr>
          <a:xfrm>
            <a:off x="701179" y="4527616"/>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12" name="Google Shape;212;p16"/>
          <p:cNvSpPr txBox="1"/>
          <p:nvPr/>
        </p:nvSpPr>
        <p:spPr>
          <a:xfrm>
            <a:off x="701179" y="1498577"/>
            <a:ext cx="8780780" cy="4977130"/>
          </a:xfrm>
          <a:prstGeom prst="rect">
            <a:avLst/>
          </a:prstGeom>
          <a:noFill/>
          <a:ln>
            <a:noFill/>
          </a:ln>
        </p:spPr>
        <p:txBody>
          <a:bodyPr anchorCtr="0" anchor="t" bIns="0" lIns="0" spcFirstLastPara="1" rIns="0" wrap="square" tIns="12700">
            <a:spAutoFit/>
          </a:bodyPr>
          <a:lstStyle/>
          <a:p>
            <a:pPr indent="-322580" lvl="0" marL="334645" marR="508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The relationship between a class and objects of that class is an </a:t>
            </a:r>
            <a:r>
              <a:rPr b="1" i="0" lang="en-US" sz="2500" u="none" cap="none" strike="noStrike">
                <a:solidFill>
                  <a:schemeClr val="dk1"/>
                </a:solidFill>
                <a:latin typeface="Arial"/>
                <a:ea typeface="Arial"/>
                <a:cs typeface="Arial"/>
                <a:sym typeface="Arial"/>
              </a:rPr>
              <a:t>«instantiate» relationship</a:t>
            </a:r>
            <a:endParaRPr b="0" i="0" sz="2500" u="none" cap="none" strike="noStrike">
              <a:solidFill>
                <a:schemeClr val="dk1"/>
              </a:solidFill>
              <a:latin typeface="Arial"/>
              <a:ea typeface="Arial"/>
              <a:cs typeface="Arial"/>
              <a:sym typeface="Arial"/>
            </a:endParaRPr>
          </a:p>
          <a:p>
            <a:pPr indent="0" lvl="0" marL="334645" marR="14478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The dotted arrow is actually a dependency relationship that has been given a special meaning by the stereotype</a:t>
            </a:r>
            <a:endParaRPr b="0" i="0" sz="2500" u="none" cap="none" strike="noStrike">
              <a:solidFill>
                <a:schemeClr val="dk1"/>
              </a:solidFill>
              <a:latin typeface="Helvetica Neue"/>
              <a:ea typeface="Helvetica Neue"/>
              <a:cs typeface="Helvetica Neue"/>
              <a:sym typeface="Helvetica Neue"/>
            </a:endParaRPr>
          </a:p>
          <a:p>
            <a:pPr indent="0" lvl="0" marL="334645" marR="0" rtl="0" algn="l">
              <a:lnSpc>
                <a:spcPct val="12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«instantiate»</a:t>
            </a:r>
            <a:endParaRPr b="0" i="0" sz="2500" u="none" cap="none" strike="noStrike">
              <a:solidFill>
                <a:schemeClr val="dk1"/>
              </a:solidFill>
              <a:latin typeface="Helvetica Neue"/>
              <a:ea typeface="Helvetica Neue"/>
              <a:cs typeface="Helvetica Neue"/>
              <a:sym typeface="Helvetica Neue"/>
            </a:endParaRPr>
          </a:p>
          <a:p>
            <a:pPr indent="0" lvl="0" marL="334645" marR="13208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Anything inside guillemots («…») is known as a stereotype, and stereotypes are one of the three UML extensibility mechanisms</a:t>
            </a:r>
            <a:endParaRPr b="0" i="0" sz="2500" u="none" cap="none" strike="noStrike">
              <a:solidFill>
                <a:schemeClr val="dk1"/>
              </a:solidFill>
              <a:latin typeface="Helvetica Neue"/>
              <a:ea typeface="Helvetica Neue"/>
              <a:cs typeface="Helvetica Neue"/>
              <a:sym typeface="Helvetica Neue"/>
            </a:endParaRPr>
          </a:p>
          <a:p>
            <a:pPr indent="0" lvl="0" marL="334645" marR="43180" rtl="0" algn="l">
              <a:lnSpc>
                <a:spcPct val="99900"/>
              </a:lnSpc>
              <a:spcBef>
                <a:spcPts val="5"/>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 stereotype is a way of customizing modeling elements – a way of creating variants with new semantics. In this case, the stereotype «instantiate» turns an ordinary dependency into an instantiation relationship between a class and objects of that class</a:t>
            </a:r>
            <a:endParaRPr b="0" i="0" sz="2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17"/>
          <p:cNvPicPr preferRelativeResize="0"/>
          <p:nvPr/>
        </p:nvPicPr>
        <p:blipFill rotWithShape="1">
          <a:blip r:embed="rId3">
            <a:alphaModFix/>
          </a:blip>
          <a:srcRect b="0" l="0" r="0" t="0"/>
          <a:stretch/>
        </p:blipFill>
        <p:spPr>
          <a:xfrm>
            <a:off x="583660" y="1191406"/>
            <a:ext cx="8916479" cy="51800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8"/>
          <p:cNvSpPr txBox="1"/>
          <p:nvPr>
            <p:ph type="title"/>
          </p:nvPr>
        </p:nvSpPr>
        <p:spPr>
          <a:xfrm>
            <a:off x="671838" y="594715"/>
            <a:ext cx="8332500" cy="690300"/>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4400"/>
              <a:buFont typeface="Arial"/>
              <a:buNone/>
            </a:pPr>
            <a:r>
              <a:rPr i="0" lang="en-US">
                <a:latin typeface="Arial"/>
                <a:ea typeface="Arial"/>
                <a:cs typeface="Arial"/>
                <a:sym typeface="Arial"/>
              </a:rPr>
              <a:t>Class instantiation</a:t>
            </a:r>
            <a:endParaRPr/>
          </a:p>
        </p:txBody>
      </p:sp>
      <p:sp>
        <p:nvSpPr>
          <p:cNvPr id="223" name="Google Shape;223;p18"/>
          <p:cNvSpPr txBox="1"/>
          <p:nvPr/>
        </p:nvSpPr>
        <p:spPr>
          <a:xfrm>
            <a:off x="701179" y="3114259"/>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224" name="Google Shape;224;p18"/>
          <p:cNvSpPr txBox="1"/>
          <p:nvPr/>
        </p:nvSpPr>
        <p:spPr>
          <a:xfrm>
            <a:off x="701179" y="4118664"/>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225" name="Google Shape;225;p18"/>
          <p:cNvSpPr txBox="1"/>
          <p:nvPr/>
        </p:nvSpPr>
        <p:spPr>
          <a:xfrm>
            <a:off x="701179" y="4787903"/>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226" name="Google Shape;226;p18"/>
          <p:cNvSpPr txBox="1"/>
          <p:nvPr/>
        </p:nvSpPr>
        <p:spPr>
          <a:xfrm>
            <a:off x="701179" y="2124624"/>
            <a:ext cx="8769900" cy="4090500"/>
          </a:xfrm>
          <a:prstGeom prst="rect">
            <a:avLst/>
          </a:prstGeom>
          <a:noFill/>
          <a:ln>
            <a:noFill/>
          </a:ln>
        </p:spPr>
        <p:txBody>
          <a:bodyPr anchorCtr="0" anchor="t" bIns="0" lIns="0" spcFirstLastPara="1" rIns="0" wrap="square" tIns="12700">
            <a:spAutoFit/>
          </a:bodyPr>
          <a:lstStyle/>
          <a:p>
            <a:pPr indent="-322580" lvl="0" marL="334645" marR="508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Instantiation is the creation of new instances of model elements. In this case we are instantiating objects from classes – we are creating </a:t>
            </a:r>
            <a:r>
              <a:rPr b="0" i="1" lang="en-US" sz="2200" u="none" cap="none" strike="noStrike">
                <a:solidFill>
                  <a:schemeClr val="dk1"/>
                </a:solidFill>
                <a:latin typeface="Arial"/>
                <a:ea typeface="Arial"/>
                <a:cs typeface="Arial"/>
                <a:sym typeface="Arial"/>
              </a:rPr>
              <a:t>new instances </a:t>
            </a:r>
            <a:r>
              <a:rPr b="0" i="0" lang="en-US" sz="2200" u="none" cap="none" strike="noStrike">
                <a:solidFill>
                  <a:schemeClr val="dk1"/>
                </a:solidFill>
                <a:latin typeface="Helvetica Neue"/>
                <a:ea typeface="Helvetica Neue"/>
                <a:cs typeface="Helvetica Neue"/>
                <a:sym typeface="Helvetica Neue"/>
              </a:rPr>
              <a:t>of classes</a:t>
            </a:r>
            <a:endParaRPr b="0" i="0" sz="2200" u="none" cap="none" strike="noStrike">
              <a:solidFill>
                <a:schemeClr val="dk1"/>
              </a:solidFill>
              <a:latin typeface="Helvetica Neue"/>
              <a:ea typeface="Helvetica Neue"/>
              <a:cs typeface="Helvetica Neue"/>
              <a:sym typeface="Helvetica Neue"/>
            </a:endParaRPr>
          </a:p>
          <a:p>
            <a:pPr indent="0" lvl="0" marL="334645" marR="229234" rtl="0" algn="l">
              <a:lnSpc>
                <a:spcPct val="119545"/>
              </a:lnSpc>
              <a:spcBef>
                <a:spcPts val="85"/>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In most OO programming languages, there are special operations, called constructors, which really belong to the class itself rather than the objects of that class</a:t>
            </a:r>
            <a:endParaRPr b="0" i="0" sz="2200" u="none" cap="none" strike="noStrike">
              <a:solidFill>
                <a:schemeClr val="dk1"/>
              </a:solidFill>
              <a:latin typeface="Helvetica Neue"/>
              <a:ea typeface="Helvetica Neue"/>
              <a:cs typeface="Helvetica Neue"/>
              <a:sym typeface="Helvetica Neue"/>
            </a:endParaRPr>
          </a:p>
          <a:p>
            <a:pPr indent="0" lvl="0" marL="334645" marR="98425"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The purpose of constructor operations is to create new instances of the class</a:t>
            </a:r>
            <a:endParaRPr b="0" i="0" sz="2200" u="none" cap="none" strike="noStrike">
              <a:solidFill>
                <a:schemeClr val="dk1"/>
              </a:solidFill>
              <a:latin typeface="Helvetica Neue"/>
              <a:ea typeface="Helvetica Neue"/>
              <a:cs typeface="Helvetica Neue"/>
              <a:sym typeface="Helvetica Neue"/>
            </a:endParaRPr>
          </a:p>
          <a:p>
            <a:pPr indent="0" lvl="0" marL="334645" marR="273685" rtl="0" algn="l">
              <a:lnSpc>
                <a:spcPct val="119545"/>
              </a:lnSpc>
              <a:spcBef>
                <a:spcPts val="85"/>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The constructor allocates memory for the new object, gives it a unique identity, and sets the initial attribute values for the object. It also sets any links to other objects</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type="title"/>
          </p:nvPr>
        </p:nvSpPr>
        <p:spPr>
          <a:xfrm>
            <a:off x="465572" y="290617"/>
            <a:ext cx="8854500" cy="763500"/>
          </a:xfrm>
          <a:prstGeom prst="rect">
            <a:avLst/>
          </a:prstGeom>
          <a:noFill/>
          <a:ln>
            <a:noFill/>
          </a:ln>
        </p:spPr>
        <p:txBody>
          <a:bodyPr anchorCtr="0" anchor="ctr" bIns="0" lIns="0" spcFirstLastPara="1" rIns="0" wrap="square" tIns="85400">
            <a:spAutoFit/>
          </a:bodyPr>
          <a:lstStyle/>
          <a:p>
            <a:pPr indent="0" lvl="0" marL="127000" rtl="0" algn="ctr">
              <a:lnSpc>
                <a:spcPct val="100000"/>
              </a:lnSpc>
              <a:spcBef>
                <a:spcPts val="0"/>
              </a:spcBef>
              <a:spcAft>
                <a:spcPts val="0"/>
              </a:spcAft>
              <a:buClr>
                <a:schemeClr val="dk1"/>
              </a:buClr>
              <a:buSzPts val="4400"/>
              <a:buFont typeface="Arial"/>
              <a:buNone/>
            </a:pPr>
            <a:r>
              <a:rPr i="0" lang="en-US" sz="4400">
                <a:latin typeface="Arial"/>
                <a:ea typeface="Arial"/>
                <a:cs typeface="Arial"/>
                <a:sym typeface="Arial"/>
              </a:rPr>
              <a:t>UML class notation</a:t>
            </a:r>
            <a:endParaRPr sz="4400">
              <a:latin typeface="Arial"/>
              <a:ea typeface="Arial"/>
              <a:cs typeface="Arial"/>
              <a:sym typeface="Arial"/>
            </a:endParaRPr>
          </a:p>
        </p:txBody>
      </p:sp>
      <p:sp>
        <p:nvSpPr>
          <p:cNvPr id="232" name="Google Shape;232;p19"/>
          <p:cNvSpPr txBox="1"/>
          <p:nvPr>
            <p:ph idx="1" type="body"/>
          </p:nvPr>
        </p:nvSpPr>
        <p:spPr>
          <a:xfrm>
            <a:off x="252392" y="2045493"/>
            <a:ext cx="9579000" cy="3771300"/>
          </a:xfrm>
          <a:prstGeom prst="rect">
            <a:avLst/>
          </a:prstGeom>
          <a:noFill/>
          <a:ln>
            <a:noFill/>
          </a:ln>
        </p:spPr>
        <p:txBody>
          <a:bodyPr anchorCtr="0" anchor="t" bIns="0" lIns="0" spcFirstLastPara="1" rIns="0" wrap="square" tIns="12700">
            <a:spAutoFit/>
          </a:bodyPr>
          <a:lstStyle/>
          <a:p>
            <a:pPr indent="-178435" lvl="0" marL="178435" marR="5080" rtl="0" algn="l">
              <a:lnSpc>
                <a:spcPct val="100000"/>
              </a:lnSpc>
              <a:spcBef>
                <a:spcPts val="0"/>
              </a:spcBef>
              <a:spcAft>
                <a:spcPts val="0"/>
              </a:spcAft>
              <a:buClr>
                <a:schemeClr val="dk1"/>
              </a:buClr>
              <a:buSzPts val="2800"/>
              <a:buChar char="•"/>
            </a:pPr>
            <a:r>
              <a:rPr lang="en-US"/>
              <a:t>The visual UML syntax for a class is very rich, and to make it manageable it is important to apply the UML notation of optional adornments</a:t>
            </a:r>
            <a:endParaRPr/>
          </a:p>
          <a:p>
            <a:pPr indent="-571" lvl="0" marL="178435" marR="5080" rtl="0" algn="l">
              <a:lnSpc>
                <a:spcPct val="100000"/>
              </a:lnSpc>
              <a:spcBef>
                <a:spcPts val="100"/>
              </a:spcBef>
              <a:spcAft>
                <a:spcPts val="0"/>
              </a:spcAft>
              <a:buClr>
                <a:schemeClr val="dk1"/>
              </a:buClr>
              <a:buSzPts val="2801"/>
              <a:buNone/>
            </a:pPr>
            <a:r>
              <a:t/>
            </a:r>
            <a:endParaRPr/>
          </a:p>
          <a:p>
            <a:pPr indent="-178435" lvl="0" marL="178435" marR="306070" rtl="0" algn="l">
              <a:lnSpc>
                <a:spcPct val="107142"/>
              </a:lnSpc>
              <a:spcBef>
                <a:spcPts val="85"/>
              </a:spcBef>
              <a:spcAft>
                <a:spcPts val="0"/>
              </a:spcAft>
              <a:buClr>
                <a:schemeClr val="dk1"/>
              </a:buClr>
              <a:buSzPts val="2800"/>
              <a:buChar char="•"/>
            </a:pPr>
            <a:r>
              <a:rPr lang="en-US"/>
              <a:t>The only mandatory part of the visual syntax is the name compartment with the class name in it</a:t>
            </a:r>
            <a:endParaRPr/>
          </a:p>
          <a:p>
            <a:pPr indent="0" lvl="0" marL="0" marR="306070" rtl="0" algn="l">
              <a:lnSpc>
                <a:spcPct val="107104"/>
              </a:lnSpc>
              <a:spcBef>
                <a:spcPts val="85"/>
              </a:spcBef>
              <a:spcAft>
                <a:spcPts val="0"/>
              </a:spcAft>
              <a:buClr>
                <a:schemeClr val="dk1"/>
              </a:buClr>
              <a:buSzPts val="2801"/>
              <a:buNone/>
            </a:pPr>
            <a:r>
              <a:t/>
            </a:r>
            <a:endParaRPr/>
          </a:p>
          <a:p>
            <a:pPr indent="-178435" lvl="0" marL="178435" rtl="0" algn="l">
              <a:lnSpc>
                <a:spcPct val="103571"/>
              </a:lnSpc>
              <a:spcBef>
                <a:spcPts val="1423"/>
              </a:spcBef>
              <a:spcAft>
                <a:spcPts val="0"/>
              </a:spcAft>
              <a:buClr>
                <a:schemeClr val="dk1"/>
              </a:buClr>
              <a:buSzPts val="2800"/>
              <a:buChar char="•"/>
            </a:pPr>
            <a:r>
              <a:rPr lang="en-US"/>
              <a:t>All the other compartments and adornments are optional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719507" y="301446"/>
            <a:ext cx="8854500" cy="558300"/>
          </a:xfrm>
          <a:prstGeom prst="rect">
            <a:avLst/>
          </a:prstGeom>
          <a:noFill/>
          <a:ln>
            <a:noFill/>
          </a:ln>
        </p:spPr>
        <p:txBody>
          <a:bodyPr anchorCtr="0" anchor="ctr" bIns="0" lIns="0" spcFirstLastPara="1" rIns="0" wrap="square" tIns="95475">
            <a:spAutoFit/>
          </a:bodyPr>
          <a:lstStyle/>
          <a:p>
            <a:pPr indent="0" lvl="0" marL="232409" rtl="0" algn="l">
              <a:lnSpc>
                <a:spcPct val="100000"/>
              </a:lnSpc>
              <a:spcBef>
                <a:spcPts val="0"/>
              </a:spcBef>
              <a:spcAft>
                <a:spcPts val="0"/>
              </a:spcAft>
              <a:buClr>
                <a:schemeClr val="dk1"/>
              </a:buClr>
              <a:buSzPts val="3000"/>
              <a:buFont typeface="Arial"/>
              <a:buNone/>
            </a:pPr>
            <a:r>
              <a:rPr i="0" lang="en-US" sz="3000">
                <a:latin typeface="Arial"/>
                <a:ea typeface="Arial"/>
                <a:cs typeface="Arial"/>
                <a:sym typeface="Arial"/>
              </a:rPr>
              <a:t>Syntax: with example</a:t>
            </a:r>
            <a:endParaRPr sz="3000">
              <a:latin typeface="Arial"/>
              <a:ea typeface="Arial"/>
              <a:cs typeface="Arial"/>
              <a:sym typeface="Arial"/>
            </a:endParaRPr>
          </a:p>
        </p:txBody>
      </p:sp>
      <p:pic>
        <p:nvPicPr>
          <p:cNvPr id="238" name="Google Shape;238;p20"/>
          <p:cNvPicPr preferRelativeResize="0"/>
          <p:nvPr/>
        </p:nvPicPr>
        <p:blipFill rotWithShape="1">
          <a:blip r:embed="rId3">
            <a:alphaModFix/>
          </a:blip>
          <a:srcRect b="0" l="0" r="0" t="0"/>
          <a:stretch/>
        </p:blipFill>
        <p:spPr>
          <a:xfrm>
            <a:off x="756005" y="1688049"/>
            <a:ext cx="8099996" cy="52901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1"/>
          <p:cNvSpPr txBox="1"/>
          <p:nvPr>
            <p:ph type="title"/>
          </p:nvPr>
        </p:nvSpPr>
        <p:spPr>
          <a:xfrm>
            <a:off x="703694" y="205819"/>
            <a:ext cx="8072100" cy="813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100"/>
              <a:buFont typeface="Arial"/>
              <a:buNone/>
            </a:pPr>
            <a:r>
              <a:rPr b="1" i="0" lang="en-US" sz="2600"/>
              <a:t>Name compartment</a:t>
            </a:r>
            <a:endParaRPr b="1" sz="2600"/>
          </a:p>
          <a:p>
            <a:pPr indent="0" lvl="0" marL="462915" rtl="0" algn="l">
              <a:lnSpc>
                <a:spcPct val="100000"/>
              </a:lnSpc>
              <a:spcBef>
                <a:spcPts val="0"/>
              </a:spcBef>
              <a:spcAft>
                <a:spcPts val="0"/>
              </a:spcAft>
              <a:buClr>
                <a:schemeClr val="dk1"/>
              </a:buClr>
              <a:buSzPts val="2100"/>
              <a:buFont typeface="Helvetica Neue"/>
              <a:buNone/>
            </a:pPr>
            <a:r>
              <a:rPr b="1" i="0" lang="en-US" sz="2600">
                <a:latin typeface="Helvetica Neue"/>
                <a:ea typeface="Helvetica Neue"/>
                <a:cs typeface="Helvetica Neue"/>
                <a:sym typeface="Helvetica Neue"/>
              </a:rPr>
              <a:t>- naming convention for classes</a:t>
            </a:r>
            <a:endParaRPr b="1" sz="2600">
              <a:latin typeface="Helvetica Neue"/>
              <a:ea typeface="Helvetica Neue"/>
              <a:cs typeface="Helvetica Neue"/>
              <a:sym typeface="Helvetica Neue"/>
            </a:endParaRPr>
          </a:p>
        </p:txBody>
      </p:sp>
      <p:sp>
        <p:nvSpPr>
          <p:cNvPr id="244" name="Google Shape;244;p21"/>
          <p:cNvSpPr txBox="1"/>
          <p:nvPr/>
        </p:nvSpPr>
        <p:spPr>
          <a:xfrm>
            <a:off x="703694" y="1165939"/>
            <a:ext cx="4917440" cy="3460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Arial"/>
                <a:ea typeface="Arial"/>
                <a:cs typeface="Arial"/>
                <a:sym typeface="Arial"/>
              </a:rPr>
              <a:t>1. Class name is in UpperCamelCase </a:t>
            </a:r>
            <a:r>
              <a:rPr b="0" i="0" lang="en-US" sz="2100" u="none" cap="none" strike="noStrike">
                <a:solidFill>
                  <a:schemeClr val="dk1"/>
                </a:solidFill>
                <a:latin typeface="Helvetica Neue"/>
                <a:ea typeface="Helvetica Neue"/>
                <a:cs typeface="Helvetica Neue"/>
                <a:sym typeface="Helvetica Neue"/>
              </a:rPr>
              <a:t>–</a:t>
            </a:r>
            <a:endParaRPr b="0" i="0" sz="2100" u="none" cap="none" strike="noStrike">
              <a:solidFill>
                <a:schemeClr val="dk1"/>
              </a:solidFill>
              <a:latin typeface="Helvetica Neue"/>
              <a:ea typeface="Helvetica Neue"/>
              <a:cs typeface="Helvetica Neue"/>
              <a:sym typeface="Helvetica Neue"/>
            </a:endParaRPr>
          </a:p>
        </p:txBody>
      </p:sp>
      <p:sp>
        <p:nvSpPr>
          <p:cNvPr id="245" name="Google Shape;245;p21"/>
          <p:cNvSpPr txBox="1"/>
          <p:nvPr/>
        </p:nvSpPr>
        <p:spPr>
          <a:xfrm>
            <a:off x="812774" y="2110578"/>
            <a:ext cx="119380" cy="3460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Helvetica Neue"/>
                <a:ea typeface="Helvetica Neue"/>
                <a:cs typeface="Helvetica Neue"/>
                <a:sym typeface="Helvetica Neue"/>
              </a:rPr>
              <a:t>•</a:t>
            </a:r>
            <a:endParaRPr b="0" i="0" sz="2100" u="none" cap="none" strike="noStrike">
              <a:solidFill>
                <a:schemeClr val="dk1"/>
              </a:solidFill>
              <a:latin typeface="Helvetica Neue"/>
              <a:ea typeface="Helvetica Neue"/>
              <a:cs typeface="Helvetica Neue"/>
              <a:sym typeface="Helvetica Neue"/>
            </a:endParaRPr>
          </a:p>
        </p:txBody>
      </p:sp>
      <p:sp>
        <p:nvSpPr>
          <p:cNvPr id="246" name="Google Shape;246;p21"/>
          <p:cNvSpPr txBox="1"/>
          <p:nvPr/>
        </p:nvSpPr>
        <p:spPr>
          <a:xfrm>
            <a:off x="812774" y="2750658"/>
            <a:ext cx="119380" cy="3460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Helvetica Neue"/>
                <a:ea typeface="Helvetica Neue"/>
                <a:cs typeface="Helvetica Neue"/>
                <a:sym typeface="Helvetica Neue"/>
              </a:rPr>
              <a:t>•</a:t>
            </a:r>
            <a:endParaRPr b="0" i="0" sz="2100" u="none" cap="none" strike="noStrike">
              <a:solidFill>
                <a:schemeClr val="dk1"/>
              </a:solidFill>
              <a:latin typeface="Helvetica Neue"/>
              <a:ea typeface="Helvetica Neue"/>
              <a:cs typeface="Helvetica Neue"/>
              <a:sym typeface="Helvetica Neue"/>
            </a:endParaRPr>
          </a:p>
        </p:txBody>
      </p:sp>
      <p:sp>
        <p:nvSpPr>
          <p:cNvPr id="247" name="Google Shape;247;p21"/>
          <p:cNvSpPr txBox="1"/>
          <p:nvPr/>
        </p:nvSpPr>
        <p:spPr>
          <a:xfrm>
            <a:off x="812775" y="1485975"/>
            <a:ext cx="9259200" cy="2275500"/>
          </a:xfrm>
          <a:prstGeom prst="rect">
            <a:avLst/>
          </a:prstGeom>
          <a:noFill/>
          <a:ln>
            <a:noFill/>
          </a:ln>
        </p:spPr>
        <p:txBody>
          <a:bodyPr anchorCtr="0" anchor="t" bIns="0" lIns="0" spcFirstLastPara="1" rIns="0" wrap="square" tIns="12700">
            <a:spAutoFit/>
          </a:bodyPr>
          <a:lstStyle/>
          <a:p>
            <a:pPr indent="-324485" lvl="0" marL="336550" marR="391160" rtl="0" algn="l">
              <a:lnSpc>
                <a:spcPct val="100000"/>
              </a:lnSpc>
              <a:spcBef>
                <a:spcPts val="0"/>
              </a:spcBef>
              <a:spcAft>
                <a:spcPts val="0"/>
              </a:spcAft>
              <a:buClr>
                <a:schemeClr val="dk1"/>
              </a:buClr>
              <a:buSzPts val="2100"/>
              <a:buFont typeface="Helvetica Neue"/>
              <a:buChar char="•"/>
            </a:pPr>
            <a:r>
              <a:rPr b="0" i="0" lang="en-US" sz="2100" u="none" cap="none" strike="noStrike">
                <a:solidFill>
                  <a:schemeClr val="dk1"/>
                </a:solidFill>
                <a:latin typeface="Helvetica Neue"/>
                <a:ea typeface="Helvetica Neue"/>
                <a:cs typeface="Helvetica Neue"/>
                <a:sym typeface="Helvetica Neue"/>
              </a:rPr>
              <a:t>It begins with an uppercase letter, and then is in mixed upper and lowercase, with each word beginning in uppercase</a:t>
            </a:r>
            <a:endParaRPr b="0" i="0" sz="2100" u="none" cap="none" strike="noStrike">
              <a:solidFill>
                <a:schemeClr val="dk1"/>
              </a:solidFill>
              <a:latin typeface="Helvetica Neue"/>
              <a:ea typeface="Helvetica Neue"/>
              <a:cs typeface="Helvetica Neue"/>
              <a:sym typeface="Helvetica Neue"/>
            </a:endParaRPr>
          </a:p>
          <a:p>
            <a:pPr indent="0" lvl="0" marL="336550" marR="207645"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Helvetica Neue"/>
                <a:ea typeface="Helvetica Neue"/>
                <a:cs typeface="Helvetica Neue"/>
                <a:sym typeface="Helvetica Neue"/>
              </a:rPr>
              <a:t>Special symbols such as punctuation marks, dashes, underscores, ampersands, hashes, and slashes are </a:t>
            </a:r>
            <a:r>
              <a:rPr b="0" i="1" lang="en-US" sz="2100" u="none" cap="none" strike="noStrike">
                <a:solidFill>
                  <a:schemeClr val="dk1"/>
                </a:solidFill>
                <a:latin typeface="Arial"/>
                <a:ea typeface="Arial"/>
                <a:cs typeface="Arial"/>
                <a:sym typeface="Arial"/>
              </a:rPr>
              <a:t>always avoided</a:t>
            </a:r>
            <a:endParaRPr b="0" i="0" sz="2100" u="none" cap="none" strike="noStrike">
              <a:solidFill>
                <a:schemeClr val="dk1"/>
              </a:solidFill>
              <a:latin typeface="Arial"/>
              <a:ea typeface="Arial"/>
              <a:cs typeface="Arial"/>
              <a:sym typeface="Arial"/>
            </a:endParaRPr>
          </a:p>
          <a:p>
            <a:pPr indent="0" lvl="0" marL="336550" marR="508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Helvetica Neue"/>
                <a:ea typeface="Helvetica Neue"/>
                <a:cs typeface="Helvetica Neue"/>
                <a:sym typeface="Helvetica Neue"/>
              </a:rPr>
              <a:t>Including them in class names, or the names of any other modeling element for that matter, can lead to unexpected consequences when code or HTML/XML documentation is generated from the model</a:t>
            </a:r>
            <a:endParaRPr b="0" i="0" sz="2100" u="none" cap="none" strike="noStrike">
              <a:solidFill>
                <a:schemeClr val="dk1"/>
              </a:solidFill>
              <a:latin typeface="Helvetica Neue"/>
              <a:ea typeface="Helvetica Neue"/>
              <a:cs typeface="Helvetica Neue"/>
              <a:sym typeface="Helvetica Neue"/>
            </a:endParaRPr>
          </a:p>
        </p:txBody>
      </p:sp>
      <p:sp>
        <p:nvSpPr>
          <p:cNvPr id="248" name="Google Shape;248;p21"/>
          <p:cNvSpPr txBox="1"/>
          <p:nvPr/>
        </p:nvSpPr>
        <p:spPr>
          <a:xfrm>
            <a:off x="703703" y="4046300"/>
            <a:ext cx="6593700" cy="336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Arial"/>
                <a:ea typeface="Arial"/>
                <a:cs typeface="Arial"/>
                <a:sym typeface="Arial"/>
              </a:rPr>
              <a:t>2.	Avoid abbreviations </a:t>
            </a:r>
            <a:r>
              <a:rPr b="1" i="1" lang="en-US" sz="2100" u="none" cap="none" strike="noStrike">
                <a:solidFill>
                  <a:schemeClr val="dk1"/>
                </a:solidFill>
                <a:latin typeface="Arial"/>
                <a:ea typeface="Arial"/>
                <a:cs typeface="Arial"/>
                <a:sym typeface="Arial"/>
              </a:rPr>
              <a:t>at all costs</a:t>
            </a:r>
            <a:endParaRPr b="0" i="0" sz="2100" u="none" cap="none" strike="noStrike">
              <a:solidFill>
                <a:schemeClr val="dk1"/>
              </a:solidFill>
              <a:latin typeface="Arial"/>
              <a:ea typeface="Arial"/>
              <a:cs typeface="Arial"/>
              <a:sym typeface="Arial"/>
            </a:endParaRPr>
          </a:p>
        </p:txBody>
      </p:sp>
      <p:sp>
        <p:nvSpPr>
          <p:cNvPr id="249" name="Google Shape;249;p21"/>
          <p:cNvSpPr txBox="1"/>
          <p:nvPr/>
        </p:nvSpPr>
        <p:spPr>
          <a:xfrm>
            <a:off x="812774" y="4990937"/>
            <a:ext cx="119380" cy="3460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Helvetica Neue"/>
                <a:ea typeface="Helvetica Neue"/>
                <a:cs typeface="Helvetica Neue"/>
                <a:sym typeface="Helvetica Neue"/>
              </a:rPr>
              <a:t>•</a:t>
            </a:r>
            <a:endParaRPr b="0" i="0" sz="2100" u="none" cap="none" strike="noStrike">
              <a:solidFill>
                <a:schemeClr val="dk1"/>
              </a:solidFill>
              <a:latin typeface="Helvetica Neue"/>
              <a:ea typeface="Helvetica Neue"/>
              <a:cs typeface="Helvetica Neue"/>
              <a:sym typeface="Helvetica Neue"/>
            </a:endParaRPr>
          </a:p>
        </p:txBody>
      </p:sp>
      <p:sp>
        <p:nvSpPr>
          <p:cNvPr id="250" name="Google Shape;250;p21"/>
          <p:cNvSpPr txBox="1"/>
          <p:nvPr/>
        </p:nvSpPr>
        <p:spPr>
          <a:xfrm>
            <a:off x="703700" y="4521475"/>
            <a:ext cx="9259200" cy="1305900"/>
          </a:xfrm>
          <a:prstGeom prst="rect">
            <a:avLst/>
          </a:prstGeom>
          <a:noFill/>
          <a:ln>
            <a:noFill/>
          </a:ln>
        </p:spPr>
        <p:txBody>
          <a:bodyPr anchorCtr="0" anchor="t" bIns="0" lIns="0" spcFirstLastPara="1" rIns="0" wrap="square" tIns="12700">
            <a:spAutoFit/>
          </a:bodyPr>
          <a:lstStyle/>
          <a:p>
            <a:pPr indent="-323850" lvl="0" marL="336550" marR="0" rtl="0" algn="l">
              <a:lnSpc>
                <a:spcPct val="100000"/>
              </a:lnSpc>
              <a:spcBef>
                <a:spcPts val="0"/>
              </a:spcBef>
              <a:spcAft>
                <a:spcPts val="0"/>
              </a:spcAft>
              <a:buClr>
                <a:schemeClr val="dk1"/>
              </a:buClr>
              <a:buSzPts val="2100"/>
              <a:buFont typeface="Helvetica Neue"/>
              <a:buChar char="•"/>
            </a:pPr>
            <a:r>
              <a:rPr b="0" i="1" lang="en-US" sz="2100" u="none" cap="none" strike="noStrike">
                <a:solidFill>
                  <a:schemeClr val="dk1"/>
                </a:solidFill>
                <a:latin typeface="Arial"/>
                <a:ea typeface="Arial"/>
                <a:cs typeface="Arial"/>
                <a:sym typeface="Arial"/>
              </a:rPr>
              <a:t>Class names should always reflect the </a:t>
            </a:r>
            <a:r>
              <a:rPr b="0" i="0" lang="en-US" sz="2100" u="none" cap="none" strike="noStrike">
                <a:solidFill>
                  <a:schemeClr val="dk1"/>
                </a:solidFill>
                <a:latin typeface="Helvetica Neue"/>
                <a:ea typeface="Helvetica Neue"/>
                <a:cs typeface="Helvetica Neue"/>
                <a:sym typeface="Helvetica Neue"/>
              </a:rPr>
              <a:t>names of real-world entities</a:t>
            </a:r>
            <a:endParaRPr b="0" i="0" sz="2100" u="none" cap="none" strike="noStrike">
              <a:solidFill>
                <a:schemeClr val="dk1"/>
              </a:solidFill>
              <a:latin typeface="Helvetica Neue"/>
              <a:ea typeface="Helvetica Neue"/>
              <a:cs typeface="Helvetica Neue"/>
              <a:sym typeface="Helvetica Neue"/>
            </a:endParaRPr>
          </a:p>
          <a:p>
            <a:pPr indent="0" lvl="0" marL="336550"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Arial"/>
                <a:ea typeface="Arial"/>
                <a:cs typeface="Arial"/>
                <a:sym typeface="Arial"/>
              </a:rPr>
              <a:t>without abbreviation</a:t>
            </a:r>
            <a:endParaRPr b="0" i="0" sz="2100" u="none" cap="none" strike="noStrike">
              <a:solidFill>
                <a:schemeClr val="dk1"/>
              </a:solidFill>
              <a:latin typeface="Arial"/>
              <a:ea typeface="Arial"/>
              <a:cs typeface="Arial"/>
              <a:sym typeface="Arial"/>
            </a:endParaRPr>
          </a:p>
          <a:p>
            <a:pPr indent="0" lvl="0" marL="336550" marR="58420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Arial"/>
                <a:ea typeface="Arial"/>
                <a:cs typeface="Arial"/>
                <a:sym typeface="Arial"/>
              </a:rPr>
              <a:t>For example, </a:t>
            </a:r>
            <a:r>
              <a:rPr b="0" i="0" lang="en-US" sz="2100" u="none" cap="none" strike="noStrike">
                <a:solidFill>
                  <a:schemeClr val="dk1"/>
                </a:solidFill>
                <a:latin typeface="Helvetica Neue"/>
                <a:ea typeface="Helvetica Neue"/>
                <a:cs typeface="Helvetica Neue"/>
                <a:sym typeface="Helvetica Neue"/>
              </a:rPr>
              <a:t>FlightSegment is always preferable to FltSgmnt, DepositAccount is always preferable to DpstAccnt</a:t>
            </a:r>
            <a:endParaRPr b="0" i="0" sz="2100" u="none" cap="none" strike="noStrike">
              <a:solidFill>
                <a:schemeClr val="dk1"/>
              </a:solidFill>
              <a:latin typeface="Helvetica Neue"/>
              <a:ea typeface="Helvetica Neue"/>
              <a:cs typeface="Helvetica Neue"/>
              <a:sym typeface="Helvetica Neue"/>
            </a:endParaRPr>
          </a:p>
        </p:txBody>
      </p:sp>
      <p:sp>
        <p:nvSpPr>
          <p:cNvPr id="251" name="Google Shape;251;p21"/>
          <p:cNvSpPr txBox="1"/>
          <p:nvPr/>
        </p:nvSpPr>
        <p:spPr>
          <a:xfrm>
            <a:off x="703694" y="5966539"/>
            <a:ext cx="8749665" cy="9861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Arial"/>
                <a:ea typeface="Arial"/>
                <a:cs typeface="Arial"/>
                <a:sym typeface="Arial"/>
              </a:rPr>
              <a:t>3. If there are domain-specific acronyms </a:t>
            </a:r>
            <a:r>
              <a:rPr b="0" i="0" lang="en-US" sz="2100" u="none" cap="none" strike="noStrike">
                <a:solidFill>
                  <a:schemeClr val="dk1"/>
                </a:solidFill>
                <a:latin typeface="Helvetica Neue"/>
                <a:ea typeface="Helvetica Neue"/>
                <a:cs typeface="Helvetica Neue"/>
                <a:sym typeface="Helvetica Neue"/>
              </a:rPr>
              <a:t>(CRM- Customer Relationship Management) that are in common use and will be understood by all, then you may use them</a:t>
            </a:r>
            <a:endParaRPr b="0" i="0" sz="21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2"/>
          <p:cNvSpPr txBox="1"/>
          <p:nvPr>
            <p:ph type="title"/>
          </p:nvPr>
        </p:nvSpPr>
        <p:spPr>
          <a:xfrm>
            <a:off x="719507" y="635526"/>
            <a:ext cx="8854500" cy="668400"/>
          </a:xfrm>
          <a:prstGeom prst="rect">
            <a:avLst/>
          </a:prstGeom>
          <a:noFill/>
          <a:ln>
            <a:noFill/>
          </a:ln>
        </p:spPr>
        <p:txBody>
          <a:bodyPr anchorCtr="0" anchor="ctr" bIns="0" lIns="0" spcFirstLastPara="1" rIns="0" wrap="square" tIns="204550">
            <a:spAutoFit/>
          </a:bodyPr>
          <a:lstStyle/>
          <a:p>
            <a:pPr indent="0" lvl="0" marL="12700" rtl="0" algn="l">
              <a:lnSpc>
                <a:spcPct val="100000"/>
              </a:lnSpc>
              <a:spcBef>
                <a:spcPts val="0"/>
              </a:spcBef>
              <a:spcAft>
                <a:spcPts val="0"/>
              </a:spcAft>
              <a:buClr>
                <a:schemeClr val="dk1"/>
              </a:buClr>
              <a:buSzPts val="2500"/>
              <a:buFont typeface="Arial"/>
              <a:buNone/>
            </a:pPr>
            <a:r>
              <a:rPr b="1" i="0" lang="en-US" sz="3000"/>
              <a:t> Attribute compartment</a:t>
            </a:r>
            <a:endParaRPr b="1" sz="3000"/>
          </a:p>
        </p:txBody>
      </p:sp>
      <p:sp>
        <p:nvSpPr>
          <p:cNvPr id="257" name="Google Shape;257;p22"/>
          <p:cNvSpPr txBox="1"/>
          <p:nvPr/>
        </p:nvSpPr>
        <p:spPr>
          <a:xfrm>
            <a:off x="591750" y="1568427"/>
            <a:ext cx="8787900" cy="3780900"/>
          </a:xfrm>
          <a:prstGeom prst="rect">
            <a:avLst/>
          </a:prstGeom>
          <a:noFill/>
          <a:ln>
            <a:noFill/>
          </a:ln>
        </p:spPr>
        <p:txBody>
          <a:bodyPr anchorCtr="0" anchor="t" bIns="0" lIns="0" spcFirstLastPara="1" rIns="0" wrap="square" tIns="12700">
            <a:spAutoFit/>
          </a:bodyPr>
          <a:lstStyle/>
          <a:p>
            <a:pPr indent="-500380" lvl="0" marL="622300" marR="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The only mandatory part of the UML attribute syntax is the </a:t>
            </a:r>
            <a:r>
              <a:rPr b="1" i="0" lang="en-US" sz="2500" u="none" cap="none" strike="noStrike">
                <a:solidFill>
                  <a:schemeClr val="dk1"/>
                </a:solidFill>
                <a:latin typeface="Arial"/>
                <a:ea typeface="Arial"/>
                <a:cs typeface="Arial"/>
                <a:sym typeface="Arial"/>
              </a:rPr>
              <a:t>attribute name</a:t>
            </a:r>
            <a:endParaRPr b="1" i="0" sz="2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500"/>
              <a:buFont typeface="Arial"/>
              <a:buNone/>
            </a:pPr>
            <a:r>
              <a:t/>
            </a:r>
            <a:endParaRPr b="1" i="0" sz="2500" u="none" cap="none" strike="noStrike">
              <a:solidFill>
                <a:schemeClr val="dk1"/>
              </a:solidFill>
              <a:latin typeface="Arial"/>
              <a:ea typeface="Arial"/>
              <a:cs typeface="Arial"/>
              <a:sym typeface="Arial"/>
            </a:endParaRPr>
          </a:p>
          <a:p>
            <a:pPr indent="-1056005" lvl="3" marL="1068705" marR="0" rtl="0" algn="l">
              <a:lnSpc>
                <a:spcPct val="119799"/>
              </a:lnSpc>
              <a:spcBef>
                <a:spcPts val="0"/>
              </a:spcBef>
              <a:spcAft>
                <a:spcPts val="0"/>
              </a:spcAft>
              <a:buClr>
                <a:schemeClr val="dk1"/>
              </a:buClr>
              <a:buSzPts val="2500"/>
              <a:buFont typeface="Helvetica Neue"/>
              <a:buAutoNum type="arabicPeriod"/>
            </a:pPr>
            <a:r>
              <a:rPr b="1" i="0" lang="en-US" sz="2500" u="none" cap="none" strike="noStrike">
                <a:solidFill>
                  <a:schemeClr val="dk1"/>
                </a:solidFill>
                <a:latin typeface="Helvetica Neue"/>
                <a:ea typeface="Helvetica Neue"/>
                <a:cs typeface="Helvetica Neue"/>
                <a:sym typeface="Helvetica Neue"/>
              </a:rPr>
              <a:t>Visibility</a:t>
            </a:r>
            <a:endParaRPr b="1" i="0" sz="2500" u="none" cap="none" strike="noStrike">
              <a:solidFill>
                <a:schemeClr val="dk1"/>
              </a:solidFill>
              <a:latin typeface="Helvetica Neue"/>
              <a:ea typeface="Helvetica Neue"/>
              <a:cs typeface="Helvetica Neue"/>
              <a:sym typeface="Helvetica Neue"/>
            </a:endParaRPr>
          </a:p>
          <a:p>
            <a:pPr indent="-1049655" lvl="3" marL="1062355" marR="0" rtl="0" algn="l">
              <a:lnSpc>
                <a:spcPct val="119799"/>
              </a:lnSpc>
              <a:spcBef>
                <a:spcPts val="0"/>
              </a:spcBef>
              <a:spcAft>
                <a:spcPts val="0"/>
              </a:spcAft>
              <a:buClr>
                <a:schemeClr val="dk1"/>
              </a:buClr>
              <a:buSzPts val="2500"/>
              <a:buFont typeface="Helvetica Neue"/>
              <a:buAutoNum type="arabicPeriod"/>
            </a:pPr>
            <a:r>
              <a:rPr b="1" i="0" lang="en-US" sz="2500" u="none" cap="none" strike="noStrike">
                <a:solidFill>
                  <a:schemeClr val="dk1"/>
                </a:solidFill>
                <a:latin typeface="Helvetica Neue"/>
                <a:ea typeface="Helvetica Neue"/>
                <a:cs typeface="Helvetica Neue"/>
                <a:sym typeface="Helvetica Neue"/>
              </a:rPr>
              <a:t>Type</a:t>
            </a:r>
            <a:endParaRPr b="1" i="0" sz="2500" u="none" cap="none" strike="noStrike">
              <a:solidFill>
                <a:schemeClr val="dk1"/>
              </a:solidFill>
              <a:latin typeface="Helvetica Neue"/>
              <a:ea typeface="Helvetica Neue"/>
              <a:cs typeface="Helvetica Neue"/>
              <a:sym typeface="Helvetica Neue"/>
            </a:endParaRPr>
          </a:p>
          <a:p>
            <a:pPr indent="-1056005" lvl="3" marL="1068705" marR="0" rtl="0" algn="l">
              <a:lnSpc>
                <a:spcPct val="100000"/>
              </a:lnSpc>
              <a:spcBef>
                <a:spcPts val="0"/>
              </a:spcBef>
              <a:spcAft>
                <a:spcPts val="0"/>
              </a:spcAft>
              <a:buClr>
                <a:schemeClr val="dk1"/>
              </a:buClr>
              <a:buSzPts val="2500"/>
              <a:buFont typeface="Helvetica Neue"/>
              <a:buAutoNum type="arabicPeriod"/>
            </a:pPr>
            <a:r>
              <a:rPr b="1" i="0" lang="en-US" sz="2500" u="none" cap="none" strike="noStrike">
                <a:solidFill>
                  <a:schemeClr val="dk1"/>
                </a:solidFill>
                <a:latin typeface="Helvetica Neue"/>
                <a:ea typeface="Helvetica Neue"/>
                <a:cs typeface="Helvetica Neue"/>
                <a:sym typeface="Helvetica Neue"/>
              </a:rPr>
              <a:t>Multiplicity</a:t>
            </a:r>
            <a:endParaRPr b="1" i="0" sz="2500" u="none" cap="none" strike="noStrike">
              <a:solidFill>
                <a:schemeClr val="dk1"/>
              </a:solidFill>
              <a:latin typeface="Helvetica Neue"/>
              <a:ea typeface="Helvetica Neue"/>
              <a:cs typeface="Helvetica Neue"/>
              <a:sym typeface="Helvetica Neue"/>
            </a:endParaRPr>
          </a:p>
          <a:p>
            <a:pPr indent="-1056005" lvl="3" marL="1068705" marR="0" rtl="0" algn="l">
              <a:lnSpc>
                <a:spcPct val="119799"/>
              </a:lnSpc>
              <a:spcBef>
                <a:spcPts val="0"/>
              </a:spcBef>
              <a:spcAft>
                <a:spcPts val="0"/>
              </a:spcAft>
              <a:buClr>
                <a:schemeClr val="dk1"/>
              </a:buClr>
              <a:buSzPts val="2500"/>
              <a:buFont typeface="Helvetica Neue"/>
              <a:buAutoNum type="arabicPeriod"/>
            </a:pPr>
            <a:r>
              <a:rPr b="1" i="0" lang="en-US" sz="2500" u="none" cap="none" strike="noStrike">
                <a:solidFill>
                  <a:schemeClr val="dk1"/>
                </a:solidFill>
                <a:latin typeface="Helvetica Neue"/>
                <a:ea typeface="Helvetica Neue"/>
                <a:cs typeface="Helvetica Neue"/>
                <a:sym typeface="Helvetica Neue"/>
              </a:rPr>
              <a:t>Initial Value</a:t>
            </a:r>
            <a:endParaRPr b="1" i="0" sz="2500" u="none" cap="none" strike="noStrike">
              <a:solidFill>
                <a:schemeClr val="dk1"/>
              </a:solidFill>
              <a:latin typeface="Helvetica Neue"/>
              <a:ea typeface="Helvetica Neue"/>
              <a:cs typeface="Helvetica Neue"/>
              <a:sym typeface="Helvetica Neue"/>
            </a:endParaRPr>
          </a:p>
          <a:p>
            <a:pPr indent="0" lvl="0" marL="1828800" marR="0" rtl="0" algn="l">
              <a:lnSpc>
                <a:spcPct val="119800"/>
              </a:lnSpc>
              <a:spcBef>
                <a:spcPts val="0"/>
              </a:spcBef>
              <a:spcAft>
                <a:spcPts val="0"/>
              </a:spcAft>
              <a:buClr>
                <a:srgbClr val="000000"/>
              </a:buClr>
              <a:buSzPts val="2500"/>
              <a:buFont typeface="Arial"/>
              <a:buNone/>
            </a:pPr>
            <a:r>
              <a:t/>
            </a:r>
            <a:endParaRPr b="1" i="0" sz="2500" u="none" cap="none" strike="noStrike">
              <a:solidFill>
                <a:schemeClr val="dk1"/>
              </a:solidFill>
              <a:latin typeface="Helvetica Neue"/>
              <a:ea typeface="Helvetica Neue"/>
              <a:cs typeface="Helvetica Neue"/>
              <a:sym typeface="Helvetica Neue"/>
            </a:endParaRPr>
          </a:p>
          <a:p>
            <a:pPr indent="0" lvl="0" marL="0" marR="0" rtl="0" algn="l">
              <a:lnSpc>
                <a:spcPct val="119799"/>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Advance attribute syntax :</a:t>
            </a:r>
            <a:endParaRPr b="0" i="0" sz="2500" u="none" cap="none" strike="noStrike">
              <a:solidFill>
                <a:schemeClr val="dk1"/>
              </a:solidFill>
              <a:latin typeface="Helvetica Neue"/>
              <a:ea typeface="Helvetica Neue"/>
              <a:cs typeface="Helvetica Neue"/>
              <a:sym typeface="Helvetica Neue"/>
            </a:endParaRPr>
          </a:p>
        </p:txBody>
      </p:sp>
      <p:pic>
        <p:nvPicPr>
          <p:cNvPr id="258" name="Google Shape;258;p22"/>
          <p:cNvPicPr preferRelativeResize="0"/>
          <p:nvPr/>
        </p:nvPicPr>
        <p:blipFill rotWithShape="1">
          <a:blip r:embed="rId3">
            <a:alphaModFix/>
          </a:blip>
          <a:srcRect b="0" l="0" r="0" t="0"/>
          <a:stretch/>
        </p:blipFill>
        <p:spPr>
          <a:xfrm>
            <a:off x="719505" y="5229826"/>
            <a:ext cx="8091716" cy="16365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3"/>
          <p:cNvSpPr txBox="1"/>
          <p:nvPr/>
        </p:nvSpPr>
        <p:spPr>
          <a:xfrm>
            <a:off x="591752" y="457100"/>
            <a:ext cx="9027600" cy="1258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Arial"/>
                <a:ea typeface="Arial"/>
                <a:cs typeface="Arial"/>
                <a:sym typeface="Arial"/>
              </a:rPr>
              <a:t>Visibility</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114"/>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Visibility controls access to the features of a class</a:t>
            </a:r>
            <a:endParaRPr b="0" i="0" sz="2500" u="none" cap="none" strike="noStrike">
              <a:solidFill>
                <a:schemeClr val="dk1"/>
              </a:solidFill>
              <a:latin typeface="Helvetica Neue"/>
              <a:ea typeface="Helvetica Neue"/>
              <a:cs typeface="Helvetica Neue"/>
              <a:sym typeface="Helvetica Neue"/>
            </a:endParaRPr>
          </a:p>
        </p:txBody>
      </p:sp>
      <p:pic>
        <p:nvPicPr>
          <p:cNvPr id="264" name="Google Shape;264;p23"/>
          <p:cNvPicPr preferRelativeResize="0"/>
          <p:nvPr/>
        </p:nvPicPr>
        <p:blipFill rotWithShape="1">
          <a:blip r:embed="rId3">
            <a:alphaModFix/>
          </a:blip>
          <a:srcRect b="0" l="0" r="0" t="0"/>
          <a:stretch/>
        </p:blipFill>
        <p:spPr>
          <a:xfrm>
            <a:off x="557644" y="2157110"/>
            <a:ext cx="8513635" cy="48967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title"/>
          </p:nvPr>
        </p:nvSpPr>
        <p:spPr>
          <a:xfrm>
            <a:off x="591743" y="347723"/>
            <a:ext cx="1802100" cy="459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b="1" i="0" lang="en-US" sz="2900">
                <a:latin typeface="Arial"/>
                <a:ea typeface="Arial"/>
                <a:cs typeface="Arial"/>
                <a:sym typeface="Arial"/>
              </a:rPr>
              <a:t> </a:t>
            </a:r>
            <a:r>
              <a:rPr b="1" lang="en-US" sz="2900"/>
              <a:t>Type</a:t>
            </a:r>
            <a:endParaRPr b="1" sz="2900">
              <a:latin typeface="Arial"/>
              <a:ea typeface="Arial"/>
              <a:cs typeface="Arial"/>
              <a:sym typeface="Arial"/>
            </a:endParaRPr>
          </a:p>
        </p:txBody>
      </p:sp>
      <p:sp>
        <p:nvSpPr>
          <p:cNvPr id="270" name="Google Shape;270;p24"/>
          <p:cNvSpPr txBox="1"/>
          <p:nvPr/>
        </p:nvSpPr>
        <p:spPr>
          <a:xfrm>
            <a:off x="591751" y="1238347"/>
            <a:ext cx="8961300" cy="397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An attribute’s type may be another class or a primitive type</a:t>
            </a:r>
            <a:endParaRPr b="0" i="0" sz="2500" u="none" cap="none" strike="noStrike">
              <a:solidFill>
                <a:schemeClr val="dk1"/>
              </a:solidFill>
              <a:latin typeface="Helvetica Neue"/>
              <a:ea typeface="Helvetica Neue"/>
              <a:cs typeface="Helvetica Neue"/>
              <a:sym typeface="Helvetica Neue"/>
            </a:endParaRPr>
          </a:p>
        </p:txBody>
      </p:sp>
      <p:graphicFrame>
        <p:nvGraphicFramePr>
          <p:cNvPr id="271" name="Google Shape;271;p24"/>
          <p:cNvGraphicFramePr/>
          <p:nvPr/>
        </p:nvGraphicFramePr>
        <p:xfrm>
          <a:off x="834478" y="2430363"/>
          <a:ext cx="3000000" cy="3000000"/>
        </p:xfrm>
        <a:graphic>
          <a:graphicData uri="http://schemas.openxmlformats.org/drawingml/2006/table">
            <a:tbl>
              <a:tblPr bandRow="1" firstRow="1">
                <a:noFill/>
                <a:tableStyleId>{DF8F58EF-B54E-409E-BED0-3518CB416746}</a:tableStyleId>
              </a:tblPr>
              <a:tblGrid>
                <a:gridCol w="3822075"/>
                <a:gridCol w="3822075"/>
              </a:tblGrid>
              <a:tr h="408300">
                <a:tc>
                  <a:txBody>
                    <a:bodyPr/>
                    <a:lstStyle/>
                    <a:p>
                      <a:pPr indent="0" lvl="0" marL="100965" marR="0" rtl="0" algn="l">
                        <a:lnSpc>
                          <a:spcPct val="100000"/>
                        </a:lnSpc>
                        <a:spcBef>
                          <a:spcPts val="0"/>
                        </a:spcBef>
                        <a:spcAft>
                          <a:spcPts val="0"/>
                        </a:spcAft>
                        <a:buClr>
                          <a:srgbClr val="000000"/>
                        </a:buClr>
                        <a:buSzPts val="2000"/>
                        <a:buFont typeface="Arial"/>
                        <a:buNone/>
                      </a:pPr>
                      <a:r>
                        <a:rPr b="1" lang="en-US" sz="2000" u="none" cap="none" strike="noStrike">
                          <a:solidFill>
                            <a:srgbClr val="FFFFFF"/>
                          </a:solidFill>
                          <a:latin typeface="Arial"/>
                          <a:ea typeface="Arial"/>
                          <a:cs typeface="Arial"/>
                          <a:sym typeface="Arial"/>
                        </a:rPr>
                        <a:t>Primitive Type</a:t>
                      </a:r>
                      <a:endParaRPr sz="2000" u="none" cap="none" strike="noStrike">
                        <a:latin typeface="Arial"/>
                        <a:ea typeface="Arial"/>
                        <a:cs typeface="Arial"/>
                        <a:sym typeface="Arial"/>
                      </a:endParaRPr>
                    </a:p>
                  </a:txBody>
                  <a:tcPr marT="216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E80BC"/>
                    </a:solidFill>
                  </a:tcPr>
                </a:tc>
                <a:tc>
                  <a:txBody>
                    <a:bodyPr/>
                    <a:lstStyle/>
                    <a:p>
                      <a:pPr indent="0" lvl="0" marL="100330" marR="0" rtl="0" algn="l">
                        <a:lnSpc>
                          <a:spcPct val="100000"/>
                        </a:lnSpc>
                        <a:spcBef>
                          <a:spcPts val="0"/>
                        </a:spcBef>
                        <a:spcAft>
                          <a:spcPts val="0"/>
                        </a:spcAft>
                        <a:buClr>
                          <a:srgbClr val="000000"/>
                        </a:buClr>
                        <a:buSzPts val="2000"/>
                        <a:buFont typeface="Arial"/>
                        <a:buNone/>
                      </a:pPr>
                      <a:r>
                        <a:rPr b="1" lang="en-US" sz="2000" u="none" cap="none" strike="noStrike">
                          <a:solidFill>
                            <a:srgbClr val="FFFFFF"/>
                          </a:solidFill>
                          <a:latin typeface="Arial"/>
                          <a:ea typeface="Arial"/>
                          <a:cs typeface="Arial"/>
                          <a:sym typeface="Arial"/>
                        </a:rPr>
                        <a:t>Semantics</a:t>
                      </a:r>
                      <a:endParaRPr sz="2000" u="none" cap="none" strike="noStrike">
                        <a:latin typeface="Arial"/>
                        <a:ea typeface="Arial"/>
                        <a:cs typeface="Arial"/>
                        <a:sym typeface="Arial"/>
                      </a:endParaRPr>
                    </a:p>
                  </a:txBody>
                  <a:tcPr marT="216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E80BC"/>
                    </a:solidFill>
                  </a:tcPr>
                </a:tc>
              </a:tr>
              <a:tr h="408300">
                <a:tc>
                  <a:txBody>
                    <a:bodyPr/>
                    <a:lstStyle/>
                    <a:p>
                      <a:pPr indent="0" lvl="0" marL="100965"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Integer</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A whole number</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r>
              <a:tr h="704850">
                <a:tc>
                  <a:txBody>
                    <a:bodyPr/>
                    <a:lstStyle/>
                    <a:p>
                      <a:pPr indent="0" lvl="0" marL="100965"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UnlimitedNatural</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c>
                  <a:txBody>
                    <a:bodyPr/>
                    <a:lstStyle/>
                    <a:p>
                      <a:pPr indent="0" lvl="0" marL="100330" marR="1379220" rtl="0" algn="l">
                        <a:lnSpc>
                          <a:spcPct val="1115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A whole number &gt;=0 Infinity is shown as *</a:t>
                      </a:r>
                      <a:endParaRPr sz="2000" u="none" cap="none" strike="noStrike">
                        <a:latin typeface="Helvetica Neue"/>
                        <a:ea typeface="Helvetica Neue"/>
                        <a:cs typeface="Helvetica Neue"/>
                        <a:sym typeface="Helvetica Neue"/>
                      </a:endParaRPr>
                    </a:p>
                  </a:txBody>
                  <a:tcPr marT="495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r>
              <a:tr h="408300">
                <a:tc>
                  <a:txBody>
                    <a:bodyPr/>
                    <a:lstStyle/>
                    <a:p>
                      <a:pPr indent="0" lvl="0" marL="100965"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Boolean</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Can take the value true or false</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r>
              <a:tr h="1007750">
                <a:tc>
                  <a:txBody>
                    <a:bodyPr/>
                    <a:lstStyle/>
                    <a:p>
                      <a:pPr indent="0" lvl="0" marL="100965"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String</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c>
                  <a:txBody>
                    <a:bodyPr/>
                    <a:lstStyle/>
                    <a:p>
                      <a:pPr indent="0" lvl="0" marL="100330" marR="392430" rtl="0" algn="l">
                        <a:lnSpc>
                          <a:spcPct val="929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A sequence of characters String literals are quoted, e.g. “Jim”</a:t>
                      </a:r>
                      <a:endParaRPr sz="2000" u="none" cap="none" strike="noStrike">
                        <a:latin typeface="Helvetica Neue"/>
                        <a:ea typeface="Helvetica Neue"/>
                        <a:cs typeface="Helvetica Neue"/>
                        <a:sym typeface="Helvetica Neue"/>
                      </a:endParaRPr>
                    </a:p>
                  </a:txBody>
                  <a:tcPr marT="43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5"/>
          <p:cNvSpPr txBox="1"/>
          <p:nvPr>
            <p:ph type="title"/>
          </p:nvPr>
        </p:nvSpPr>
        <p:spPr>
          <a:xfrm>
            <a:off x="814269" y="499215"/>
            <a:ext cx="2740800" cy="459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b="1" i="0" lang="en-US" sz="2900">
                <a:latin typeface="Arial"/>
                <a:ea typeface="Arial"/>
                <a:cs typeface="Arial"/>
                <a:sym typeface="Arial"/>
              </a:rPr>
              <a:t>Multiplicity</a:t>
            </a:r>
            <a:endParaRPr b="1" sz="2900">
              <a:latin typeface="Arial"/>
              <a:ea typeface="Arial"/>
              <a:cs typeface="Arial"/>
              <a:sym typeface="Arial"/>
            </a:endParaRPr>
          </a:p>
        </p:txBody>
      </p:sp>
      <p:sp>
        <p:nvSpPr>
          <p:cNvPr id="277" name="Google Shape;277;p25"/>
          <p:cNvSpPr txBox="1"/>
          <p:nvPr/>
        </p:nvSpPr>
        <p:spPr>
          <a:xfrm>
            <a:off x="574900" y="1154525"/>
            <a:ext cx="89340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Multiplicity</a:t>
            </a:r>
            <a:r>
              <a:rPr b="0" i="0" lang="en-US" sz="2400" u="none" cap="none" strike="noStrike">
                <a:solidFill>
                  <a:schemeClr val="dk1"/>
                </a:solidFill>
                <a:latin typeface="Arial"/>
                <a:ea typeface="Arial"/>
                <a:cs typeface="Arial"/>
                <a:sym typeface="Arial"/>
              </a:rPr>
              <a:t> defines </a:t>
            </a:r>
            <a:r>
              <a:rPr b="1" i="0" lang="en-US" sz="2400" u="none" cap="none" strike="noStrike">
                <a:solidFill>
                  <a:schemeClr val="dk1"/>
                </a:solidFill>
                <a:latin typeface="Arial"/>
                <a:ea typeface="Arial"/>
                <a:cs typeface="Arial"/>
                <a:sym typeface="Arial"/>
              </a:rPr>
              <a:t>how many instances</a:t>
            </a:r>
            <a:r>
              <a:rPr b="0" i="0" lang="en-US" sz="2400" u="none" cap="none" strike="noStrike">
                <a:solidFill>
                  <a:schemeClr val="dk1"/>
                </a:solidFill>
                <a:latin typeface="Arial"/>
                <a:ea typeface="Arial"/>
                <a:cs typeface="Arial"/>
                <a:sym typeface="Arial"/>
              </a:rPr>
              <a:t> of a type can be associated with a single attribute. It’s commonly used when an attribute represents </a:t>
            </a:r>
            <a:r>
              <a:rPr b="1" i="0" lang="en-US" sz="2400" u="none" cap="none" strike="noStrike">
                <a:solidFill>
                  <a:schemeClr val="dk1"/>
                </a:solidFill>
                <a:latin typeface="Arial"/>
                <a:ea typeface="Arial"/>
                <a:cs typeface="Arial"/>
                <a:sym typeface="Arial"/>
              </a:rPr>
              <a:t>a collection (array, list, set)</a:t>
            </a:r>
            <a:r>
              <a:rPr b="0" i="0" lang="en-US" sz="2400" u="none" cap="none" strike="noStrike">
                <a:solidFill>
                  <a:schemeClr val="dk1"/>
                </a:solidFill>
                <a:latin typeface="Arial"/>
                <a:ea typeface="Arial"/>
                <a:cs typeface="Arial"/>
                <a:sym typeface="Arial"/>
              </a:rPr>
              <a:t> rather than a single value.</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sz="2400">
              <a:solidFill>
                <a:schemeClr val="dk1"/>
              </a:solidFill>
            </a:endParaRPr>
          </a:p>
          <a:p>
            <a:pPr indent="0" lvl="0" marL="0" marR="0" rtl="0" algn="l">
              <a:lnSpc>
                <a:spcPct val="100000"/>
              </a:lnSpc>
              <a:spcBef>
                <a:spcPts val="0"/>
              </a:spcBef>
              <a:spcAft>
                <a:spcPts val="0"/>
              </a:spcAft>
              <a:buClr>
                <a:srgbClr val="000000"/>
              </a:buClr>
              <a:buSzPts val="2400"/>
              <a:buFont typeface="Arial"/>
              <a:buNone/>
            </a:pPr>
            <a:r>
              <a:rPr b="1" lang="en-US" sz="2400">
                <a:solidFill>
                  <a:schemeClr val="dk1"/>
                </a:solidFill>
              </a:rPr>
              <a:t>How many objects of one class can be associated with an object of another class?</a:t>
            </a:r>
            <a:endParaRPr b="1" sz="2400">
              <a:solidFill>
                <a:schemeClr val="dk1"/>
              </a:solidFill>
            </a:endParaRPr>
          </a:p>
        </p:txBody>
      </p:sp>
      <p:pic>
        <p:nvPicPr>
          <p:cNvPr id="278" name="Google Shape;278;p25"/>
          <p:cNvPicPr preferRelativeResize="0"/>
          <p:nvPr/>
        </p:nvPicPr>
        <p:blipFill rotWithShape="1">
          <a:blip r:embed="rId3">
            <a:alphaModFix/>
          </a:blip>
          <a:srcRect b="0" l="0" r="0" t="0"/>
          <a:stretch/>
        </p:blipFill>
        <p:spPr>
          <a:xfrm>
            <a:off x="687750" y="3983725"/>
            <a:ext cx="8184425" cy="3019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75ce7fcc5c_0_4"/>
          <p:cNvSpPr txBox="1"/>
          <p:nvPr>
            <p:ph type="title"/>
          </p:nvPr>
        </p:nvSpPr>
        <p:spPr>
          <a:xfrm>
            <a:off x="814269" y="499215"/>
            <a:ext cx="2740800" cy="459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b="1" lang="en-US" sz="2900"/>
              <a:t>Example :</a:t>
            </a:r>
            <a:endParaRPr b="1" sz="2900">
              <a:latin typeface="Arial"/>
              <a:ea typeface="Arial"/>
              <a:cs typeface="Arial"/>
              <a:sym typeface="Arial"/>
            </a:endParaRPr>
          </a:p>
        </p:txBody>
      </p:sp>
      <p:sp>
        <p:nvSpPr>
          <p:cNvPr id="284" name="Google Shape;284;g375ce7fcc5c_0_4"/>
          <p:cNvSpPr txBox="1"/>
          <p:nvPr/>
        </p:nvSpPr>
        <p:spPr>
          <a:xfrm>
            <a:off x="1105925" y="4009850"/>
            <a:ext cx="3513300" cy="1121100"/>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39350">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681990" marR="0" rtl="0" algn="l">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Arial"/>
                <a:ea typeface="Arial"/>
                <a:cs typeface="Arial"/>
                <a:sym typeface="Arial"/>
              </a:rPr>
              <a:t>PersonDetails</a:t>
            </a:r>
            <a:endParaRPr b="0" i="0" sz="2100" u="none" cap="none" strike="noStrike">
              <a:solidFill>
                <a:schemeClr val="dk1"/>
              </a:solidFill>
              <a:latin typeface="Arial"/>
              <a:ea typeface="Arial"/>
              <a:cs typeface="Arial"/>
              <a:sym typeface="Arial"/>
            </a:endParaRPr>
          </a:p>
        </p:txBody>
      </p:sp>
      <p:sp>
        <p:nvSpPr>
          <p:cNvPr id="285" name="Google Shape;285;g375ce7fcc5c_0_4"/>
          <p:cNvSpPr txBox="1"/>
          <p:nvPr/>
        </p:nvSpPr>
        <p:spPr>
          <a:xfrm>
            <a:off x="1105675" y="5122075"/>
            <a:ext cx="3513300" cy="1564200"/>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207625">
            <a:sp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0" lvl="0" marL="31115"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-name : String [2..*]</a:t>
            </a:r>
            <a:endParaRPr b="0" i="0" sz="2200" u="none" cap="none" strike="noStrike">
              <a:solidFill>
                <a:schemeClr val="dk1"/>
              </a:solidFill>
              <a:latin typeface="Helvetica Neue"/>
              <a:ea typeface="Helvetica Neue"/>
              <a:cs typeface="Helvetica Neue"/>
              <a:sym typeface="Helvetica Neue"/>
            </a:endParaRPr>
          </a:p>
          <a:p>
            <a:pPr indent="0" lvl="0" marL="31115"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-address : String [3]</a:t>
            </a:r>
            <a:endParaRPr b="0" i="0" sz="2200" u="none" cap="none" strike="noStrike">
              <a:solidFill>
                <a:schemeClr val="dk1"/>
              </a:solidFill>
              <a:latin typeface="Helvetica Neue"/>
              <a:ea typeface="Helvetica Neue"/>
              <a:cs typeface="Helvetica Neue"/>
              <a:sym typeface="Helvetica Neue"/>
            </a:endParaRPr>
          </a:p>
          <a:p>
            <a:pPr indent="0" lvl="0" marL="31115"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-emailAddress : String [0..1]</a:t>
            </a:r>
            <a:endParaRPr b="0" i="0" sz="2200" u="none" cap="none" strike="noStrike">
              <a:solidFill>
                <a:schemeClr val="dk1"/>
              </a:solidFill>
              <a:latin typeface="Helvetica Neue"/>
              <a:ea typeface="Helvetica Neue"/>
              <a:cs typeface="Helvetica Neue"/>
              <a:sym typeface="Helvetica Neue"/>
            </a:endParaRPr>
          </a:p>
        </p:txBody>
      </p:sp>
      <p:sp>
        <p:nvSpPr>
          <p:cNvPr id="286" name="Google Shape;286;g375ce7fcc5c_0_4"/>
          <p:cNvSpPr txBox="1"/>
          <p:nvPr/>
        </p:nvSpPr>
        <p:spPr>
          <a:xfrm>
            <a:off x="4841650" y="4407886"/>
            <a:ext cx="4791600" cy="14904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Helvetica Neue"/>
                <a:ea typeface="Helvetica Neue"/>
                <a:cs typeface="Helvetica Neue"/>
                <a:sym typeface="Helvetica Neue"/>
              </a:rPr>
              <a:t>name is composed of two or more Strings address is composed of three Strings emailAddress is composed of one String or null</a:t>
            </a:r>
            <a:endParaRPr b="0" i="0" sz="2400" u="none" cap="none" strike="noStrike">
              <a:solidFill>
                <a:schemeClr val="dk1"/>
              </a:solidFill>
              <a:latin typeface="Helvetica Neue"/>
              <a:ea typeface="Helvetica Neue"/>
              <a:cs typeface="Helvetica Neue"/>
              <a:sym typeface="Helvetica Neue"/>
            </a:endParaRPr>
          </a:p>
        </p:txBody>
      </p:sp>
      <p:pic>
        <p:nvPicPr>
          <p:cNvPr id="287" name="Google Shape;287;g375ce7fcc5c_0_4"/>
          <p:cNvPicPr preferRelativeResize="0"/>
          <p:nvPr/>
        </p:nvPicPr>
        <p:blipFill rotWithShape="1">
          <a:blip r:embed="rId3">
            <a:alphaModFix/>
          </a:blip>
          <a:srcRect b="0" l="0" r="0" t="0"/>
          <a:stretch/>
        </p:blipFill>
        <p:spPr>
          <a:xfrm>
            <a:off x="814275" y="1099300"/>
            <a:ext cx="8075401" cy="2771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6"/>
          <p:cNvSpPr txBox="1"/>
          <p:nvPr>
            <p:ph type="title"/>
          </p:nvPr>
        </p:nvSpPr>
        <p:spPr>
          <a:xfrm>
            <a:off x="591743" y="1800977"/>
            <a:ext cx="1558800" cy="3975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b="1" i="0" lang="en-US" sz="2500"/>
              <a:t>Collection</a:t>
            </a:r>
            <a:endParaRPr b="1" sz="2500"/>
          </a:p>
        </p:txBody>
      </p:sp>
      <p:sp>
        <p:nvSpPr>
          <p:cNvPr id="293" name="Google Shape;293;p26"/>
          <p:cNvSpPr txBox="1"/>
          <p:nvPr/>
        </p:nvSpPr>
        <p:spPr>
          <a:xfrm>
            <a:off x="1132814" y="2924902"/>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294" name="Google Shape;294;p26"/>
          <p:cNvSpPr txBox="1"/>
          <p:nvPr/>
        </p:nvSpPr>
        <p:spPr>
          <a:xfrm>
            <a:off x="1132814" y="2181863"/>
            <a:ext cx="8178165" cy="1548130"/>
          </a:xfrm>
          <a:prstGeom prst="rect">
            <a:avLst/>
          </a:prstGeom>
          <a:noFill/>
          <a:ln>
            <a:noFill/>
          </a:ln>
        </p:spPr>
        <p:txBody>
          <a:bodyPr anchorCtr="0" anchor="t" bIns="0" lIns="0" spcFirstLastPara="1" rIns="0" wrap="square" tIns="12700">
            <a:spAutoFit/>
          </a:bodyPr>
          <a:lstStyle/>
          <a:p>
            <a:pPr indent="-324485" lvl="0" marL="336550" marR="508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If the multiplicity expression results in an integer greater than 1, then you are specifying a collection of the type For example, colors : Color[7] - collection of seven color objects</a:t>
            </a:r>
            <a:endParaRPr b="0" i="0" sz="2500" u="none" cap="none" strike="noStrike">
              <a:solidFill>
                <a:schemeClr val="dk1"/>
              </a:solidFill>
              <a:latin typeface="Helvetica Neue"/>
              <a:ea typeface="Helvetica Neue"/>
              <a:cs typeface="Helvetica Neue"/>
              <a:sym typeface="Helvetica Neue"/>
            </a:endParaRPr>
          </a:p>
        </p:txBody>
      </p:sp>
      <p:sp>
        <p:nvSpPr>
          <p:cNvPr id="295" name="Google Shape;295;p26"/>
          <p:cNvSpPr txBox="1"/>
          <p:nvPr/>
        </p:nvSpPr>
        <p:spPr>
          <a:xfrm>
            <a:off x="591743" y="4084462"/>
            <a:ext cx="8423275" cy="11671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1" i="0" lang="en-US" sz="2500" u="none" cap="none" strike="noStrike">
                <a:solidFill>
                  <a:schemeClr val="dk1"/>
                </a:solidFill>
                <a:latin typeface="Arial"/>
                <a:ea typeface="Arial"/>
                <a:cs typeface="Arial"/>
                <a:sym typeface="Arial"/>
              </a:rPr>
              <a:t>Null values</a:t>
            </a:r>
            <a:endParaRPr b="0" i="0" sz="2500" u="none" cap="none" strike="noStrike">
              <a:solidFill>
                <a:schemeClr val="dk1"/>
              </a:solidFill>
              <a:latin typeface="Arial"/>
              <a:ea typeface="Arial"/>
              <a:cs typeface="Arial"/>
              <a:sym typeface="Arial"/>
            </a:endParaRPr>
          </a:p>
          <a:p>
            <a:pPr indent="-324485" lvl="0" marL="877569" marR="5080"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When an attribute references null, this means that the object it points to has not yet been created or exist</a:t>
            </a:r>
            <a:endParaRPr b="0" i="0" sz="2500" u="none" cap="none" strike="noStrike">
              <a:solidFill>
                <a:schemeClr val="dk1"/>
              </a:solidFill>
              <a:latin typeface="Helvetica Neue"/>
              <a:ea typeface="Helvetica Neue"/>
              <a:cs typeface="Helvetica Neue"/>
              <a:sym typeface="Helvetica Neue"/>
            </a:endParaRPr>
          </a:p>
        </p:txBody>
      </p:sp>
      <p:sp>
        <p:nvSpPr>
          <p:cNvPr id="296" name="Google Shape;296;p26"/>
          <p:cNvSpPr txBox="1"/>
          <p:nvPr>
            <p:ph type="title"/>
          </p:nvPr>
        </p:nvSpPr>
        <p:spPr>
          <a:xfrm>
            <a:off x="814269" y="499215"/>
            <a:ext cx="2740800" cy="459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b="1" i="0" lang="en-US" sz="2900">
                <a:latin typeface="Arial"/>
                <a:ea typeface="Arial"/>
                <a:cs typeface="Arial"/>
                <a:sym typeface="Arial"/>
              </a:rPr>
              <a:t>Multiplicity</a:t>
            </a:r>
            <a:endParaRPr b="1" sz="29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txBox="1"/>
          <p:nvPr>
            <p:ph type="title"/>
          </p:nvPr>
        </p:nvSpPr>
        <p:spPr>
          <a:xfrm>
            <a:off x="627380" y="148050"/>
            <a:ext cx="5709900" cy="5976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400"/>
              <a:buFont typeface="Arial"/>
              <a:buNone/>
            </a:pPr>
            <a:r>
              <a:rPr i="0" lang="en-US" sz="3800">
                <a:latin typeface="Arial"/>
                <a:ea typeface="Arial"/>
                <a:cs typeface="Arial"/>
                <a:sym typeface="Arial"/>
              </a:rPr>
              <a:t>Initial Value</a:t>
            </a:r>
            <a:endParaRPr sz="3800"/>
          </a:p>
        </p:txBody>
      </p:sp>
      <p:sp>
        <p:nvSpPr>
          <p:cNvPr id="302" name="Google Shape;302;p27"/>
          <p:cNvSpPr txBox="1"/>
          <p:nvPr/>
        </p:nvSpPr>
        <p:spPr>
          <a:xfrm>
            <a:off x="627380" y="1036336"/>
            <a:ext cx="8881745" cy="5162952"/>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The initial value allows you to set the value of an attribute at the point of object creation</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45"/>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5"/>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Advance attribute syntax</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11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12700" marR="38608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You can also extend the specification of an attribute by postfixing the attribute with tagged values</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19545"/>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for example,</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Syntax:</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11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462915"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«stereotype» attribute { tag1 = value1, tag2 = value2, …}</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50"/>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Example:</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11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address {addedBy=“Jim Arlow”, date=“20MAR2001”}</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8"/>
          <p:cNvSpPr txBox="1"/>
          <p:nvPr>
            <p:ph type="title"/>
          </p:nvPr>
        </p:nvSpPr>
        <p:spPr>
          <a:xfrm>
            <a:off x="719507" y="594450"/>
            <a:ext cx="8854500" cy="781200"/>
          </a:xfrm>
          <a:prstGeom prst="rect">
            <a:avLst/>
          </a:prstGeom>
          <a:noFill/>
          <a:ln>
            <a:noFill/>
          </a:ln>
        </p:spPr>
        <p:txBody>
          <a:bodyPr anchorCtr="0" anchor="ctr" bIns="0" lIns="0" spcFirstLastPara="1" rIns="0" wrap="square" tIns="285925">
            <a:spAutoFit/>
          </a:bodyPr>
          <a:lstStyle/>
          <a:p>
            <a:pPr indent="0" lvl="0" marL="100330" rtl="0" algn="l">
              <a:lnSpc>
                <a:spcPct val="100000"/>
              </a:lnSpc>
              <a:spcBef>
                <a:spcPts val="0"/>
              </a:spcBef>
              <a:spcAft>
                <a:spcPts val="0"/>
              </a:spcAft>
              <a:buClr>
                <a:schemeClr val="dk1"/>
              </a:buClr>
              <a:buSzPts val="2500"/>
              <a:buFont typeface="Arial"/>
              <a:buNone/>
            </a:pPr>
            <a:r>
              <a:rPr i="0" lang="en-US" sz="3200">
                <a:latin typeface="Arial"/>
                <a:ea typeface="Arial"/>
                <a:cs typeface="Arial"/>
                <a:sym typeface="Arial"/>
              </a:rPr>
              <a:t>Operation Compartment</a:t>
            </a:r>
            <a:endParaRPr sz="3200">
              <a:latin typeface="Arial"/>
              <a:ea typeface="Arial"/>
              <a:cs typeface="Arial"/>
              <a:sym typeface="Arial"/>
            </a:endParaRPr>
          </a:p>
        </p:txBody>
      </p:sp>
      <p:sp>
        <p:nvSpPr>
          <p:cNvPr id="308" name="Google Shape;308;p28"/>
          <p:cNvSpPr txBox="1"/>
          <p:nvPr/>
        </p:nvSpPr>
        <p:spPr>
          <a:xfrm>
            <a:off x="701179" y="1977380"/>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309" name="Google Shape;309;p28"/>
          <p:cNvSpPr txBox="1"/>
          <p:nvPr/>
        </p:nvSpPr>
        <p:spPr>
          <a:xfrm>
            <a:off x="1023734" y="1992506"/>
            <a:ext cx="7901940" cy="2369185"/>
          </a:xfrm>
          <a:prstGeom prst="rect">
            <a:avLst/>
          </a:prstGeom>
          <a:noFill/>
          <a:ln>
            <a:noFill/>
          </a:ln>
        </p:spPr>
        <p:txBody>
          <a:bodyPr anchorCtr="0" anchor="t" bIns="0" lIns="0" spcFirstLastPara="1" rIns="0" wrap="square" tIns="12700">
            <a:spAutoFit/>
          </a:bodyPr>
          <a:lstStyle/>
          <a:p>
            <a:pPr indent="0" lvl="0" marL="12700" marR="410844"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An operation signature comprises its name, the type of all its parameters, and its return type</a:t>
            </a:r>
            <a:endParaRPr b="0" i="0" sz="2200" u="none" cap="none" strike="noStrike">
              <a:solidFill>
                <a:schemeClr val="dk1"/>
              </a:solidFill>
              <a:latin typeface="Helvetica Neue"/>
              <a:ea typeface="Helvetica Neue"/>
              <a:cs typeface="Helvetica Neue"/>
              <a:sym typeface="Helvetica Neue"/>
            </a:endParaRPr>
          </a:p>
          <a:p>
            <a:pPr indent="0" lvl="0" marL="12700" marR="5080" rtl="0" algn="l">
              <a:lnSpc>
                <a:spcPct val="119545"/>
              </a:lnSpc>
              <a:spcBef>
                <a:spcPts val="85"/>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Operations are functions that are bound to a particular class. As such, they have all of the characteristics of functions:</a:t>
            </a:r>
            <a:endParaRPr b="0" i="0" sz="2200" u="none" cap="none" strike="noStrike">
              <a:solidFill>
                <a:schemeClr val="dk1"/>
              </a:solidFill>
              <a:latin typeface="Helvetica Neue"/>
              <a:ea typeface="Helvetica Neue"/>
              <a:cs typeface="Helvetica Neue"/>
              <a:sym typeface="Helvetica Neue"/>
            </a:endParaRPr>
          </a:p>
          <a:p>
            <a:pPr indent="-170180" lvl="0" marL="201930" marR="0" rtl="0" algn="l">
              <a:lnSpc>
                <a:spcPct val="116136"/>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name</a:t>
            </a:r>
            <a:endParaRPr b="0" i="0" sz="2200" u="none" cap="none" strike="noStrike">
              <a:solidFill>
                <a:schemeClr val="dk1"/>
              </a:solidFill>
              <a:latin typeface="Helvetica Neue"/>
              <a:ea typeface="Helvetica Neue"/>
              <a:cs typeface="Helvetica Neue"/>
              <a:sym typeface="Helvetica Neue"/>
            </a:endParaRPr>
          </a:p>
          <a:p>
            <a:pPr indent="-170180" lvl="0" marL="201930" marR="0" rtl="0" algn="l">
              <a:lnSpc>
                <a:spcPct val="119772"/>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parameter list</a:t>
            </a:r>
            <a:endParaRPr b="0" i="0" sz="2200" u="none" cap="none" strike="noStrike">
              <a:solidFill>
                <a:schemeClr val="dk1"/>
              </a:solidFill>
              <a:latin typeface="Helvetica Neue"/>
              <a:ea typeface="Helvetica Neue"/>
              <a:cs typeface="Helvetica Neue"/>
              <a:sym typeface="Helvetica Neue"/>
            </a:endParaRPr>
          </a:p>
          <a:p>
            <a:pPr indent="-170180" lvl="0" marL="201930" marR="0" rtl="0" algn="l">
              <a:lnSpc>
                <a:spcPct val="119772"/>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return type</a:t>
            </a:r>
            <a:endParaRPr b="0" i="0" sz="2200" u="none" cap="none" strike="noStrike">
              <a:solidFill>
                <a:schemeClr val="dk1"/>
              </a:solidFill>
              <a:latin typeface="Helvetica Neue"/>
              <a:ea typeface="Helvetica Neue"/>
              <a:cs typeface="Helvetica Neue"/>
              <a:sym typeface="Helvetica Neue"/>
            </a:endParaRPr>
          </a:p>
        </p:txBody>
      </p:sp>
      <p:sp>
        <p:nvSpPr>
          <p:cNvPr id="310" name="Google Shape;310;p28"/>
          <p:cNvSpPr txBox="1"/>
          <p:nvPr/>
        </p:nvSpPr>
        <p:spPr>
          <a:xfrm>
            <a:off x="701179" y="2646619"/>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311" name="Google Shape;311;p28"/>
          <p:cNvSpPr txBox="1"/>
          <p:nvPr/>
        </p:nvSpPr>
        <p:spPr>
          <a:xfrm>
            <a:off x="701179" y="4655785"/>
            <a:ext cx="1238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a:t>
            </a:r>
            <a:endParaRPr b="0" i="0" sz="2200" u="none" cap="none" strike="noStrike">
              <a:solidFill>
                <a:schemeClr val="dk1"/>
              </a:solidFill>
              <a:latin typeface="Helvetica Neue"/>
              <a:ea typeface="Helvetica Neue"/>
              <a:cs typeface="Helvetica Neue"/>
              <a:sym typeface="Helvetica Neue"/>
            </a:endParaRPr>
          </a:p>
        </p:txBody>
      </p:sp>
      <p:sp>
        <p:nvSpPr>
          <p:cNvPr id="312" name="Google Shape;312;p28"/>
          <p:cNvSpPr txBox="1"/>
          <p:nvPr/>
        </p:nvSpPr>
        <p:spPr>
          <a:xfrm>
            <a:off x="1179982" y="4671266"/>
            <a:ext cx="103505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Syntax :</a:t>
            </a:r>
            <a:endParaRPr b="0" i="0" sz="2200" u="none" cap="none" strike="noStrike">
              <a:solidFill>
                <a:schemeClr val="dk1"/>
              </a:solidFill>
              <a:latin typeface="Helvetica Neue"/>
              <a:ea typeface="Helvetica Neue"/>
              <a:cs typeface="Helvetica Neue"/>
              <a:sym typeface="Helvetica Neue"/>
            </a:endParaRPr>
          </a:p>
        </p:txBody>
      </p:sp>
      <p:pic>
        <p:nvPicPr>
          <p:cNvPr id="313" name="Google Shape;313;p28"/>
          <p:cNvPicPr preferRelativeResize="0"/>
          <p:nvPr/>
        </p:nvPicPr>
        <p:blipFill rotWithShape="1">
          <a:blip r:embed="rId3">
            <a:alphaModFix/>
          </a:blip>
          <a:srcRect b="0" l="0" r="0" t="0"/>
          <a:stretch/>
        </p:blipFill>
        <p:spPr>
          <a:xfrm>
            <a:off x="2749321" y="4463634"/>
            <a:ext cx="6538315" cy="20872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9"/>
          <p:cNvSpPr txBox="1"/>
          <p:nvPr>
            <p:ph type="title"/>
          </p:nvPr>
        </p:nvSpPr>
        <p:spPr>
          <a:xfrm>
            <a:off x="632420" y="435794"/>
            <a:ext cx="7935600" cy="6903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400"/>
              <a:buFont typeface="Arial"/>
              <a:buNone/>
            </a:pPr>
            <a:r>
              <a:rPr i="0" lang="en-US">
                <a:latin typeface="Arial"/>
                <a:ea typeface="Arial"/>
                <a:cs typeface="Arial"/>
                <a:sym typeface="Arial"/>
              </a:rPr>
              <a:t>Parameter direction</a:t>
            </a:r>
            <a:endParaRPr/>
          </a:p>
        </p:txBody>
      </p:sp>
      <p:sp>
        <p:nvSpPr>
          <p:cNvPr id="319" name="Google Shape;319;p29"/>
          <p:cNvSpPr txBox="1"/>
          <p:nvPr/>
        </p:nvSpPr>
        <p:spPr>
          <a:xfrm>
            <a:off x="632421" y="1286538"/>
            <a:ext cx="8540750" cy="5382895"/>
          </a:xfrm>
          <a:prstGeom prst="rect">
            <a:avLst/>
          </a:prstGeom>
          <a:noFill/>
          <a:ln>
            <a:noFill/>
          </a:ln>
        </p:spPr>
        <p:txBody>
          <a:bodyPr anchorCtr="0" anchor="t" bIns="0" lIns="0" spcFirstLastPara="1" rIns="0" wrap="square" tIns="12700">
            <a:spAutoFit/>
          </a:bodyPr>
          <a:lstStyle/>
          <a:p>
            <a:pPr indent="-322580" lvl="0" marL="444500" marR="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Operation parameters can be given a direction</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35"/>
              </a:spcBef>
              <a:spcAft>
                <a:spcPts val="0"/>
              </a:spcAft>
              <a:buClr>
                <a:schemeClr val="dk1"/>
              </a:buClr>
              <a:buSzPts val="2200"/>
              <a:buFont typeface="Helvetica Neue"/>
              <a:buNone/>
            </a:pPr>
            <a:r>
              <a:t/>
            </a:r>
            <a:endParaRPr b="0" i="0" sz="2200" u="none" cap="none" strike="noStrike">
              <a:solidFill>
                <a:schemeClr val="dk1"/>
              </a:solidFill>
              <a:latin typeface="Helvetica Neue"/>
              <a:ea typeface="Helvetica Neue"/>
              <a:cs typeface="Helvetica Neue"/>
              <a:sym typeface="Helvetica Neue"/>
            </a:endParaRPr>
          </a:p>
          <a:p>
            <a:pPr indent="-322580" lvl="0" marL="444500" marR="0" rtl="0" algn="l">
              <a:lnSpc>
                <a:spcPct val="100000"/>
              </a:lnSpc>
              <a:spcBef>
                <a:spcPts val="5"/>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Syntax:</a:t>
            </a:r>
            <a:endParaRPr b="0" i="0" sz="2200" u="none" cap="none" strike="noStrike">
              <a:solidFill>
                <a:schemeClr val="dk1"/>
              </a:solidFill>
              <a:latin typeface="Helvetica Neue"/>
              <a:ea typeface="Helvetica Neue"/>
              <a:cs typeface="Helvetica Neue"/>
              <a:sym typeface="Helvetica Neue"/>
            </a:endParaRPr>
          </a:p>
          <a:p>
            <a:pPr indent="233045" lvl="0" marL="12700" marR="5080" rtl="0" algn="l">
              <a:lnSpc>
                <a:spcPct val="119545"/>
              </a:lnSpc>
              <a:spcBef>
                <a:spcPts val="95"/>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Operation(in p1:Integer, inout p2:Integer, out p3:Integer, return p4:Integer, return p5:Integer)</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1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322580" lvl="0" marL="444500" marR="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If the direction is not specified, then it defaults to in</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50"/>
              </a:spcBef>
              <a:spcAft>
                <a:spcPts val="0"/>
              </a:spcAft>
              <a:buClr>
                <a:schemeClr val="dk1"/>
              </a:buClr>
              <a:buSzPts val="2200"/>
              <a:buFont typeface="Helvetica Neue"/>
              <a:buNone/>
            </a:pPr>
            <a:r>
              <a:t/>
            </a:r>
            <a:endParaRPr b="0" i="0" sz="2200" u="none" cap="none" strike="noStrike">
              <a:solidFill>
                <a:schemeClr val="dk1"/>
              </a:solidFill>
              <a:latin typeface="Helvetica Neue"/>
              <a:ea typeface="Helvetica Neue"/>
              <a:cs typeface="Helvetica Neue"/>
              <a:sym typeface="Helvetica Neue"/>
            </a:endParaRPr>
          </a:p>
          <a:p>
            <a:pPr indent="-322580" lvl="0" marL="444500" marR="4749800" rtl="0" algn="l">
              <a:lnSpc>
                <a:spcPct val="100000"/>
              </a:lnSpc>
              <a:spcBef>
                <a:spcPts val="5"/>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For example 	maximumValue = max(a,b)</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235"/>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528955" lvl="0" marL="541020" marR="2611120" rtl="0" algn="l">
              <a:lnSpc>
                <a:spcPct val="119545"/>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Normal UML operation	: maximumValue(a:Integer, b:Integer):Integer</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55"/>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With parameter direction</a:t>
            </a:r>
            <a:endParaRPr b="0" i="0" sz="2200" u="none" cap="none" strike="noStrike">
              <a:solidFill>
                <a:schemeClr val="dk1"/>
              </a:solidFill>
              <a:latin typeface="Helvetica Neue"/>
              <a:ea typeface="Helvetica Neue"/>
              <a:cs typeface="Helvetica Neue"/>
              <a:sym typeface="Helvetica Neue"/>
            </a:endParaRPr>
          </a:p>
          <a:p>
            <a:pPr indent="0" lvl="0" marL="46228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Helvetica Neue"/>
                <a:ea typeface="Helvetica Neue"/>
                <a:cs typeface="Helvetica Neue"/>
                <a:sym typeface="Helvetica Neue"/>
              </a:rPr>
              <a:t>maximumValue(in a:Integer, in b:Integer):Integer</a:t>
            </a:r>
            <a:endParaRPr b="0" i="0" sz="22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aphicFrame>
        <p:nvGraphicFramePr>
          <p:cNvPr id="324" name="Google Shape;324;p30"/>
          <p:cNvGraphicFramePr/>
          <p:nvPr/>
        </p:nvGraphicFramePr>
        <p:xfrm>
          <a:off x="505776" y="782695"/>
          <a:ext cx="3000000" cy="3000000"/>
        </p:xfrm>
        <a:graphic>
          <a:graphicData uri="http://schemas.openxmlformats.org/drawingml/2006/table">
            <a:tbl>
              <a:tblPr bandRow="1" firstRow="1">
                <a:noFill/>
                <a:tableStyleId>{DF8F58EF-B54E-409E-BED0-3518CB416746}</a:tableStyleId>
              </a:tblPr>
              <a:tblGrid>
                <a:gridCol w="2324175"/>
                <a:gridCol w="6748075"/>
              </a:tblGrid>
              <a:tr h="408300">
                <a:tc>
                  <a:txBody>
                    <a:bodyPr/>
                    <a:lstStyle/>
                    <a:p>
                      <a:pPr indent="0" lvl="0" marL="100330" marR="0" rtl="0" algn="l">
                        <a:lnSpc>
                          <a:spcPct val="100000"/>
                        </a:lnSpc>
                        <a:spcBef>
                          <a:spcPts val="0"/>
                        </a:spcBef>
                        <a:spcAft>
                          <a:spcPts val="0"/>
                        </a:spcAft>
                        <a:buClr>
                          <a:srgbClr val="000000"/>
                        </a:buClr>
                        <a:buSzPts val="2000"/>
                        <a:buFont typeface="Arial"/>
                        <a:buNone/>
                      </a:pPr>
                      <a:r>
                        <a:rPr b="1" lang="en-US" sz="2000" u="none" cap="none" strike="noStrike">
                          <a:solidFill>
                            <a:srgbClr val="FFFFFF"/>
                          </a:solidFill>
                          <a:latin typeface="Arial"/>
                          <a:ea typeface="Arial"/>
                          <a:cs typeface="Arial"/>
                          <a:sym typeface="Arial"/>
                        </a:rPr>
                        <a:t>Parameter</a:t>
                      </a:r>
                      <a:endParaRPr sz="2000" u="none" cap="none" strike="noStrike">
                        <a:latin typeface="Arial"/>
                        <a:ea typeface="Arial"/>
                        <a:cs typeface="Arial"/>
                        <a:sym typeface="Arial"/>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E80BC"/>
                    </a:solidFill>
                  </a:tcPr>
                </a:tc>
                <a:tc>
                  <a:txBody>
                    <a:bodyPr/>
                    <a:lstStyle/>
                    <a:p>
                      <a:pPr indent="0" lvl="0" marL="100330" marR="0" rtl="0" algn="l">
                        <a:lnSpc>
                          <a:spcPct val="100000"/>
                        </a:lnSpc>
                        <a:spcBef>
                          <a:spcPts val="0"/>
                        </a:spcBef>
                        <a:spcAft>
                          <a:spcPts val="0"/>
                        </a:spcAft>
                        <a:buClr>
                          <a:srgbClr val="000000"/>
                        </a:buClr>
                        <a:buSzPts val="2000"/>
                        <a:buFont typeface="Arial"/>
                        <a:buNone/>
                      </a:pPr>
                      <a:r>
                        <a:rPr b="1" lang="en-US" sz="2000" u="none" cap="none" strike="noStrike">
                          <a:solidFill>
                            <a:srgbClr val="FFFFFF"/>
                          </a:solidFill>
                          <a:latin typeface="Arial"/>
                          <a:ea typeface="Arial"/>
                          <a:cs typeface="Arial"/>
                          <a:sym typeface="Arial"/>
                        </a:rPr>
                        <a:t>Semantics</a:t>
                      </a:r>
                      <a:endParaRPr sz="2000" u="none" cap="none" strike="noStrike">
                        <a:latin typeface="Arial"/>
                        <a:ea typeface="Arial"/>
                        <a:cs typeface="Arial"/>
                        <a:sym typeface="Arial"/>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E80BC"/>
                    </a:solidFill>
                  </a:tcPr>
                </a:tc>
              </a:tr>
              <a:tr h="1310000">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in p1:Integer</a:t>
                      </a:r>
                      <a:endParaRPr sz="2000" u="none" cap="none" strike="noStrike">
                        <a:latin typeface="Helvetica Neue"/>
                        <a:ea typeface="Helvetica Neue"/>
                        <a:cs typeface="Helvetica Neue"/>
                        <a:sym typeface="Helvetica Neue"/>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c>
                  <a:txBody>
                    <a:bodyPr/>
                    <a:lstStyle/>
                    <a:p>
                      <a:pPr indent="0" lvl="0" marL="100330" marR="0" rtl="0" algn="l">
                        <a:lnSpc>
                          <a:spcPct val="116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Default</a:t>
                      </a:r>
                      <a:endParaRPr sz="2000" u="none" cap="none" strike="noStrike">
                        <a:latin typeface="Helvetica Neue"/>
                        <a:ea typeface="Helvetica Neue"/>
                        <a:cs typeface="Helvetica Neue"/>
                        <a:sym typeface="Helvetica Neue"/>
                      </a:endParaRPr>
                    </a:p>
                    <a:p>
                      <a:pPr indent="0" lvl="0" marL="100330" marR="579120" rtl="0" algn="l">
                        <a:lnSpc>
                          <a:spcPct val="111500"/>
                        </a:lnSpc>
                        <a:spcBef>
                          <a:spcPts val="135"/>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uses p1 as an input parameter</a:t>
                      </a:r>
                      <a:endParaRPr sz="2000" u="none" cap="none" strike="noStrike">
                        <a:latin typeface="Helvetica Neue"/>
                        <a:ea typeface="Helvetica Neue"/>
                        <a:cs typeface="Helvetica Neue"/>
                        <a:sym typeface="Helvetica Neue"/>
                      </a:endParaRPr>
                    </a:p>
                    <a:p>
                      <a:pPr indent="0" lvl="0" marL="100330" marR="0" rtl="0" algn="l">
                        <a:lnSpc>
                          <a:spcPct val="10925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P1 is not changed by the operation</a:t>
                      </a:r>
                      <a:endParaRPr sz="2000" u="none" cap="none" strike="noStrike">
                        <a:latin typeface="Helvetica Neue"/>
                        <a:ea typeface="Helvetica Neue"/>
                        <a:cs typeface="Helvetica Neue"/>
                        <a:sym typeface="Helvetica Neue"/>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r>
              <a:tr h="1007100">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inout p2:Integer</a:t>
                      </a:r>
                      <a:endParaRPr sz="2000" u="none" cap="none" strike="noStrike">
                        <a:latin typeface="Helvetica Neue"/>
                        <a:ea typeface="Helvetica Neue"/>
                        <a:cs typeface="Helvetica Neue"/>
                        <a:sym typeface="Helvetica Neue"/>
                      </a:endParaRPr>
                    </a:p>
                  </a:txBody>
                  <a:tcPr marT="216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c>
                  <a:txBody>
                    <a:bodyPr/>
                    <a:lstStyle/>
                    <a:p>
                      <a:pPr indent="0" lvl="0" marL="100330" marR="861060" rtl="0" algn="l">
                        <a:lnSpc>
                          <a:spcPct val="1115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accepts p2 as an input/output parameter</a:t>
                      </a:r>
                      <a:endParaRPr sz="2000" u="none" cap="none" strike="noStrike">
                        <a:latin typeface="Helvetica Neue"/>
                        <a:ea typeface="Helvetica Neue"/>
                        <a:cs typeface="Helvetica Neue"/>
                        <a:sym typeface="Helvetica Neue"/>
                      </a:endParaRPr>
                    </a:p>
                    <a:p>
                      <a:pPr indent="0" lvl="0" marL="100330" marR="0" rtl="0" algn="l">
                        <a:lnSpc>
                          <a:spcPct val="10925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P2 may be changed by the operation</a:t>
                      </a:r>
                      <a:endParaRPr sz="2000" u="none" cap="none" strike="noStrike">
                        <a:latin typeface="Helvetica Neue"/>
                        <a:ea typeface="Helvetica Neue"/>
                        <a:cs typeface="Helvetica Neue"/>
                        <a:sym typeface="Helvetica Neue"/>
                      </a:endParaRPr>
                    </a:p>
                  </a:txBody>
                  <a:tcPr marT="48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r>
              <a:tr h="1007100">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out p3:Integer</a:t>
                      </a:r>
                      <a:endParaRPr sz="2000" u="none" cap="none" strike="noStrike">
                        <a:latin typeface="Helvetica Neue"/>
                        <a:ea typeface="Helvetica Neue"/>
                        <a:cs typeface="Helvetica Neue"/>
                        <a:sym typeface="Helvetica Neue"/>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c>
                  <a:txBody>
                    <a:bodyPr/>
                    <a:lstStyle/>
                    <a:p>
                      <a:pPr indent="0" lvl="0" marL="100330" marR="424180" rtl="0" algn="l">
                        <a:lnSpc>
                          <a:spcPct val="112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uses p3 as an output parameter</a:t>
                      </a:r>
                      <a:endParaRPr sz="2000" u="none" cap="none" strike="noStrike">
                        <a:latin typeface="Helvetica Neue"/>
                        <a:ea typeface="Helvetica Neue"/>
                        <a:cs typeface="Helvetica Neue"/>
                        <a:sym typeface="Helvetica Neue"/>
                      </a:endParaRPr>
                    </a:p>
                    <a:p>
                      <a:pPr indent="0" lvl="0" marL="100330" marR="0" rtl="0" algn="l">
                        <a:lnSpc>
                          <a:spcPct val="109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P3 may be changed by the operation</a:t>
                      </a:r>
                      <a:endParaRPr sz="2000" u="none" cap="none" strike="noStrike">
                        <a:latin typeface="Helvetica Neue"/>
                        <a:ea typeface="Helvetica Neue"/>
                        <a:cs typeface="Helvetica Neue"/>
                        <a:sym typeface="Helvetica Neue"/>
                      </a:endParaRPr>
                    </a:p>
                  </a:txBody>
                  <a:tcPr marT="470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r>
              <a:tr h="1310000">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return p4:Integer</a:t>
                      </a:r>
                      <a:endParaRPr sz="2000" u="none" cap="none" strike="noStrike">
                        <a:latin typeface="Helvetica Neue"/>
                        <a:ea typeface="Helvetica Neue"/>
                        <a:cs typeface="Helvetica Neue"/>
                        <a:sym typeface="Helvetica Neue"/>
                      </a:endParaRPr>
                    </a:p>
                  </a:txBody>
                  <a:tcPr marT="222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c>
                  <a:txBody>
                    <a:bodyPr/>
                    <a:lstStyle/>
                    <a:p>
                      <a:pPr indent="0" lvl="0" marL="100330" marR="607695" rtl="0" algn="l">
                        <a:lnSpc>
                          <a:spcPct val="1115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uses p4 as a return parameter</a:t>
                      </a:r>
                      <a:endParaRPr sz="2000" u="none" cap="none" strike="noStrike">
                        <a:latin typeface="Helvetica Neue"/>
                        <a:ea typeface="Helvetica Neue"/>
                        <a:cs typeface="Helvetica Neue"/>
                        <a:sym typeface="Helvetica Neue"/>
                      </a:endParaRPr>
                    </a:p>
                    <a:p>
                      <a:pPr indent="0" lvl="0" marL="100330" marR="0" rtl="0" algn="l">
                        <a:lnSpc>
                          <a:spcPct val="104999"/>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returns p4 as one of its</a:t>
                      </a:r>
                      <a:endParaRPr sz="2000" u="none" cap="none" strike="noStrike">
                        <a:latin typeface="Helvetica Neue"/>
                        <a:ea typeface="Helvetica Neue"/>
                        <a:cs typeface="Helvetica Neue"/>
                        <a:sym typeface="Helvetica Neue"/>
                      </a:endParaRPr>
                    </a:p>
                    <a:p>
                      <a:pPr indent="0" lvl="0" marL="100330" marR="0" rtl="0" algn="l">
                        <a:lnSpc>
                          <a:spcPct val="11575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return values</a:t>
                      </a:r>
                      <a:endParaRPr sz="2000" u="none" cap="none" strike="noStrike">
                        <a:latin typeface="Helvetica Neue"/>
                        <a:ea typeface="Helvetica Neue"/>
                        <a:cs typeface="Helvetica Neue"/>
                        <a:sym typeface="Helvetica Neue"/>
                      </a:endParaRPr>
                    </a:p>
                  </a:txBody>
                  <a:tcPr marT="495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EBF2"/>
                    </a:solidFill>
                  </a:tcPr>
                </a:tc>
              </a:tr>
              <a:tr h="1311275">
                <a:tc>
                  <a:txBody>
                    <a:bodyPr/>
                    <a:lstStyle/>
                    <a:p>
                      <a:pPr indent="0" lvl="0" marL="100330" marR="0" rtl="0" algn="l">
                        <a:lnSpc>
                          <a:spcPct val="1000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return p5:Integer</a:t>
                      </a:r>
                      <a:endParaRPr sz="2000" u="none" cap="none" strike="noStrike">
                        <a:latin typeface="Helvetica Neue"/>
                        <a:ea typeface="Helvetica Neue"/>
                        <a:cs typeface="Helvetica Neue"/>
                        <a:sym typeface="Helvetica Neue"/>
                      </a:endParaRPr>
                    </a:p>
                  </a:txBody>
                  <a:tcPr marT="2095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c>
                  <a:txBody>
                    <a:bodyPr/>
                    <a:lstStyle/>
                    <a:p>
                      <a:pPr indent="0" lvl="0" marL="100330" marR="607695" rtl="0" algn="l">
                        <a:lnSpc>
                          <a:spcPct val="111500"/>
                        </a:lnSpc>
                        <a:spcBef>
                          <a:spcPts val="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uses p5 as a return parameter</a:t>
                      </a:r>
                      <a:endParaRPr sz="2000" u="none" cap="none" strike="noStrike">
                        <a:latin typeface="Helvetica Neue"/>
                        <a:ea typeface="Helvetica Neue"/>
                        <a:cs typeface="Helvetica Neue"/>
                        <a:sym typeface="Helvetica Neue"/>
                      </a:endParaRPr>
                    </a:p>
                    <a:p>
                      <a:pPr indent="0" lvl="0" marL="100330" marR="200025" rtl="0" algn="l">
                        <a:lnSpc>
                          <a:spcPct val="111500"/>
                        </a:lnSpc>
                        <a:spcBef>
                          <a:spcPts val="10"/>
                        </a:spcBef>
                        <a:spcAft>
                          <a:spcPts val="0"/>
                        </a:spcAft>
                        <a:buClr>
                          <a:srgbClr val="000000"/>
                        </a:buClr>
                        <a:buSzPts val="2000"/>
                        <a:buFont typeface="Arial"/>
                        <a:buNone/>
                      </a:pPr>
                      <a:r>
                        <a:rPr lang="en-US" sz="2000" u="none" cap="none" strike="noStrike">
                          <a:latin typeface="Helvetica Neue"/>
                          <a:ea typeface="Helvetica Neue"/>
                          <a:cs typeface="Helvetica Neue"/>
                          <a:sym typeface="Helvetica Neue"/>
                        </a:rPr>
                        <a:t>The operation returns p5 as one of its return values</a:t>
                      </a:r>
                      <a:endParaRPr sz="2000" u="none" cap="none" strike="noStrike">
                        <a:latin typeface="Helvetica Neue"/>
                        <a:ea typeface="Helvetica Neue"/>
                        <a:cs typeface="Helvetica Neue"/>
                        <a:sym typeface="Helvetica Neue"/>
                      </a:endParaRPr>
                    </a:p>
                  </a:txBody>
                  <a:tcPr marT="48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FD7E6"/>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1"/>
          <p:cNvSpPr txBox="1"/>
          <p:nvPr>
            <p:ph type="title"/>
          </p:nvPr>
        </p:nvSpPr>
        <p:spPr>
          <a:xfrm>
            <a:off x="591743" y="373218"/>
            <a:ext cx="4840500" cy="3975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i="0" lang="en-US" sz="2500">
                <a:latin typeface="Arial"/>
                <a:ea typeface="Arial"/>
                <a:cs typeface="Arial"/>
                <a:sym typeface="Arial"/>
              </a:rPr>
              <a:t> Parameter default values</a:t>
            </a:r>
            <a:endParaRPr sz="2500">
              <a:latin typeface="Arial"/>
              <a:ea typeface="Arial"/>
              <a:cs typeface="Arial"/>
              <a:sym typeface="Arial"/>
            </a:endParaRPr>
          </a:p>
        </p:txBody>
      </p:sp>
      <p:sp>
        <p:nvSpPr>
          <p:cNvPr id="330" name="Google Shape;330;p31"/>
          <p:cNvSpPr txBox="1"/>
          <p:nvPr/>
        </p:nvSpPr>
        <p:spPr>
          <a:xfrm>
            <a:off x="701179" y="1116256"/>
            <a:ext cx="137160" cy="786765"/>
          </a:xfrm>
          <a:prstGeom prst="rect">
            <a:avLst/>
          </a:prstGeom>
          <a:noFill/>
          <a:ln>
            <a:noFill/>
          </a:ln>
        </p:spPr>
        <p:txBody>
          <a:bodyPr anchorCtr="0" anchor="t" bIns="0" lIns="0" spcFirstLastPara="1" rIns="0" wrap="square" tIns="12700">
            <a:spAutoFit/>
          </a:bodyPr>
          <a:lstStyle/>
          <a:p>
            <a:pPr indent="0" lvl="0" marL="12700" marR="0" rtl="0" algn="l">
              <a:lnSpc>
                <a:spcPct val="119799"/>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a:p>
            <a:pPr indent="0" lvl="0" marL="12700" marR="0" rtl="0" algn="l">
              <a:lnSpc>
                <a:spcPct val="119799"/>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331" name="Google Shape;331;p31"/>
          <p:cNvSpPr txBox="1"/>
          <p:nvPr/>
        </p:nvSpPr>
        <p:spPr>
          <a:xfrm>
            <a:off x="1023734" y="1134253"/>
            <a:ext cx="7893050" cy="1167130"/>
          </a:xfrm>
          <a:prstGeom prst="rect">
            <a:avLst/>
          </a:prstGeom>
          <a:noFill/>
          <a:ln>
            <a:noFill/>
          </a:ln>
        </p:spPr>
        <p:txBody>
          <a:bodyPr anchorCtr="0" anchor="t" bIns="0" lIns="0" spcFirstLastPara="1" rIns="0" wrap="square" tIns="13325">
            <a:spAutoFit/>
          </a:bodyPr>
          <a:lstStyle/>
          <a:p>
            <a:pPr indent="0" lvl="0" marL="12700" marR="5080" rtl="0" algn="l">
              <a:lnSpc>
                <a:spcPct val="998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You can give an operation parameter a default value When the operation is called, if no value is given for that parameter, its default value will be used</a:t>
            </a:r>
            <a:endParaRPr b="0" i="0" sz="2500" u="none" cap="none" strike="noStrike">
              <a:solidFill>
                <a:schemeClr val="dk1"/>
              </a:solidFill>
              <a:latin typeface="Helvetica Neue"/>
              <a:ea typeface="Helvetica Neue"/>
              <a:cs typeface="Helvetica Neue"/>
              <a:sym typeface="Helvetica Neue"/>
            </a:endParaRPr>
          </a:p>
        </p:txBody>
      </p:sp>
      <p:sp>
        <p:nvSpPr>
          <p:cNvPr id="332" name="Google Shape;332;p31"/>
          <p:cNvSpPr txBox="1"/>
          <p:nvPr/>
        </p:nvSpPr>
        <p:spPr>
          <a:xfrm>
            <a:off x="1611363" y="2922489"/>
            <a:ext cx="6635115" cy="755650"/>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245725">
            <a:spAutoFit/>
          </a:bodyPr>
          <a:lstStyle/>
          <a:p>
            <a:pPr indent="0" lvl="0" marL="23749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Canvas</a:t>
            </a:r>
            <a:endParaRPr b="0" i="0" sz="1800" u="none" cap="none" strike="noStrike">
              <a:solidFill>
                <a:schemeClr val="dk1"/>
              </a:solidFill>
              <a:latin typeface="Arial"/>
              <a:ea typeface="Arial"/>
              <a:cs typeface="Arial"/>
              <a:sym typeface="Arial"/>
            </a:endParaRPr>
          </a:p>
        </p:txBody>
      </p:sp>
      <p:sp>
        <p:nvSpPr>
          <p:cNvPr id="333" name="Google Shape;333;p31"/>
          <p:cNvSpPr txBox="1"/>
          <p:nvPr/>
        </p:nvSpPr>
        <p:spPr>
          <a:xfrm>
            <a:off x="1611363" y="3678126"/>
            <a:ext cx="6635115" cy="1090930"/>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217800">
            <a:spAutoFit/>
          </a:bodyPr>
          <a:lstStyle/>
          <a:p>
            <a:pPr indent="0" lvl="0" marL="132080" marR="1052195"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drawCircle(origin: Point = Point(0,0), radius:Integer) drawSquare(origin:Point = Point(0,0), size:Dimension)</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2"/>
          <p:cNvSpPr txBox="1"/>
          <p:nvPr>
            <p:ph type="title"/>
          </p:nvPr>
        </p:nvSpPr>
        <p:spPr>
          <a:xfrm>
            <a:off x="719507" y="546879"/>
            <a:ext cx="8854500" cy="768900"/>
          </a:xfrm>
          <a:prstGeom prst="rect">
            <a:avLst/>
          </a:prstGeom>
          <a:noFill/>
          <a:ln>
            <a:noFill/>
          </a:ln>
        </p:spPr>
        <p:txBody>
          <a:bodyPr anchorCtr="0" anchor="ctr" bIns="0" lIns="0" spcFirstLastPara="1" rIns="0" wrap="square" tIns="90450">
            <a:spAutoFit/>
          </a:bodyPr>
          <a:lstStyle/>
          <a:p>
            <a:pPr indent="0" lvl="0" marL="276860" rtl="0" algn="l">
              <a:lnSpc>
                <a:spcPct val="100000"/>
              </a:lnSpc>
              <a:spcBef>
                <a:spcPts val="0"/>
              </a:spcBef>
              <a:spcAft>
                <a:spcPts val="0"/>
              </a:spcAft>
              <a:buClr>
                <a:schemeClr val="dk1"/>
              </a:buClr>
              <a:buSzPts val="4400"/>
              <a:buFont typeface="Arial"/>
              <a:buNone/>
            </a:pPr>
            <a:r>
              <a:rPr lang="en-US"/>
              <a:t> Advanced operation syntax</a:t>
            </a:r>
            <a:endParaRPr/>
          </a:p>
        </p:txBody>
      </p:sp>
      <p:sp>
        <p:nvSpPr>
          <p:cNvPr id="339" name="Google Shape;339;p32"/>
          <p:cNvSpPr txBox="1"/>
          <p:nvPr/>
        </p:nvSpPr>
        <p:spPr>
          <a:xfrm>
            <a:off x="196424" y="1494800"/>
            <a:ext cx="9655800" cy="5713500"/>
          </a:xfrm>
          <a:prstGeom prst="rect">
            <a:avLst/>
          </a:prstGeom>
          <a:noFill/>
          <a:ln>
            <a:noFill/>
          </a:ln>
        </p:spPr>
        <p:txBody>
          <a:bodyPr anchorCtr="0" anchor="t" bIns="0" lIns="0" spcFirstLastPara="1" rIns="0" wrap="square" tIns="12700">
            <a:spAutoFit/>
          </a:bodyPr>
          <a:lstStyle/>
          <a:p>
            <a:pPr indent="-322580" lvl="0" marL="443865" marR="5080" rtl="0" algn="l">
              <a:lnSpc>
                <a:spcPct val="100000"/>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You can extend the semantics of operations by prefixing them with stereotypes and postfixing them with tagged values</a:t>
            </a:r>
            <a:endParaRPr b="0" i="0" sz="2200" u="none" cap="none" strike="noStrike">
              <a:solidFill>
                <a:schemeClr val="dk1"/>
              </a:solidFill>
              <a:latin typeface="Helvetica Neue"/>
              <a:ea typeface="Helvetica Neue"/>
              <a:cs typeface="Helvetica Neue"/>
              <a:sym typeface="Helvetica Neue"/>
            </a:endParaRPr>
          </a:p>
          <a:p>
            <a:pPr indent="-322580" lvl="0" marL="443865" marR="0" rtl="0" algn="l">
              <a:lnSpc>
                <a:spcPct val="119545"/>
              </a:lnSpc>
              <a:spcBef>
                <a:spcPts val="0"/>
              </a:spcBef>
              <a:spcAft>
                <a:spcPts val="0"/>
              </a:spcAft>
              <a:buClr>
                <a:schemeClr val="dk1"/>
              </a:buClr>
              <a:buSzPts val="2200"/>
              <a:buFont typeface="Helvetica Neue"/>
              <a:buChar char="•"/>
            </a:pPr>
            <a:r>
              <a:rPr b="0" i="0" lang="en-US" sz="2200" u="none" cap="none" strike="noStrike">
                <a:solidFill>
                  <a:schemeClr val="dk1"/>
                </a:solidFill>
                <a:latin typeface="Helvetica Neue"/>
                <a:ea typeface="Helvetica Neue"/>
                <a:cs typeface="Helvetica Neue"/>
                <a:sym typeface="Helvetica Neue"/>
              </a:rPr>
              <a:t>«stereotype» operation(…){ tag1 = value1, tag2 = value2, …}</a:t>
            </a:r>
            <a:endParaRPr b="0" i="0" sz="22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135"/>
              </a:spcBef>
              <a:spcAft>
                <a:spcPts val="0"/>
              </a:spcAft>
              <a:buClr>
                <a:srgbClr val="000000"/>
              </a:buClr>
              <a:buSzPts val="2200"/>
              <a:buFont typeface="Arial"/>
              <a:buNone/>
            </a:pPr>
            <a:r>
              <a:t/>
            </a:r>
            <a:endParaRPr b="0" i="0" sz="2200" u="none" cap="none" strike="noStrike">
              <a:solidFill>
                <a:schemeClr val="dk1"/>
              </a:solidFill>
              <a:latin typeface="Helvetica Neue"/>
              <a:ea typeface="Helvetica Neue"/>
              <a:cs typeface="Helvetica Neue"/>
              <a:sym typeface="Helvetica Neue"/>
            </a:endParaRPr>
          </a:p>
          <a:p>
            <a:pPr indent="0" lvl="0" marL="12700" marR="0" rtl="0" algn="l">
              <a:lnSpc>
                <a:spcPct val="100000"/>
              </a:lnSpc>
              <a:spcBef>
                <a:spcPts val="5"/>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Query operations -</a:t>
            </a:r>
            <a:endParaRPr b="1" i="0" sz="2200" u="none" cap="none" strike="noStrike">
              <a:solidFill>
                <a:schemeClr val="dk1"/>
              </a:solidFill>
              <a:latin typeface="Arial"/>
              <a:ea typeface="Arial"/>
              <a:cs typeface="Arial"/>
              <a:sym typeface="Arial"/>
            </a:endParaRPr>
          </a:p>
          <a:p>
            <a:pPr indent="-368300" lvl="0" marL="457200" rtl="0" algn="l">
              <a:spcBef>
                <a:spcPts val="0"/>
              </a:spcBef>
              <a:spcAft>
                <a:spcPts val="0"/>
              </a:spcAft>
              <a:buClr>
                <a:schemeClr val="dk1"/>
              </a:buClr>
              <a:buSzPts val="2200"/>
              <a:buFont typeface="Helvetica Neue"/>
              <a:buChar char="●"/>
            </a:pPr>
            <a:r>
              <a:rPr lang="en-US" sz="2200">
                <a:solidFill>
                  <a:schemeClr val="dk1"/>
                </a:solidFill>
                <a:latin typeface="Helvetica Neue"/>
                <a:ea typeface="Helvetica Neue"/>
                <a:cs typeface="Helvetica Neue"/>
                <a:sym typeface="Helvetica Neue"/>
              </a:rPr>
              <a:t>Each operation has a property called isQuery</a:t>
            </a:r>
            <a:endParaRPr sz="2200">
              <a:solidFill>
                <a:schemeClr val="dk1"/>
              </a:solidFill>
              <a:latin typeface="Helvetica Neue"/>
              <a:ea typeface="Helvetica Neue"/>
              <a:cs typeface="Helvetica Neue"/>
              <a:sym typeface="Helvetica Neue"/>
            </a:endParaRPr>
          </a:p>
          <a:p>
            <a:pPr indent="-368300" lvl="0" marL="457200" marR="5080" rtl="0" algn="l">
              <a:lnSpc>
                <a:spcPct val="119545"/>
              </a:lnSpc>
              <a:spcBef>
                <a:spcPts val="0"/>
              </a:spcBef>
              <a:spcAft>
                <a:spcPts val="0"/>
              </a:spcAft>
              <a:buClr>
                <a:schemeClr val="dk1"/>
              </a:buClr>
              <a:buSzPts val="2200"/>
              <a:buFont typeface="Helvetica Neue"/>
              <a:buChar char="●"/>
            </a:pPr>
            <a:r>
              <a:rPr lang="en-US" sz="2200">
                <a:solidFill>
                  <a:schemeClr val="dk1"/>
                </a:solidFill>
                <a:latin typeface="Helvetica Neue"/>
                <a:ea typeface="Helvetica Neue"/>
                <a:cs typeface="Helvetica Neue"/>
                <a:sym typeface="Helvetica Neue"/>
              </a:rPr>
              <a:t>If you set this property to true in your modeling tool, the operation is a query operation</a:t>
            </a:r>
            <a:endParaRPr sz="2200">
              <a:solidFill>
                <a:schemeClr val="dk1"/>
              </a:solidFill>
              <a:latin typeface="Helvetica Neue"/>
              <a:ea typeface="Helvetica Neue"/>
              <a:cs typeface="Helvetica Neue"/>
              <a:sym typeface="Helvetica Neue"/>
            </a:endParaRPr>
          </a:p>
          <a:p>
            <a:pPr indent="-368300" lvl="0" marL="457200" marR="3811270" rtl="0" algn="l">
              <a:lnSpc>
                <a:spcPct val="119545"/>
              </a:lnSpc>
              <a:spcBef>
                <a:spcPts val="0"/>
              </a:spcBef>
              <a:spcAft>
                <a:spcPts val="0"/>
              </a:spcAft>
              <a:buClr>
                <a:schemeClr val="dk1"/>
              </a:buClr>
              <a:buSzPts val="2200"/>
              <a:buFont typeface="Helvetica Neue"/>
              <a:buChar char="●"/>
            </a:pPr>
            <a:r>
              <a:rPr lang="en-US" sz="2200">
                <a:solidFill>
                  <a:schemeClr val="dk1"/>
                </a:solidFill>
                <a:latin typeface="Helvetica Neue"/>
                <a:ea typeface="Helvetica Neue"/>
                <a:cs typeface="Helvetica Neue"/>
                <a:sym typeface="Helvetica Neue"/>
              </a:rPr>
              <a:t>The default value for isQuery is false </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rPr lang="en-US" sz="2200">
                <a:solidFill>
                  <a:schemeClr val="dk1"/>
                </a:solidFill>
                <a:latin typeface="Helvetica Neue"/>
                <a:ea typeface="Helvetica Neue"/>
                <a:cs typeface="Helvetica Neue"/>
                <a:sym typeface="Helvetica Neue"/>
              </a:rPr>
              <a:t>Example</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t/>
            </a:r>
            <a:endParaRPr sz="2200">
              <a:solidFill>
                <a:schemeClr val="dk1"/>
              </a:solidFill>
              <a:latin typeface="Helvetica Neue"/>
              <a:ea typeface="Helvetica Neue"/>
              <a:cs typeface="Helvetica Neue"/>
              <a:sym typeface="Helvetica Neue"/>
            </a:endParaRPr>
          </a:p>
          <a:p>
            <a:pPr indent="0" lvl="0" marL="12700" marR="3811270" rtl="0" algn="l">
              <a:lnSpc>
                <a:spcPct val="119545"/>
              </a:lnSpc>
              <a:spcBef>
                <a:spcPts val="10"/>
              </a:spcBef>
              <a:spcAft>
                <a:spcPts val="0"/>
              </a:spcAft>
              <a:buClr>
                <a:schemeClr val="dk1"/>
              </a:buClr>
              <a:buSzPts val="2200"/>
              <a:buFont typeface="Arial"/>
              <a:buNone/>
            </a:pPr>
            <a:r>
              <a:rPr lang="en-US" sz="2200">
                <a:solidFill>
                  <a:schemeClr val="dk1"/>
                </a:solidFill>
                <a:latin typeface="Helvetica Neue"/>
                <a:ea typeface="Helvetica Neue"/>
                <a:cs typeface="Helvetica Neue"/>
                <a:sym typeface="Helvetica Neue"/>
              </a:rPr>
              <a:t>«query» getBalance() : Double { isQuery=true }</a:t>
            </a:r>
            <a:endParaRPr b="1" sz="2200">
              <a:solidFill>
                <a:schemeClr val="dk1"/>
              </a:solidFill>
            </a:endParaRPr>
          </a:p>
        </p:txBody>
      </p:sp>
      <p:sp>
        <p:nvSpPr>
          <p:cNvPr id="340" name="Google Shape;340;p32"/>
          <p:cNvSpPr/>
          <p:nvPr/>
        </p:nvSpPr>
        <p:spPr>
          <a:xfrm>
            <a:off x="3024365" y="5913364"/>
            <a:ext cx="2854960" cy="502920"/>
          </a:xfrm>
          <a:custGeom>
            <a:rect b="b" l="l" r="r" t="t"/>
            <a:pathLst>
              <a:path extrusionOk="0" h="502920" w="2854960">
                <a:moveTo>
                  <a:pt x="1427391" y="502564"/>
                </a:moveTo>
                <a:lnTo>
                  <a:pt x="0" y="502564"/>
                </a:lnTo>
                <a:lnTo>
                  <a:pt x="0" y="0"/>
                </a:lnTo>
                <a:lnTo>
                  <a:pt x="2854794" y="0"/>
                </a:lnTo>
                <a:lnTo>
                  <a:pt x="2854794" y="502564"/>
                </a:lnTo>
                <a:lnTo>
                  <a:pt x="1427391" y="502564"/>
                </a:lnTo>
                <a:close/>
              </a:path>
            </a:pathLst>
          </a:custGeom>
          <a:noFill/>
          <a:ln cap="flat" cmpd="sng" w="255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32"/>
          <p:cNvSpPr txBox="1"/>
          <p:nvPr/>
        </p:nvSpPr>
        <p:spPr>
          <a:xfrm>
            <a:off x="3024365" y="4907880"/>
            <a:ext cx="2855100" cy="504300"/>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49525">
            <a:spAutoFit/>
          </a:bodyPr>
          <a:lstStyle/>
          <a:p>
            <a:pPr indent="0" lvl="0" marL="649605"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BankAccount</a:t>
            </a:r>
            <a:endParaRPr b="0" i="0" sz="1800" u="none" cap="none" strike="noStrike">
              <a:solidFill>
                <a:schemeClr val="dk1"/>
              </a:solidFill>
              <a:latin typeface="Arial"/>
              <a:ea typeface="Arial"/>
              <a:cs typeface="Arial"/>
              <a:sym typeface="Arial"/>
            </a:endParaRPr>
          </a:p>
        </p:txBody>
      </p:sp>
      <p:sp>
        <p:nvSpPr>
          <p:cNvPr id="342" name="Google Shape;342;p32"/>
          <p:cNvSpPr txBox="1"/>
          <p:nvPr/>
        </p:nvSpPr>
        <p:spPr>
          <a:xfrm>
            <a:off x="3024365" y="5411523"/>
            <a:ext cx="2854960" cy="502284"/>
          </a:xfrm>
          <a:prstGeom prst="rect">
            <a:avLst/>
          </a:prstGeom>
          <a:noFill/>
          <a:ln cap="flat" cmpd="sng" w="25550">
            <a:solidFill>
              <a:srgbClr val="000000"/>
            </a:solidFill>
            <a:prstDash val="solid"/>
            <a:round/>
            <a:headEnd len="sm" w="sm" type="none"/>
            <a:tailEnd len="sm" w="sm" type="none"/>
          </a:ln>
        </p:spPr>
        <p:txBody>
          <a:bodyPr anchorCtr="0" anchor="t" bIns="0" lIns="0" spcFirstLastPara="1" rIns="0" wrap="square" tIns="48875">
            <a:spAutoFit/>
          </a:bodyPr>
          <a:lstStyle/>
          <a:p>
            <a:pPr indent="0" lvl="0" marL="194945"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balance: double</a:t>
            </a:r>
            <a:endParaRPr b="0" i="0" sz="1800" u="none" cap="none" strike="noStrike">
              <a:solidFill>
                <a:schemeClr val="dk1"/>
              </a:solidFill>
              <a:latin typeface="Helvetica Neue"/>
              <a:ea typeface="Helvetica Neue"/>
              <a:cs typeface="Helvetica Neue"/>
              <a:sym typeface="Helvetica Neue"/>
            </a:endParaRPr>
          </a:p>
        </p:txBody>
      </p:sp>
      <p:sp>
        <p:nvSpPr>
          <p:cNvPr id="343" name="Google Shape;343;p32"/>
          <p:cNvSpPr txBox="1"/>
          <p:nvPr/>
        </p:nvSpPr>
        <p:spPr>
          <a:xfrm>
            <a:off x="3239897" y="5952506"/>
            <a:ext cx="219329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getBalance() : double</a:t>
            </a:r>
            <a:endParaRPr b="0" i="0" sz="1800" u="none" cap="none" strike="noStrike">
              <a:solidFill>
                <a:schemeClr val="dk1"/>
              </a:solidFill>
              <a:latin typeface="Helvetica Neue"/>
              <a:ea typeface="Helvetica Neue"/>
              <a:cs typeface="Helvetica Neue"/>
              <a:sym typeface="Helvetica Neue"/>
            </a:endParaRPr>
          </a:p>
        </p:txBody>
      </p:sp>
      <p:grpSp>
        <p:nvGrpSpPr>
          <p:cNvPr id="344" name="Google Shape;344;p32"/>
          <p:cNvGrpSpPr/>
          <p:nvPr/>
        </p:nvGrpSpPr>
        <p:grpSpPr>
          <a:xfrm>
            <a:off x="2266556" y="6123600"/>
            <a:ext cx="923188" cy="88201"/>
            <a:chOff x="2266556" y="6123600"/>
            <a:chExt cx="923188" cy="88201"/>
          </a:xfrm>
        </p:grpSpPr>
        <p:sp>
          <p:nvSpPr>
            <p:cNvPr id="345" name="Google Shape;345;p32"/>
            <p:cNvSpPr/>
            <p:nvPr/>
          </p:nvSpPr>
          <p:spPr>
            <a:xfrm>
              <a:off x="2349004" y="6167161"/>
              <a:ext cx="840740" cy="1270"/>
            </a:xfrm>
            <a:custGeom>
              <a:rect b="b" l="l" r="r" t="t"/>
              <a:pathLst>
                <a:path extrusionOk="0" h="1270" w="840739">
                  <a:moveTo>
                    <a:pt x="840600" y="0"/>
                  </a:moveTo>
                  <a:lnTo>
                    <a:pt x="0" y="723"/>
                  </a:lnTo>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46" name="Google Shape;346;p32"/>
            <p:cNvPicPr preferRelativeResize="0"/>
            <p:nvPr/>
          </p:nvPicPr>
          <p:blipFill rotWithShape="1">
            <a:blip r:embed="rId3">
              <a:alphaModFix/>
            </a:blip>
            <a:srcRect b="0" l="0" r="0" t="0"/>
            <a:stretch/>
          </p:blipFill>
          <p:spPr>
            <a:xfrm>
              <a:off x="2266556" y="6123600"/>
              <a:ext cx="88201" cy="88201"/>
            </a:xfrm>
            <a:prstGeom prst="rect">
              <a:avLst/>
            </a:prstGeom>
            <a:noFill/>
            <a:ln>
              <a:noFill/>
            </a:ln>
          </p:spPr>
        </p:pic>
      </p:grpSp>
      <p:sp>
        <p:nvSpPr>
          <p:cNvPr id="347" name="Google Shape;347;p32"/>
          <p:cNvSpPr txBox="1"/>
          <p:nvPr/>
        </p:nvSpPr>
        <p:spPr>
          <a:xfrm>
            <a:off x="372135" y="5952506"/>
            <a:ext cx="166116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Query operation</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3"/>
          <p:cNvSpPr txBox="1"/>
          <p:nvPr>
            <p:ph type="title"/>
          </p:nvPr>
        </p:nvSpPr>
        <p:spPr>
          <a:xfrm>
            <a:off x="701168" y="990257"/>
            <a:ext cx="4452000" cy="44370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2500"/>
              <a:buFont typeface="Arial"/>
              <a:buNone/>
            </a:pPr>
            <a:r>
              <a:rPr i="0" lang="en-US" sz="2800">
                <a:latin typeface="Arial"/>
                <a:ea typeface="Arial"/>
                <a:cs typeface="Arial"/>
                <a:sym typeface="Arial"/>
              </a:rPr>
              <a:t> Class stereotype syntax</a:t>
            </a:r>
            <a:endParaRPr sz="2800">
              <a:latin typeface="Arial"/>
              <a:ea typeface="Arial"/>
              <a:cs typeface="Arial"/>
              <a:sym typeface="Arial"/>
            </a:endParaRPr>
          </a:p>
        </p:txBody>
      </p:sp>
      <p:sp>
        <p:nvSpPr>
          <p:cNvPr id="353" name="Google Shape;353;p33"/>
          <p:cNvSpPr txBox="1"/>
          <p:nvPr/>
        </p:nvSpPr>
        <p:spPr>
          <a:xfrm>
            <a:off x="701179" y="2420534"/>
            <a:ext cx="137160" cy="4070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a:t>
            </a:r>
            <a:endParaRPr b="0" i="0" sz="2500" u="none" cap="none" strike="noStrike">
              <a:solidFill>
                <a:schemeClr val="dk1"/>
              </a:solidFill>
              <a:latin typeface="Helvetica Neue"/>
              <a:ea typeface="Helvetica Neue"/>
              <a:cs typeface="Helvetica Neue"/>
              <a:sym typeface="Helvetica Neue"/>
            </a:endParaRPr>
          </a:p>
        </p:txBody>
      </p:sp>
      <p:sp>
        <p:nvSpPr>
          <p:cNvPr id="354" name="Google Shape;354;p33"/>
          <p:cNvSpPr txBox="1"/>
          <p:nvPr/>
        </p:nvSpPr>
        <p:spPr>
          <a:xfrm>
            <a:off x="701175" y="1677500"/>
            <a:ext cx="9019200" cy="1640700"/>
          </a:xfrm>
          <a:prstGeom prst="rect">
            <a:avLst/>
          </a:prstGeom>
          <a:noFill/>
          <a:ln>
            <a:noFill/>
          </a:ln>
        </p:spPr>
        <p:txBody>
          <a:bodyPr anchorCtr="0" anchor="t" bIns="0" lIns="0" spcFirstLastPara="1" rIns="0" wrap="square" tIns="12700">
            <a:spAutoFit/>
          </a:bodyPr>
          <a:lstStyle/>
          <a:p>
            <a:pPr indent="-322580" lvl="0" marL="334645" marR="691515" rtl="0" algn="l">
              <a:lnSpc>
                <a:spcPct val="100000"/>
              </a:lnSpc>
              <a:spcBef>
                <a:spcPts val="0"/>
              </a:spcBef>
              <a:spcAft>
                <a:spcPts val="0"/>
              </a:spcAft>
              <a:buClr>
                <a:schemeClr val="dk1"/>
              </a:buClr>
              <a:buSzPts val="2500"/>
              <a:buFont typeface="Helvetica Neue"/>
              <a:buChar char="•"/>
            </a:pPr>
            <a:r>
              <a:rPr b="0" i="0" lang="en-US" sz="2500" u="none" cap="none" strike="noStrike">
                <a:solidFill>
                  <a:schemeClr val="dk1"/>
                </a:solidFill>
                <a:latin typeface="Helvetica Neue"/>
                <a:ea typeface="Helvetica Neue"/>
                <a:cs typeface="Helvetica Neue"/>
                <a:sym typeface="Helvetica Neue"/>
              </a:rPr>
              <a:t>There is a lot of flexibility in how stereotypes can be displayed</a:t>
            </a:r>
            <a:endParaRPr b="0" i="0" sz="2500" u="none" cap="none" strike="noStrike">
              <a:solidFill>
                <a:schemeClr val="dk1"/>
              </a:solidFill>
              <a:latin typeface="Helvetica Neue"/>
              <a:ea typeface="Helvetica Neue"/>
              <a:cs typeface="Helvetica Neue"/>
              <a:sym typeface="Helvetica Neue"/>
            </a:endParaRPr>
          </a:p>
          <a:p>
            <a:pPr indent="165735" lvl="0" marL="168910" marR="5080" rtl="0" algn="l">
              <a:lnSpc>
                <a:spcPct val="120000"/>
              </a:lnSpc>
              <a:spcBef>
                <a:spcPts val="90"/>
              </a:spcBef>
              <a:spcAft>
                <a:spcPts val="0"/>
              </a:spcAft>
              <a:buClr>
                <a:srgbClr val="000000"/>
              </a:buClr>
              <a:buSzPts val="2500"/>
              <a:buFont typeface="Arial"/>
              <a:buNone/>
            </a:pPr>
            <a:r>
              <a:rPr b="0" i="0" lang="en-US" sz="2500" u="none" cap="none" strike="noStrike">
                <a:solidFill>
                  <a:schemeClr val="dk1"/>
                </a:solidFill>
                <a:latin typeface="Helvetica Neue"/>
                <a:ea typeface="Helvetica Neue"/>
                <a:cs typeface="Helvetica Neue"/>
                <a:sym typeface="Helvetica Neue"/>
              </a:rPr>
              <a:t>However, most </a:t>
            </a:r>
            <a:r>
              <a:rPr lang="en-US" sz="2500">
                <a:solidFill>
                  <a:schemeClr val="dk1"/>
                </a:solidFill>
                <a:latin typeface="Helvetica Neue"/>
                <a:ea typeface="Helvetica Neue"/>
                <a:cs typeface="Helvetica Neue"/>
                <a:sym typeface="Helvetica Neue"/>
              </a:rPr>
              <a:t>modellers</a:t>
            </a:r>
            <a:r>
              <a:rPr b="0" i="0" lang="en-US" sz="2500" u="none" cap="none" strike="noStrike">
                <a:solidFill>
                  <a:schemeClr val="dk1"/>
                </a:solidFill>
                <a:latin typeface="Helvetica Neue"/>
                <a:ea typeface="Helvetica Neue"/>
                <a:cs typeface="Helvetica Neue"/>
                <a:sym typeface="Helvetica Neue"/>
              </a:rPr>
              <a:t> just use the name in guillemots («stereotypeName») or the icon</a:t>
            </a:r>
            <a:endParaRPr b="0" i="0" sz="2500" u="none" cap="none" strike="noStrike">
              <a:solidFill>
                <a:schemeClr val="dk1"/>
              </a:solidFill>
              <a:latin typeface="Helvetica Neue"/>
              <a:ea typeface="Helvetica Neue"/>
              <a:cs typeface="Helvetica Neue"/>
              <a:sym typeface="Helvetica Neue"/>
            </a:endParaRPr>
          </a:p>
        </p:txBody>
      </p:sp>
      <p:pic>
        <p:nvPicPr>
          <p:cNvPr id="355" name="Google Shape;355;p33"/>
          <p:cNvPicPr preferRelativeResize="0"/>
          <p:nvPr/>
        </p:nvPicPr>
        <p:blipFill rotWithShape="1">
          <a:blip r:embed="rId3">
            <a:alphaModFix/>
          </a:blip>
          <a:srcRect b="0" l="0" r="0" t="0"/>
          <a:stretch/>
        </p:blipFill>
        <p:spPr>
          <a:xfrm>
            <a:off x="360718" y="3322450"/>
            <a:ext cx="9478797" cy="327527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8889c9bdd3_0_0"/>
          <p:cNvSpPr txBox="1"/>
          <p:nvPr>
            <p:ph type="title"/>
          </p:nvPr>
        </p:nvSpPr>
        <p:spPr>
          <a:xfrm>
            <a:off x="719507" y="546879"/>
            <a:ext cx="8854500" cy="768900"/>
          </a:xfrm>
          <a:prstGeom prst="rect">
            <a:avLst/>
          </a:prstGeom>
          <a:noFill/>
          <a:ln>
            <a:noFill/>
          </a:ln>
        </p:spPr>
        <p:txBody>
          <a:bodyPr anchorCtr="0" anchor="ctr" bIns="0" lIns="0" spcFirstLastPara="1" rIns="0" wrap="square" tIns="90450">
            <a:spAutoFit/>
          </a:bodyPr>
          <a:lstStyle/>
          <a:p>
            <a:pPr indent="0" lvl="0" marL="276860" rtl="0" algn="l">
              <a:lnSpc>
                <a:spcPct val="100000"/>
              </a:lnSpc>
              <a:spcBef>
                <a:spcPts val="0"/>
              </a:spcBef>
              <a:spcAft>
                <a:spcPts val="0"/>
              </a:spcAft>
              <a:buClr>
                <a:schemeClr val="dk1"/>
              </a:buClr>
              <a:buSzPts val="4400"/>
              <a:buFont typeface="Arial"/>
              <a:buNone/>
            </a:pPr>
            <a:r>
              <a:rPr lang="en-US"/>
              <a:t>Instance scope and class scope</a:t>
            </a:r>
            <a:endParaRPr/>
          </a:p>
        </p:txBody>
      </p:sp>
      <p:pic>
        <p:nvPicPr>
          <p:cNvPr id="361" name="Google Shape;361;g38889c9bdd3_0_0"/>
          <p:cNvPicPr preferRelativeResize="0"/>
          <p:nvPr/>
        </p:nvPicPr>
        <p:blipFill rotWithShape="1">
          <a:blip r:embed="rId3">
            <a:alphaModFix/>
          </a:blip>
          <a:srcRect b="0" l="0" r="0" t="0"/>
          <a:stretch/>
        </p:blipFill>
        <p:spPr>
          <a:xfrm>
            <a:off x="2079700" y="5124451"/>
            <a:ext cx="6682224" cy="2438400"/>
          </a:xfrm>
          <a:prstGeom prst="rect">
            <a:avLst/>
          </a:prstGeom>
          <a:noFill/>
          <a:ln>
            <a:noFill/>
          </a:ln>
        </p:spPr>
      </p:pic>
      <p:pic>
        <p:nvPicPr>
          <p:cNvPr id="362" name="Google Shape;362;g38889c9bdd3_0_0"/>
          <p:cNvPicPr preferRelativeResize="0"/>
          <p:nvPr/>
        </p:nvPicPr>
        <p:blipFill rotWithShape="1">
          <a:blip r:embed="rId4">
            <a:alphaModFix/>
          </a:blip>
          <a:srcRect b="0" l="0" r="0" t="0"/>
          <a:stretch/>
        </p:blipFill>
        <p:spPr>
          <a:xfrm>
            <a:off x="552450" y="1490275"/>
            <a:ext cx="9176276" cy="3892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8889c9bdd3_0_17"/>
          <p:cNvSpPr txBox="1"/>
          <p:nvPr>
            <p:ph type="title"/>
          </p:nvPr>
        </p:nvSpPr>
        <p:spPr>
          <a:xfrm>
            <a:off x="280575" y="489725"/>
            <a:ext cx="9224700" cy="768900"/>
          </a:xfrm>
          <a:prstGeom prst="rect">
            <a:avLst/>
          </a:prstGeom>
          <a:noFill/>
          <a:ln>
            <a:noFill/>
          </a:ln>
        </p:spPr>
        <p:txBody>
          <a:bodyPr anchorCtr="0" anchor="ctr" bIns="0" lIns="0" spcFirstLastPara="1" rIns="0" wrap="square" tIns="90450">
            <a:spAutoFit/>
          </a:bodyPr>
          <a:lstStyle/>
          <a:p>
            <a:pPr indent="0" lvl="0" marL="276860" rtl="0" algn="l">
              <a:lnSpc>
                <a:spcPct val="100000"/>
              </a:lnSpc>
              <a:spcBef>
                <a:spcPts val="0"/>
              </a:spcBef>
              <a:spcAft>
                <a:spcPts val="0"/>
              </a:spcAft>
              <a:buClr>
                <a:schemeClr val="dk1"/>
              </a:buClr>
              <a:buSzPts val="4400"/>
              <a:buFont typeface="Arial"/>
              <a:buNone/>
            </a:pPr>
            <a:r>
              <a:rPr lang="en-US"/>
              <a:t>Object construction and destruction</a:t>
            </a:r>
            <a:endParaRPr/>
          </a:p>
        </p:txBody>
      </p:sp>
      <p:sp>
        <p:nvSpPr>
          <p:cNvPr id="368" name="Google Shape;368;g38889c9bdd3_0_17"/>
          <p:cNvSpPr txBox="1"/>
          <p:nvPr/>
        </p:nvSpPr>
        <p:spPr>
          <a:xfrm>
            <a:off x="354700" y="1362875"/>
            <a:ext cx="9150600" cy="22614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5"/>
              </a:spcBef>
              <a:spcAft>
                <a:spcPts val="0"/>
              </a:spcAft>
              <a:buClr>
                <a:srgbClr val="000000"/>
              </a:buClr>
              <a:buSzPts val="3000"/>
              <a:buFont typeface="Arial"/>
              <a:buNone/>
            </a:pPr>
            <a:r>
              <a:rPr b="1" i="0" lang="en-US" sz="2600" u="none" cap="none" strike="noStrike">
                <a:solidFill>
                  <a:schemeClr val="dk1"/>
                </a:solidFill>
                <a:latin typeface="Helvetica Neue"/>
                <a:ea typeface="Helvetica Neue"/>
                <a:cs typeface="Helvetica Neue"/>
                <a:sym typeface="Helvetica Neue"/>
              </a:rPr>
              <a:t>Constructors :  </a:t>
            </a:r>
            <a:r>
              <a:rPr b="0" i="0" lang="en-US" sz="2400" u="none" cap="none" strike="noStrike">
                <a:solidFill>
                  <a:schemeClr val="dk1"/>
                </a:solidFill>
                <a:latin typeface="Helvetica Neue"/>
                <a:ea typeface="Helvetica Neue"/>
                <a:cs typeface="Helvetica Neue"/>
                <a:sym typeface="Helvetica Neue"/>
              </a:rPr>
              <a:t>Constructors are special methods used to create and initialize objects of a class.</a:t>
            </a:r>
            <a:endParaRPr b="0" i="0" sz="24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5"/>
              </a:spcBef>
              <a:spcAft>
                <a:spcPts val="0"/>
              </a:spcAft>
              <a:buClr>
                <a:srgbClr val="000000"/>
              </a:buClr>
              <a:buSzPts val="2800"/>
              <a:buFont typeface="Arial"/>
              <a:buNone/>
            </a:pPr>
            <a:r>
              <a:rPr b="0" i="0" lang="en-US" sz="2400" u="none" cap="none" strike="noStrike">
                <a:solidFill>
                  <a:schemeClr val="dk1"/>
                </a:solidFill>
                <a:latin typeface="Helvetica Neue"/>
                <a:ea typeface="Helvetica Neue"/>
                <a:cs typeface="Helvetica Neue"/>
                <a:sym typeface="Helvetica Neue"/>
              </a:rPr>
              <a:t>They have class scope, because you need to call them even before an object exists.</a:t>
            </a:r>
            <a:endParaRPr b="0" i="0" sz="24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5"/>
              </a:spcBef>
              <a:spcAft>
                <a:spcPts val="0"/>
              </a:spcAft>
              <a:buClr>
                <a:srgbClr val="000000"/>
              </a:buClr>
              <a:buSzPts val="2800"/>
              <a:buFont typeface="Arial"/>
              <a:buNone/>
            </a:pPr>
            <a:r>
              <a:rPr b="1" i="0" lang="en-US" sz="2400" u="none" cap="none" strike="noStrike">
                <a:solidFill>
                  <a:schemeClr val="dk1"/>
                </a:solidFill>
                <a:latin typeface="Helvetica Neue"/>
                <a:ea typeface="Helvetica Neue"/>
                <a:cs typeface="Helvetica Neue"/>
                <a:sym typeface="Helvetica Neue"/>
              </a:rPr>
              <a:t>Destructor </a:t>
            </a:r>
            <a:r>
              <a:rPr b="0" i="0" lang="en-US" sz="2400" u="none" cap="none" strike="noStrike">
                <a:solidFill>
                  <a:schemeClr val="dk1"/>
                </a:solidFill>
                <a:latin typeface="Helvetica Neue"/>
                <a:ea typeface="Helvetica Neue"/>
                <a:cs typeface="Helvetica Neue"/>
                <a:sym typeface="Helvetica Neue"/>
              </a:rPr>
              <a:t>:  Destructors are special methods used to clean up resources when an object is destroyed.</a:t>
            </a:r>
            <a:endParaRPr b="0" i="0" sz="2400" u="none" cap="none" strike="noStrike">
              <a:solidFill>
                <a:schemeClr val="dk1"/>
              </a:solidFill>
              <a:latin typeface="Helvetica Neue"/>
              <a:ea typeface="Helvetica Neue"/>
              <a:cs typeface="Helvetica Neue"/>
              <a:sym typeface="Helvetica Neue"/>
            </a:endParaRPr>
          </a:p>
        </p:txBody>
      </p:sp>
      <p:pic>
        <p:nvPicPr>
          <p:cNvPr id="369" name="Google Shape;369;g38889c9bdd3_0_17"/>
          <p:cNvPicPr preferRelativeResize="0"/>
          <p:nvPr/>
        </p:nvPicPr>
        <p:blipFill>
          <a:blip r:embed="rId3">
            <a:alphaModFix/>
          </a:blip>
          <a:stretch>
            <a:fillRect/>
          </a:stretch>
        </p:blipFill>
        <p:spPr>
          <a:xfrm>
            <a:off x="973175" y="3624275"/>
            <a:ext cx="7219950" cy="1657350"/>
          </a:xfrm>
          <a:prstGeom prst="rect">
            <a:avLst/>
          </a:prstGeom>
          <a:noFill/>
          <a:ln>
            <a:noFill/>
          </a:ln>
        </p:spPr>
      </p:pic>
      <p:pic>
        <p:nvPicPr>
          <p:cNvPr id="370" name="Google Shape;370;g38889c9bdd3_0_17"/>
          <p:cNvPicPr preferRelativeResize="0"/>
          <p:nvPr/>
        </p:nvPicPr>
        <p:blipFill>
          <a:blip r:embed="rId4">
            <a:alphaModFix/>
          </a:blip>
          <a:stretch>
            <a:fillRect/>
          </a:stretch>
        </p:blipFill>
        <p:spPr>
          <a:xfrm>
            <a:off x="2863875" y="5281625"/>
            <a:ext cx="2558601" cy="1967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faa4c9145b_0_0"/>
          <p:cNvSpPr txBox="1"/>
          <p:nvPr>
            <p:ph type="title"/>
          </p:nvPr>
        </p:nvSpPr>
        <p:spPr>
          <a:xfrm>
            <a:off x="719507" y="301446"/>
            <a:ext cx="8854500" cy="1259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Example - ATM</a:t>
            </a:r>
            <a:endParaRPr/>
          </a:p>
        </p:txBody>
      </p:sp>
      <p:pic>
        <p:nvPicPr>
          <p:cNvPr id="377" name="Google Shape;377;g3faa4c9145b_0_0"/>
          <p:cNvPicPr preferRelativeResize="0"/>
          <p:nvPr/>
        </p:nvPicPr>
        <p:blipFill>
          <a:blip r:embed="rId3">
            <a:alphaModFix/>
          </a:blip>
          <a:stretch>
            <a:fillRect/>
          </a:stretch>
        </p:blipFill>
        <p:spPr>
          <a:xfrm>
            <a:off x="152400" y="1478746"/>
            <a:ext cx="9580011" cy="569720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faa4c9145b_0_7"/>
          <p:cNvSpPr txBox="1"/>
          <p:nvPr>
            <p:ph type="title"/>
          </p:nvPr>
        </p:nvSpPr>
        <p:spPr>
          <a:xfrm>
            <a:off x="719507" y="301446"/>
            <a:ext cx="8854500" cy="1259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Example -  Online Food Delivery</a:t>
            </a:r>
            <a:endParaRPr/>
          </a:p>
        </p:txBody>
      </p:sp>
      <p:pic>
        <p:nvPicPr>
          <p:cNvPr id="384" name="Google Shape;384;g3faa4c9145b_0_7"/>
          <p:cNvPicPr preferRelativeResize="0"/>
          <p:nvPr/>
        </p:nvPicPr>
        <p:blipFill>
          <a:blip r:embed="rId3">
            <a:alphaModFix/>
          </a:blip>
          <a:stretch>
            <a:fillRect/>
          </a:stretch>
        </p:blipFill>
        <p:spPr>
          <a:xfrm>
            <a:off x="213975" y="1464100"/>
            <a:ext cx="9655851" cy="57145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txBox="1"/>
          <p:nvPr/>
        </p:nvSpPr>
        <p:spPr>
          <a:xfrm>
            <a:off x="1460500" y="2333625"/>
            <a:ext cx="6457200" cy="1305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0"/>
              <a:buFont typeface="Arial"/>
              <a:buNone/>
            </a:pPr>
            <a:r>
              <a:rPr i="0" lang="en-US" sz="8400" u="none" cap="none" strike="noStrike">
                <a:solidFill>
                  <a:srgbClr val="CC0000"/>
                </a:solidFill>
              </a:rPr>
              <a:t>THANK YOU</a:t>
            </a:r>
            <a:endParaRPr i="0" sz="8400" u="none" cap="none" strike="noStrike">
              <a:solidFill>
                <a:srgbClr val="CC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2025-08-05T13:36:42Z</dcterms:created>
  <dc:creator>Rachana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2023-08-05T00:00:00Z</vt:filetime>
  </property>
  <property fmtid="{D5CDD505-2E9C-101B-9397-08002B2CF9AE}" pid="3" name="Creator">
    <vt:lpwstr>Impress</vt:lpwstr>
  </property>
  <property fmtid="{D5CDD505-2E9C-101B-9397-08002B2CF9AE}" pid="4" name="Producer">
    <vt:lpwstr>LibreOffice 6.4</vt:lpwstr>
  </property>
  <property fmtid="{D5CDD505-2E9C-101B-9397-08002B2CF9AE}" pid="5" name="LastSaved">
    <vt:filetime>2023-08-05T00:00:00Z</vt:filetime>
  </property>
</Properties>
</file>