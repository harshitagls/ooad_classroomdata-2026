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+ItuRLUkGdrgolX4j2iV2NtN5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2a0a3abf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f82a0a3abf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2a0a3abf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f82a0a3abf_0_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2a0a3abf_0_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f82a0a3abf_0_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2a0a3abf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f82a0a3abf_0_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2a0a3abf_0_2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f82a0a3abf_0_2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2a0a3abf_0_2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f82a0a3abf_0_2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2a0a3abf_0_18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82a0a3abf_0_18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82a0a3abf_0_18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2a0a3abf_0_19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2a0a3abf_0_19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2a0a3abf_0_19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2a0a3abf_0_19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82a0a3abf_0_19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82a0a3abf_0_19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2a0a3abf_0_20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82a0a3abf_0_20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82a0a3abf_0_20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7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6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1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2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2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4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5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5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85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5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6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6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6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7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7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8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8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9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9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9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9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0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90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0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0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90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0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8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1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2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2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4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5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5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5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95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6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96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6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7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7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8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98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9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99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99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99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0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00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00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00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00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00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5"/>
          <p:cNvSpPr txBox="1"/>
          <p:nvPr>
            <p:ph type="title"/>
          </p:nvPr>
        </p:nvSpPr>
        <p:spPr>
          <a:xfrm>
            <a:off x="502920" y="301320"/>
            <a:ext cx="9070920" cy="126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5"/>
          <p:cNvSpPr txBox="1"/>
          <p:nvPr>
            <p:ph idx="1" type="body"/>
          </p:nvPr>
        </p:nvSpPr>
        <p:spPr>
          <a:xfrm>
            <a:off x="502920" y="1768320"/>
            <a:ext cx="9070920" cy="438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2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79160" y="1777680"/>
            <a:ext cx="4704840" cy="38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7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7"/>
          <p:cNvSpPr/>
          <p:nvPr/>
        </p:nvSpPr>
        <p:spPr>
          <a:xfrm>
            <a:off x="-19440" y="-12600"/>
            <a:ext cx="203544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7"/>
          <p:cNvSpPr/>
          <p:nvPr/>
        </p:nvSpPr>
        <p:spPr>
          <a:xfrm>
            <a:off x="5413829" y="7273440"/>
            <a:ext cx="4388059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77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8" name="Google Shape;6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4275" y="0"/>
            <a:ext cx="2318476" cy="7739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/>
          <p:nvPr/>
        </p:nvSpPr>
        <p:spPr>
          <a:xfrm>
            <a:off x="385920" y="301680"/>
            <a:ext cx="9186840" cy="585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ANALYSIS AND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507865" y="6153120"/>
            <a:ext cx="918684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study material for the students of GLS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title"/>
          </p:nvPr>
        </p:nvSpPr>
        <p:spPr>
          <a:xfrm>
            <a:off x="533325" y="2104323"/>
            <a:ext cx="8482200" cy="3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5400"/>
              <a:t>Session 1 — Why OOAD? Importance, Industry Relevance &amp; Course Overview</a:t>
            </a:r>
            <a:endParaRPr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2a0a3abf_0_0"/>
          <p:cNvSpPr txBox="1"/>
          <p:nvPr>
            <p:ph type="title"/>
          </p:nvPr>
        </p:nvSpPr>
        <p:spPr>
          <a:xfrm>
            <a:off x="504025" y="390225"/>
            <a:ext cx="84822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Session Objectives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g3f82a0a3abf_0_0"/>
          <p:cNvSpPr txBox="1"/>
          <p:nvPr>
            <p:ph idx="4294967295" type="body"/>
          </p:nvPr>
        </p:nvSpPr>
        <p:spPr>
          <a:xfrm>
            <a:off x="504031" y="1544174"/>
            <a:ext cx="90726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 fontScale="92500" lnSpcReduction="20000"/>
          </a:bodyPr>
          <a:lstStyle/>
          <a:p>
            <a:pPr indent="-3994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08"/>
              <a:t>What is OOAD?</a:t>
            </a:r>
            <a:endParaRPr sz="2908"/>
          </a:p>
          <a:p>
            <a:pPr indent="-3994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08"/>
              <a:t>Why is this subject included in MSc IT?</a:t>
            </a:r>
            <a:endParaRPr sz="2908"/>
          </a:p>
          <a:p>
            <a:pPr indent="-3994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08"/>
              <a:t>How is OOAD used in the software industry?</a:t>
            </a:r>
            <a:endParaRPr sz="2908"/>
          </a:p>
          <a:p>
            <a:pPr indent="-3994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08"/>
              <a:t>Why do companies design software before coding?</a:t>
            </a:r>
            <a:endParaRPr sz="2908"/>
          </a:p>
          <a:p>
            <a:pPr indent="-3994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08"/>
              <a:t>What will they learn throughout the semester?</a:t>
            </a:r>
            <a:endParaRPr sz="2908"/>
          </a:p>
          <a:p>
            <a:pPr indent="-39941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908"/>
              <a:t>How does OOAD help in interviews and real projects?</a:t>
            </a:r>
            <a:endParaRPr sz="2908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2a0a3abf_0_5"/>
          <p:cNvSpPr txBox="1"/>
          <p:nvPr>
            <p:ph type="title"/>
          </p:nvPr>
        </p:nvSpPr>
        <p:spPr>
          <a:xfrm>
            <a:off x="504031" y="390226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The Blueprint Analogy</a:t>
            </a:r>
            <a:endParaRPr/>
          </a:p>
        </p:txBody>
      </p:sp>
      <p:sp>
        <p:nvSpPr>
          <p:cNvPr id="139" name="Google Shape;139;g3f82a0a3abf_0_5"/>
          <p:cNvSpPr txBox="1"/>
          <p:nvPr>
            <p:ph idx="4294967295" type="body"/>
          </p:nvPr>
        </p:nvSpPr>
        <p:spPr>
          <a:xfrm>
            <a:off x="504025" y="4767274"/>
            <a:ext cx="9072600" cy="23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Just as civil engineers create a blueprint before construction, software engineers create a design before development.</a:t>
            </a:r>
            <a:r>
              <a:rPr b="1" lang="en-US"/>
              <a:t> OOAD is the process of creating that software blueprint.</a:t>
            </a:r>
            <a:endParaRPr b="1"/>
          </a:p>
        </p:txBody>
      </p:sp>
      <p:pic>
        <p:nvPicPr>
          <p:cNvPr id="140" name="Google Shape;140;g3f82a0a3abf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00" y="1816075"/>
            <a:ext cx="9526375" cy="28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2a0a3abf_0_10"/>
          <p:cNvSpPr txBox="1"/>
          <p:nvPr>
            <p:ph type="title"/>
          </p:nvPr>
        </p:nvSpPr>
        <p:spPr>
          <a:xfrm>
            <a:off x="504031" y="390226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Why Has This Subject Been Added in MSc IT?</a:t>
            </a:r>
            <a:endParaRPr/>
          </a:p>
        </p:txBody>
      </p:sp>
      <p:sp>
        <p:nvSpPr>
          <p:cNvPr id="146" name="Google Shape;146;g3f82a0a3abf_0_10"/>
          <p:cNvSpPr txBox="1"/>
          <p:nvPr>
            <p:ph idx="4294967295" type="body"/>
          </p:nvPr>
        </p:nvSpPr>
        <p:spPr>
          <a:xfrm>
            <a:off x="504025" y="1763925"/>
            <a:ext cx="46266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400"/>
              <a:t>Most students focus only on: </a:t>
            </a:r>
            <a:endParaRPr b="1" sz="24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Programming Languages</a:t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Databases</a:t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Web Development</a:t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Mobile Apps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But in industry, coding is only one part of software development.</a:t>
            </a:r>
            <a:endParaRPr sz="2200"/>
          </a:p>
        </p:txBody>
      </p:sp>
      <p:sp>
        <p:nvSpPr>
          <p:cNvPr id="147" name="Google Shape;147;g3f82a0a3abf_0_10"/>
          <p:cNvSpPr txBox="1"/>
          <p:nvPr>
            <p:ph idx="4294967295" type="body"/>
          </p:nvPr>
        </p:nvSpPr>
        <p:spPr>
          <a:xfrm>
            <a:off x="5315300" y="1763925"/>
            <a:ext cx="44742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400"/>
              <a:t>Companies need professionals who can:</a:t>
            </a:r>
            <a:endParaRPr b="1" sz="2400"/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Understand client requirements</a:t>
            </a:r>
            <a:endParaRPr sz="2300"/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Analyze business problems</a:t>
            </a:r>
            <a:endParaRPr sz="2300"/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Design software solutions</a:t>
            </a:r>
            <a:endParaRPr sz="2300"/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Communicate ideas with team members</a:t>
            </a:r>
            <a:endParaRPr sz="2300"/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Create documentation before coding</a:t>
            </a:r>
            <a:endParaRPr sz="2300"/>
          </a:p>
        </p:txBody>
      </p:sp>
      <p:pic>
        <p:nvPicPr>
          <p:cNvPr id="148" name="Google Shape;148;g3f82a0a3ab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00" y="5448850"/>
            <a:ext cx="9540424" cy="13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82a0a3abf_0_10"/>
          <p:cNvSpPr txBox="1"/>
          <p:nvPr/>
        </p:nvSpPr>
        <p:spPr>
          <a:xfrm>
            <a:off x="237350" y="5807475"/>
            <a:ext cx="9127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</a:rPr>
              <a:t>The purpose of this subject: “How to think like a Software Engineer rather than only a Programmer.”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2a0a3abf_0_15"/>
          <p:cNvSpPr txBox="1"/>
          <p:nvPr>
            <p:ph type="title"/>
          </p:nvPr>
        </p:nvSpPr>
        <p:spPr>
          <a:xfrm>
            <a:off x="504025" y="160775"/>
            <a:ext cx="84822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Real Industry Problem</a:t>
            </a:r>
            <a:endParaRPr/>
          </a:p>
        </p:txBody>
      </p:sp>
      <p:sp>
        <p:nvSpPr>
          <p:cNvPr id="155" name="Google Shape;155;g3f82a0a3abf_0_15"/>
          <p:cNvSpPr txBox="1"/>
          <p:nvPr>
            <p:ph idx="4294967295" type="body"/>
          </p:nvPr>
        </p:nvSpPr>
        <p:spPr>
          <a:xfrm>
            <a:off x="504025" y="2117675"/>
            <a:ext cx="4338000" cy="4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7"/>
              <a:buNone/>
            </a:pPr>
            <a:r>
              <a:rPr b="1" lang="en-US" sz="2400"/>
              <a:t>Immediately, questions arise: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7"/>
              <a:buNone/>
            </a:pPr>
            <a:r>
              <a:t/>
            </a:r>
            <a:endParaRPr b="1" sz="2400"/>
          </a:p>
          <a:p>
            <a:pPr indent="-3695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Who will use it — students, faculty, admin?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What reports are required?</a:t>
            </a:r>
            <a:endParaRPr sz="2400"/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How is feedback stored?</a:t>
            </a:r>
            <a:endParaRPr sz="2400"/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Can feedback be edited?</a:t>
            </a:r>
            <a:endParaRPr sz="2400"/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/>
              <a:t>Should login be required?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56" name="Google Shape;156;g3f82a0a3abf_0_15"/>
          <p:cNvSpPr txBox="1"/>
          <p:nvPr>
            <p:ph idx="4294967295" type="body"/>
          </p:nvPr>
        </p:nvSpPr>
        <p:spPr>
          <a:xfrm>
            <a:off x="5058475" y="4396675"/>
            <a:ext cx="48636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Industry solution — before coding: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1. Understand requirements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2. Analyze the system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3. Design the solution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4. Then start development</a:t>
            </a:r>
            <a:endParaRPr sz="2400"/>
          </a:p>
        </p:txBody>
      </p:sp>
      <p:sp>
        <p:nvSpPr>
          <p:cNvPr id="157" name="Google Shape;157;g3f82a0a3abf_0_15"/>
          <p:cNvSpPr txBox="1"/>
          <p:nvPr>
            <p:ph idx="4294967295" type="body"/>
          </p:nvPr>
        </p:nvSpPr>
        <p:spPr>
          <a:xfrm>
            <a:off x="678550" y="1223075"/>
            <a:ext cx="89868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Client says: “I want a Student Feedback Management System.”</a:t>
            </a:r>
            <a:endParaRPr sz="2400"/>
          </a:p>
        </p:txBody>
      </p:sp>
      <p:sp>
        <p:nvSpPr>
          <p:cNvPr id="158" name="Google Shape;158;g3f82a0a3abf_0_15"/>
          <p:cNvSpPr txBox="1"/>
          <p:nvPr/>
        </p:nvSpPr>
        <p:spPr>
          <a:xfrm>
            <a:off x="5274775" y="2044775"/>
            <a:ext cx="44310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Without analysis → Result: 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Confusion  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Requirement changes 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Bugs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Rework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Project delays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2a0a3abf_0_20"/>
          <p:cNvSpPr txBox="1"/>
          <p:nvPr>
            <p:ph type="title"/>
          </p:nvPr>
        </p:nvSpPr>
        <p:spPr>
          <a:xfrm>
            <a:off x="504031" y="390226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Exactly Is OOAD?</a:t>
            </a:r>
            <a:endParaRPr/>
          </a:p>
        </p:txBody>
      </p:sp>
      <p:sp>
        <p:nvSpPr>
          <p:cNvPr id="164" name="Google Shape;164;g3f82a0a3abf_0_20"/>
          <p:cNvSpPr txBox="1"/>
          <p:nvPr>
            <p:ph idx="4294967295" type="body"/>
          </p:nvPr>
        </p:nvSpPr>
        <p:spPr>
          <a:xfrm>
            <a:off x="504025" y="1763924"/>
            <a:ext cx="90726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OOAD is the process of understanding a problem and designing a software solution before writing code.</a:t>
            </a:r>
            <a:endParaRPr/>
          </a:p>
        </p:txBody>
      </p:sp>
      <p:sp>
        <p:nvSpPr>
          <p:cNvPr id="165" name="Google Shape;165;g3f82a0a3abf_0_20"/>
          <p:cNvSpPr txBox="1"/>
          <p:nvPr/>
        </p:nvSpPr>
        <p:spPr>
          <a:xfrm>
            <a:off x="504025" y="3014600"/>
            <a:ext cx="4169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Analysis  (Understanding) -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 What problem needs to be solved?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 Who are the users?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 What are the requirements?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Example: Online Food Delivery App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Analysis identifies:  Customer  ·  Restaurant  ·  Delivery Partner  ·  Admin</a:t>
            </a:r>
            <a:endParaRPr sz="2000"/>
          </a:p>
        </p:txBody>
      </p:sp>
      <p:sp>
        <p:nvSpPr>
          <p:cNvPr id="166" name="Google Shape;166;g3f82a0a3abf_0_20"/>
          <p:cNvSpPr txBox="1"/>
          <p:nvPr/>
        </p:nvSpPr>
        <p:spPr>
          <a:xfrm>
            <a:off x="5491200" y="3014600"/>
            <a:ext cx="3834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Design (Planning how the solution will work) -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Classes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Modules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Relationships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Workflows</a:t>
            </a:r>
            <a:endParaRPr sz="2000"/>
          </a:p>
        </p:txBody>
      </p:sp>
      <p:cxnSp>
        <p:nvCxnSpPr>
          <p:cNvPr id="167" name="Google Shape;167;g3f82a0a3abf_0_20"/>
          <p:cNvCxnSpPr/>
          <p:nvPr/>
        </p:nvCxnSpPr>
        <p:spPr>
          <a:xfrm>
            <a:off x="4874813" y="3114350"/>
            <a:ext cx="30900" cy="367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2a0a3abf_0_25"/>
          <p:cNvSpPr txBox="1"/>
          <p:nvPr>
            <p:ph type="title"/>
          </p:nvPr>
        </p:nvSpPr>
        <p:spPr>
          <a:xfrm>
            <a:off x="504031" y="390226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The engine of software architecture</a:t>
            </a:r>
            <a:endParaRPr/>
          </a:p>
        </p:txBody>
      </p:sp>
      <p:pic>
        <p:nvPicPr>
          <p:cNvPr id="173" name="Google Shape;173;g3f82a0a3abf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25" y="1765375"/>
            <a:ext cx="9819850" cy="508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2a0a3abf_0_186"/>
          <p:cNvSpPr txBox="1"/>
          <p:nvPr>
            <p:ph type="title"/>
          </p:nvPr>
        </p:nvSpPr>
        <p:spPr>
          <a:xfrm>
            <a:off x="502850" y="301324"/>
            <a:ext cx="8851800" cy="91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OOAD Fits in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Development</a:t>
            </a:r>
            <a:endParaRPr/>
          </a:p>
        </p:txBody>
      </p:sp>
      <p:pic>
        <p:nvPicPr>
          <p:cNvPr id="180" name="Google Shape;180;g3f82a0a3abf_0_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2340550"/>
            <a:ext cx="9775801" cy="193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f82a0a3abf_0_186"/>
          <p:cNvSpPr txBox="1"/>
          <p:nvPr/>
        </p:nvSpPr>
        <p:spPr>
          <a:xfrm>
            <a:off x="502850" y="4514175"/>
            <a:ext cx="8961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OOAD primarily focuses on the Analysis and Design phases — the critical steps before a single line of code is written. This is where requirements are clarified, system structure is planned, and potential problems are identified early.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2a0a3abf_0_192"/>
          <p:cNvSpPr txBox="1"/>
          <p:nvPr>
            <p:ph type="title"/>
          </p:nvPr>
        </p:nvSpPr>
        <p:spPr>
          <a:xfrm>
            <a:off x="502850" y="301324"/>
            <a:ext cx="8851800" cy="91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Industry Importance of OOAD</a:t>
            </a:r>
            <a:endParaRPr/>
          </a:p>
        </p:txBody>
      </p:sp>
      <p:sp>
        <p:nvSpPr>
          <p:cNvPr id="188" name="Google Shape;188;g3f82a0a3abf_0_192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Better Communication</a:t>
            </a:r>
            <a:r>
              <a:rPr lang="en-US"/>
              <a:t> - Developers, testers, managers and clients understand the same design.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Reduces Errors </a:t>
            </a:r>
            <a:r>
              <a:rPr lang="en-US"/>
              <a:t>- Problems are identified before coding starts.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Faster Development - </a:t>
            </a:r>
            <a:r>
              <a:rPr lang="en-US"/>
              <a:t>design means less confusion.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Easier Maintenance </a:t>
            </a:r>
            <a:r>
              <a:rPr lang="en-US"/>
              <a:t>-  Future developers can understand the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Team Collaboration</a:t>
            </a:r>
            <a:r>
              <a:rPr lang="en-US"/>
              <a:t> -  Large teams can work on different modules efficiently.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2a0a3abf_0_198"/>
          <p:cNvSpPr txBox="1"/>
          <p:nvPr>
            <p:ph type="title"/>
          </p:nvPr>
        </p:nvSpPr>
        <p:spPr>
          <a:xfrm>
            <a:off x="502850" y="301324"/>
            <a:ext cx="8851800" cy="91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We Will Learn in This Subject</a:t>
            </a:r>
            <a:endParaRPr/>
          </a:p>
        </p:txBody>
      </p:sp>
      <p:pic>
        <p:nvPicPr>
          <p:cNvPr id="195" name="Google Shape;195;g3f82a0a3abf_0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88" y="1503700"/>
            <a:ext cx="9723876" cy="5024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2a0a3abf_0_204"/>
          <p:cNvSpPr txBox="1"/>
          <p:nvPr>
            <p:ph type="title"/>
          </p:nvPr>
        </p:nvSpPr>
        <p:spPr>
          <a:xfrm>
            <a:off x="502850" y="301324"/>
            <a:ext cx="8851800" cy="91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This Subject Helps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Placements</a:t>
            </a:r>
            <a:endParaRPr/>
          </a:p>
        </p:txBody>
      </p:sp>
      <p:sp>
        <p:nvSpPr>
          <p:cNvPr id="202" name="Google Shape;202;g3f82a0a3abf_0_204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Many interview questions are based on: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UML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 case 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class diagram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inheritance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object oriented concepts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system design basics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Typical interview / design questions: 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Design a Library Management System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Design an ATM System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Design an Online Shopping System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Design a Food Delivery App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4"/>
          <p:cNvSpPr txBox="1"/>
          <p:nvPr>
            <p:ph type="title"/>
          </p:nvPr>
        </p:nvSpPr>
        <p:spPr>
          <a:xfrm>
            <a:off x="724831" y="2766067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781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600"/>
              <a:buFont typeface="Arial"/>
              <a:buNone/>
            </a:pPr>
            <a:r>
              <a:rPr b="1" lang="en-US" sz="9600">
                <a:solidFill>
                  <a:srgbClr val="161613"/>
                </a:solidFill>
              </a:rPr>
              <a:t>Thank You</a:t>
            </a:r>
            <a:endParaRPr b="1"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2020-04-27T17:43:41Z</dcterms:created>
</cp:coreProperties>
</file>